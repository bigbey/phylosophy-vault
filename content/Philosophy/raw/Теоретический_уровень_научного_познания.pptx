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ru-RU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ru-RU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Теоретический уровень научного познания.  Формы организации знания на теоретическом уровне.  Теоретические методы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ru-RU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МЕТОДЫ ТЕОРЕТИЧЕСКОГО ПОЗНАНИЯ</a:t>
            </a:r>
            <a:endParaRPr lang="ru-RU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11480">
              <a:buNone/>
            </a:pPr>
            <a:r>
              <a:rPr lang="ru-RU" dirty="0" smtClean="0"/>
              <a:t>На теоретическом уровне познания, в отличие от эмпирического, происходит разработка и теоретическая репрезентация наиболее фундаментальных закономерностей и взаимосвязей изучаемой предметной области. </a:t>
            </a:r>
            <a:endParaRPr lang="ru-RU" dirty="0" smtClean="0"/>
          </a:p>
          <a:p>
            <a:pPr indent="411480">
              <a:buNone/>
            </a:pPr>
            <a:r>
              <a:rPr lang="ru-RU" dirty="0" smtClean="0"/>
              <a:t>Процесс теоретического осмысления эмпирического материала самым непосредственным образом связан с классом операций логических действий. 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ru-RU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</a:rPr>
              <a:t>Формализация</a:t>
            </a:r>
            <a:endParaRPr lang="ru-RU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06270" y="1600200"/>
            <a:ext cx="8304530" cy="5169535"/>
          </a:xfrm>
          <a:ln w="76200" cap="rnd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dirty="0" smtClean="0"/>
              <a:t>Формализация</a:t>
            </a:r>
            <a:r>
              <a:rPr lang="ru-RU" dirty="0" smtClean="0"/>
              <a:t> - отображение содержательного знания в знаково-символическом виде (формализованном языке). </a:t>
            </a:r>
            <a:endParaRPr lang="ru-RU" dirty="0" smtClean="0"/>
          </a:p>
          <a:p>
            <a:r>
              <a:rPr lang="ru-RU" dirty="0" smtClean="0"/>
              <a:t>В формализованных рассуждениях каждый символ строго однозначен.</a:t>
            </a:r>
            <a:endParaRPr lang="ru-RU" dirty="0" smtClean="0"/>
          </a:p>
          <a:p>
            <a:r>
              <a:rPr lang="ru-RU" dirty="0" smtClean="0"/>
              <a:t>Формализация служит основой для процессов алгоритмизации и программирования вычислительных устройств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Аксиоматический метод</a:t>
            </a:r>
            <a:endParaRPr lang="ru-RU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8965" y="1356995"/>
            <a:ext cx="10687050" cy="4952365"/>
          </a:xfrm>
        </p:spPr>
        <p:txBody>
          <a:bodyPr/>
          <a:lstStyle/>
          <a:p>
            <a:pPr indent="411480">
              <a:buNone/>
            </a:pPr>
            <a:r>
              <a:rPr lang="ru-RU" b="1" dirty="0" smtClean="0"/>
              <a:t>Аксиоматический метод</a:t>
            </a:r>
            <a:r>
              <a:rPr lang="ru-RU" dirty="0" smtClean="0"/>
              <a:t> -  один из методов построения уже добытого научного знания</a:t>
            </a:r>
            <a:endParaRPr lang="ru-RU" dirty="0" smtClean="0"/>
          </a:p>
          <a:p>
            <a:pPr indent="411480">
              <a:buNone/>
            </a:pPr>
            <a:r>
              <a:rPr lang="ru-RU" dirty="0" smtClean="0"/>
              <a:t>В основе этого метода лежит </a:t>
            </a:r>
            <a:r>
              <a:rPr lang="ru-RU" b="1" i="1" dirty="0" smtClean="0"/>
              <a:t>идея аксиомы </a:t>
            </a:r>
            <a:r>
              <a:rPr lang="ru-RU" dirty="0" smtClean="0"/>
              <a:t>— утверждения, не требующего доказательства.</a:t>
            </a:r>
            <a:endParaRPr lang="ru-RU" dirty="0" smtClean="0"/>
          </a:p>
          <a:p>
            <a:pPr indent="411480">
              <a:buNone/>
            </a:pPr>
            <a:r>
              <a:rPr lang="ru-RU" dirty="0" smtClean="0"/>
              <a:t>В состав аксиоматизируемой теории входят: </a:t>
            </a:r>
            <a:r>
              <a:rPr lang="ru-RU" b="1" i="1" dirty="0" smtClean="0"/>
              <a:t>логическое исчисление </a:t>
            </a:r>
            <a:r>
              <a:rPr lang="ru-RU" dirty="0" smtClean="0"/>
              <a:t>(«чистые» логические аксиомы и правила вывода); </a:t>
            </a:r>
            <a:r>
              <a:rPr lang="ru-RU" b="1" i="1" dirty="0" smtClean="0"/>
              <a:t>«словарь» </a:t>
            </a:r>
            <a:r>
              <a:rPr lang="ru-RU" dirty="0" smtClean="0"/>
              <a:t>— термины </a:t>
            </a:r>
            <a:r>
              <a:rPr lang="ru-RU" i="1" dirty="0" err="1" smtClean="0"/>
              <a:t>внелогического</a:t>
            </a:r>
            <a:r>
              <a:rPr lang="ru-RU" dirty="0" smtClean="0"/>
              <a:t> (конкретно-научного) языка и их определения (для определяемых терминов), а также </a:t>
            </a:r>
            <a:r>
              <a:rPr lang="ru-RU" i="1" dirty="0" err="1" smtClean="0"/>
              <a:t>внелогические</a:t>
            </a:r>
            <a:r>
              <a:rPr lang="ru-RU" dirty="0" smtClean="0"/>
              <a:t> аксиомы.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Восхождение от абстрактного к конкретному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1714488"/>
            <a:ext cx="8229600" cy="4594872"/>
          </a:xfrm>
        </p:spPr>
        <p:txBody>
          <a:bodyPr/>
          <a:lstStyle/>
          <a:p>
            <a:pPr algn="ctr">
              <a:buNone/>
            </a:pPr>
            <a:r>
              <a:rPr lang="ru-RU" b="1" dirty="0" smtClean="0"/>
              <a:t>Восхождение от абстрактного к конкретному </a:t>
            </a:r>
            <a:r>
              <a:rPr lang="ru-RU" dirty="0" smtClean="0"/>
              <a:t>- метод теоретического исследования и изложения, состоящий в движении научной мысли от исходной абстракции через последовательные этапы углубления и расширения познания к результату - целостному воспроизведению в теории исследуемого предмета.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Гипотетико-дедуктивный метод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14655" y="1165860"/>
            <a:ext cx="10896600" cy="491744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800" b="1" dirty="0" smtClean="0"/>
              <a:t>Гипотетико-дедуктивный метод - </a:t>
            </a:r>
            <a:r>
              <a:rPr lang="ru-RU" sz="2800" dirty="0" err="1" smtClean="0"/>
              <a:t>метод</a:t>
            </a:r>
            <a:r>
              <a:rPr lang="ru-RU" sz="2800" dirty="0" smtClean="0"/>
              <a:t> научного познания, сущность которого заключается в создании системы </a:t>
            </a:r>
            <a:r>
              <a:rPr lang="ru-RU" sz="2800" dirty="0" err="1" smtClean="0"/>
              <a:t>дедуктивно</a:t>
            </a:r>
            <a:r>
              <a:rPr lang="ru-RU" sz="2800" dirty="0" smtClean="0"/>
              <a:t> связанных между собой гипотез, из которых в конечном счете выводятся утверждения об эмпирических фактах.</a:t>
            </a:r>
            <a:endParaRPr lang="ru-RU" sz="2800" dirty="0" smtClean="0"/>
          </a:p>
          <a:p>
            <a:endParaRPr lang="ru-RU" sz="2800" dirty="0" smtClean="0"/>
          </a:p>
          <a:p>
            <a:r>
              <a:rPr lang="ru-RU" sz="2800" dirty="0" smtClean="0"/>
              <a:t>Гипотетико-дедуктивный метод (как и аксиоматический) является не столько методом открытия, сколько способом построения и обоснования научного знания, поскольку он показывает каким именно путем можно прийти к новой гипотезе</a:t>
            </a:r>
            <a:endParaRPr lang="ru-RU" sz="28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Структура гипотетико-дедуктивного метода</a:t>
            </a:r>
            <a:endParaRPr lang="ru-RU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lstStyle/>
          <a:p>
            <a:pPr lvl="0"/>
            <a:r>
              <a:rPr lang="ru-RU" dirty="0" smtClean="0"/>
              <a:t>ознакомление с фактическим материалом, требующим теоретического объяснения и попытка такового с помощью уже существующих теорий и законов; </a:t>
            </a:r>
            <a:endParaRPr lang="ru-RU" dirty="0" smtClean="0"/>
          </a:p>
          <a:p>
            <a:pPr lvl="0"/>
            <a:r>
              <a:rPr lang="ru-RU" dirty="0" smtClean="0"/>
              <a:t>выдвижение догадки (гипотезы, предположения) о причинах и закономерностях данных явлений с помощью разнообразных логических приемов; </a:t>
            </a:r>
            <a:endParaRPr lang="ru-RU" dirty="0" smtClean="0"/>
          </a:p>
          <a:p>
            <a:pPr lvl="0"/>
            <a:r>
              <a:rPr lang="ru-RU" dirty="0" smtClean="0"/>
              <a:t>оценка основательности и серьезности предположений и отбор из множества из них наиболее вероятного;</a:t>
            </a:r>
            <a:endParaRPr lang="ru-RU" dirty="0" smtClean="0"/>
          </a:p>
          <a:p>
            <a:pPr lvl="0"/>
            <a:r>
              <a:rPr lang="ru-RU" dirty="0" smtClean="0"/>
              <a:t>выведение из гипотезы (обычно дедуктивным путем) следствий с уточнением ее содержания;  </a:t>
            </a:r>
            <a:endParaRPr lang="ru-RU" dirty="0" smtClean="0"/>
          </a:p>
          <a:p>
            <a:pPr lvl="0"/>
            <a:r>
              <a:rPr lang="ru-RU" dirty="0" smtClean="0"/>
              <a:t>экспериментальная проверка выведенных из гипотезы следствий.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Индуктивный метод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1285860"/>
            <a:ext cx="8229600" cy="5357850"/>
          </a:xfrm>
        </p:spPr>
        <p:txBody>
          <a:bodyPr>
            <a:normAutofit fontScale="92500" lnSpcReduction="10000"/>
          </a:bodyPr>
          <a:lstStyle/>
          <a:p>
            <a:pPr indent="411480">
              <a:buNone/>
            </a:pPr>
            <a:r>
              <a:rPr lang="ru-RU" b="1" i="1" dirty="0" smtClean="0"/>
              <a:t>Основная идея традиционной концепции </a:t>
            </a:r>
            <a:r>
              <a:rPr lang="ru-RU" b="1" i="1" dirty="0" err="1" smtClean="0"/>
              <a:t>индуктивизма</a:t>
            </a:r>
            <a:r>
              <a:rPr lang="ru-RU" b="1" i="1" dirty="0" smtClean="0"/>
              <a:t> состоит  в утверждении, что существует некоторый логический путь, ведущий от  фактов к обобщениям.</a:t>
            </a:r>
            <a:endParaRPr lang="ru-RU" b="1" i="1" dirty="0" smtClean="0"/>
          </a:p>
          <a:p>
            <a:pPr indent="411480">
              <a:buNone/>
            </a:pPr>
            <a:endParaRPr lang="ru-RU" b="1" i="1" dirty="0" smtClean="0"/>
          </a:p>
          <a:p>
            <a:pPr>
              <a:buNone/>
            </a:pPr>
            <a:r>
              <a:rPr lang="ru-RU" dirty="0" smtClean="0"/>
              <a:t>1.	В классическом понимании индукция - это особая логическая процедура, а именно определенное (</a:t>
            </a:r>
            <a:r>
              <a:rPr lang="ru-RU" dirty="0" err="1" smtClean="0"/>
              <a:t>недедуктивное</a:t>
            </a:r>
            <a:r>
              <a:rPr lang="ru-RU" dirty="0" smtClean="0"/>
              <a:t>) умозаключение.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2.	Современная трактовка проблемы индукции связана с поворотом от чисто логического понимания индукции к прагматическому. В рамках этого подхода индукция рассматривается как определенный тип рационального поведения в проблемной ситуации, т.е. более широко.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ru-RU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ОБЩЕЛОГИЧЕСКИЕ МЕТОДЫ И ПРИЕМЫ ИССЛЕДОВАНИЯ</a:t>
            </a:r>
            <a:endParaRPr lang="ru-RU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ru-RU" dirty="0" smtClean="0"/>
              <a:t>С помощью </a:t>
            </a:r>
            <a:r>
              <a:rPr lang="ru-RU" dirty="0" err="1" smtClean="0"/>
              <a:t>общелогических</a:t>
            </a:r>
            <a:r>
              <a:rPr lang="ru-RU" dirty="0" smtClean="0"/>
              <a:t> методов познание постепенно, шаг за шагом, раскрывает внутренние существенные признаки предмета, связи его элементов и их взаимодействие друг с другом.</a:t>
            </a:r>
            <a:endParaRPr lang="ru-RU" dirty="0" smtClean="0"/>
          </a:p>
          <a:p>
            <a:pPr algn="ctr">
              <a:buNone/>
            </a:pPr>
            <a:endParaRPr lang="ru-RU" dirty="0" smtClean="0"/>
          </a:p>
          <a:p>
            <a:pPr algn="ctr">
              <a:buNone/>
            </a:pPr>
            <a:r>
              <a:rPr lang="ru-RU" dirty="0" smtClean="0"/>
              <a:t>Для того чтобы осуществить эти шаги, необходимо целостный предмет расчленить (мысленно или практически) на составляющие части, а затем изучить их, выделяя свойства и признаки, прослеживая связи и отношения, а также выявляя их роль в системе целого.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Метод анализа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8965" y="1285875"/>
            <a:ext cx="9601835" cy="5023485"/>
          </a:xfrm>
        </p:spPr>
        <p:txBody>
          <a:bodyPr>
            <a:normAutofit fontScale="90000" lnSpcReduction="10000"/>
          </a:bodyPr>
          <a:lstStyle/>
          <a:p>
            <a:r>
              <a:rPr lang="ru-RU" b="1" dirty="0" smtClean="0"/>
              <a:t>Метод анализа</a:t>
            </a:r>
            <a:r>
              <a:rPr lang="ru-RU" dirty="0" smtClean="0"/>
              <a:t> (от греч. </a:t>
            </a:r>
            <a:r>
              <a:rPr lang="ru-RU" dirty="0" err="1" smtClean="0"/>
              <a:t>analysis</a:t>
            </a:r>
            <a:r>
              <a:rPr lang="ru-RU" dirty="0" smtClean="0"/>
              <a:t> — разложение, расчленение) — метод научного познания, представляющий собой мысленное расчленение исследуемого объекта на составные элементы с целью изучения его структуры, отдельных признаков, свойств, внутренних связей, отношений.</a:t>
            </a:r>
            <a:endParaRPr lang="ru-RU" dirty="0" smtClean="0"/>
          </a:p>
          <a:p>
            <a:r>
              <a:rPr lang="ru-RU" dirty="0" smtClean="0"/>
              <a:t>Анализ как логическая операция входит составной частью во всякое научное исследование и обычно образует его первую стадию, когда исследователь переходит от нерасчлененного описания изучаемого объекта к выявлению его строения, состава, а также его свойств, связей.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Синтез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8615" y="1350645"/>
            <a:ext cx="11233785" cy="4775835"/>
          </a:xfrm>
        </p:spPr>
        <p:txBody>
          <a:bodyPr>
            <a:normAutofit lnSpcReduction="20000"/>
          </a:bodyPr>
          <a:lstStyle/>
          <a:p>
            <a:r>
              <a:rPr lang="ru-RU" b="1" dirty="0" smtClean="0"/>
              <a:t>Синтез</a:t>
            </a:r>
            <a:r>
              <a:rPr lang="ru-RU" dirty="0" smtClean="0"/>
              <a:t> (от греч. </a:t>
            </a:r>
            <a:r>
              <a:rPr lang="ru-RU" dirty="0" err="1" smtClean="0"/>
              <a:t>synthesis</a:t>
            </a:r>
            <a:r>
              <a:rPr lang="ru-RU" dirty="0" smtClean="0"/>
              <a:t> — соединение, сочетание, составление) — это метод научного познания, представляющий собой мысленное соединение составных сторон, элементов, свойств, связей исследуемого объекта, расчлененных в результате анализа, и изучение этого объекта как единого целого.</a:t>
            </a:r>
            <a:endParaRPr lang="ru-RU" dirty="0" smtClean="0"/>
          </a:p>
          <a:p>
            <a:r>
              <a:rPr lang="ru-RU" dirty="0" smtClean="0"/>
              <a:t>Результатом синтеза является совершенно новое образование, свойства которого не есть только внешнее соединение этих компонентов, но также результат их внутренней взаимосвязи и взаимозависимости.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08355"/>
            <a:ext cx="11582400" cy="5318125"/>
          </a:xfrm>
        </p:spPr>
        <p:txBody>
          <a:bodyPr/>
          <a:lstStyle/>
          <a:p>
            <a:pPr algn="ctr">
              <a:buNone/>
            </a:pPr>
            <a:r>
              <a:rPr lang="ru-RU" dirty="0" smtClean="0"/>
              <a:t>Анализ фиксирует в основном то специфическое, что отличает части друг от друга. Синтез же вскрывает то существенное общее, что связывает части в единое целое.</a:t>
            </a:r>
            <a:endParaRPr lang="ru-RU" dirty="0" smtClean="0"/>
          </a:p>
          <a:p>
            <a:pPr algn="ctr">
              <a:buNone/>
            </a:pPr>
            <a:endParaRPr lang="ru-RU" dirty="0" smtClean="0"/>
          </a:p>
          <a:p>
            <a:pPr algn="ctr">
              <a:buNone/>
            </a:pPr>
            <a:r>
              <a:rPr lang="ru-RU" dirty="0" smtClean="0"/>
              <a:t>Анализ и синтез берут свое начало в практической деятельности. Постоянно расчленяя в своей практической деятельности различные предметы на их составные части, человек постепенно учился разделять предметы и мысленно.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ru-RU" sz="490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</a:rPr>
              <a:t>Виды анализа и синтеза</a:t>
            </a:r>
            <a:b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ru-RU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8965" y="1143000"/>
            <a:ext cx="9601835" cy="5429250"/>
          </a:xfrm>
        </p:spPr>
        <p:txBody>
          <a:bodyPr>
            <a:normAutofit fontScale="65000" lnSpcReduction="10000"/>
          </a:bodyPr>
          <a:lstStyle/>
          <a:p>
            <a:pPr marL="542925" indent="-514350">
              <a:buNone/>
            </a:pPr>
            <a:r>
              <a:rPr lang="ru-RU" b="1" dirty="0" smtClean="0"/>
              <a:t>1. Прямой или эмпирический анализ и синтез </a:t>
            </a:r>
            <a:r>
              <a:rPr lang="ru-RU" dirty="0" smtClean="0"/>
              <a:t>— применяется, как правило, на стадии поверхностного ознакомления с объектом. Этот вид анализа и синтеза дает возможность познать явления изучаемого объекта.</a:t>
            </a:r>
            <a:endParaRPr lang="ru-RU" dirty="0" smtClean="0"/>
          </a:p>
          <a:p>
            <a:pPr marL="542925" indent="-514350">
              <a:buNone/>
            </a:pPr>
            <a:r>
              <a:rPr lang="ru-RU" dirty="0" smtClean="0"/>
              <a:t>2. </a:t>
            </a:r>
            <a:r>
              <a:rPr lang="ru-RU" b="1" dirty="0" smtClean="0"/>
              <a:t>Элементарно-теоретический анализ и синтез </a:t>
            </a:r>
            <a:r>
              <a:rPr lang="ru-RU" dirty="0" smtClean="0"/>
              <a:t>— широко используется как мощное орудие познания сущности исследуемого явления. Результатом применения такого анализа и синтеза является установление причинно-следственных связей, выявление различных закономерностей.</a:t>
            </a:r>
            <a:endParaRPr lang="ru-RU" dirty="0" smtClean="0"/>
          </a:p>
          <a:p>
            <a:pPr marL="542925" indent="-514350">
              <a:buNone/>
            </a:pPr>
            <a:r>
              <a:rPr lang="ru-RU" dirty="0" smtClean="0"/>
              <a:t>3. </a:t>
            </a:r>
            <a:r>
              <a:rPr lang="ru-RU" b="1" dirty="0" smtClean="0"/>
              <a:t>Структурно-генетический анализ и синтез </a:t>
            </a:r>
            <a:r>
              <a:rPr lang="ru-RU" dirty="0" smtClean="0"/>
              <a:t>— позволяет наиболее глубоко приникнуть в сущность изучаемого объекта. Этот вид анализа и синтеза требует вычленения в сложном явлении таких элементов, которые представляют самое главное, существенное и оказывают решающее влияние на все остальные стороны изучаемого объекта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Абстрагирование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17500" y="1253490"/>
            <a:ext cx="11264900" cy="4872990"/>
          </a:xfrm>
        </p:spPr>
        <p:txBody>
          <a:bodyPr>
            <a:normAutofit lnSpcReduction="20000"/>
          </a:bodyPr>
          <a:lstStyle/>
          <a:p>
            <a:r>
              <a:rPr lang="ru-RU" b="1" dirty="0" smtClean="0"/>
              <a:t>Абстрагирование </a:t>
            </a:r>
            <a:r>
              <a:rPr lang="ru-RU" dirty="0" smtClean="0"/>
              <a:t>(от лат. </a:t>
            </a:r>
            <a:r>
              <a:rPr lang="ru-RU" dirty="0" err="1" smtClean="0"/>
              <a:t>abstrahere</a:t>
            </a:r>
            <a:r>
              <a:rPr lang="ru-RU" dirty="0" smtClean="0"/>
              <a:t> — отвлекать) - это </a:t>
            </a:r>
            <a:r>
              <a:rPr lang="ru-RU" dirty="0" err="1" smtClean="0"/>
              <a:t>общелогический</a:t>
            </a:r>
            <a:r>
              <a:rPr lang="ru-RU" dirty="0" smtClean="0"/>
              <a:t> метод научного познания, представляющий собой мысленное отвлечение от несущественных свойств, связей, отношений изучаемых предметов с одновременным мысленным выделением существенных, интересующих исследователя сторон, свойств, связей этих предметов.</a:t>
            </a:r>
            <a:endParaRPr lang="ru-RU" dirty="0" smtClean="0"/>
          </a:p>
          <a:p>
            <a:r>
              <a:rPr lang="ru-RU" dirty="0" smtClean="0"/>
              <a:t>Суть его состоит в том, что вещь, свойство или отношение мысленно выделяются и одновременно отвлекаются от других вещей, свойств, отношений и рассматривается как бы в "чистом виде".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Обобщение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2710" y="1356995"/>
            <a:ext cx="10118090" cy="4952365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smtClean="0"/>
              <a:t>Обобщение - </a:t>
            </a:r>
            <a:r>
              <a:rPr lang="ru-RU" dirty="0" smtClean="0"/>
              <a:t>процесс установления общих свойств и признаков предмета, тесно связано с абстрагированием. При том могут быть выделены любые признаки (абстрактно-общее) или существенные (конкретно-общее, закон).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Обобщение   выступает одним из важнейших средств научного познания, позволяющим извлекать общие принципы (законы) из хаоса затемняющих их явлений, унифицировать и в "единой формуле" отождествлять множества различных вещей и событий.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</a:rPr>
              <a:t>Два основных типа обобщения</a:t>
            </a:r>
            <a:endParaRPr lang="ru-RU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ru-RU" dirty="0" smtClean="0"/>
              <a:t>1. Порождающие новые семантические единицы (концепты), т.е. такие понятия, законы, принципы и теории, которые не детерминируются исходным семантическим полем (первичной семантикой), </a:t>
            </a:r>
            <a:endParaRPr lang="ru-RU" dirty="0" smtClean="0"/>
          </a:p>
          <a:p>
            <a:pPr lvl="0">
              <a:buNone/>
            </a:pPr>
            <a:r>
              <a:rPr lang="ru-RU" dirty="0" smtClean="0"/>
              <a:t> 2. Не порождающие. Они могут давать лишь новые варианты старых значений; они имеют более простую структуру сравнительно с первыми и часто являются их предельными случаями.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Идеализация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98450" y="1356995"/>
            <a:ext cx="9912350" cy="5286375"/>
          </a:xfrm>
        </p:spPr>
        <p:txBody>
          <a:bodyPr>
            <a:normAutofit lnSpcReduction="20000"/>
          </a:bodyPr>
          <a:lstStyle/>
          <a:p>
            <a:r>
              <a:rPr lang="ru-RU" b="1" dirty="0" smtClean="0"/>
              <a:t>Идеализация </a:t>
            </a:r>
            <a:r>
              <a:rPr lang="ru-RU" dirty="0" smtClean="0"/>
              <a:t>(от фр. </a:t>
            </a:r>
            <a:r>
              <a:rPr lang="ru-RU" dirty="0" err="1" smtClean="0"/>
              <a:t>ideal</a:t>
            </a:r>
            <a:r>
              <a:rPr lang="ru-RU" dirty="0" smtClean="0"/>
              <a:t>  - совершенство) - это мыслительная процедура и метод научного исследования, с помощью которого мысленно конструируются понятия о несуществующих объектах, но имеющих прообразы в реальном мире. </a:t>
            </a:r>
            <a:endParaRPr lang="ru-RU" dirty="0" smtClean="0"/>
          </a:p>
          <a:p>
            <a:r>
              <a:rPr lang="ru-RU" dirty="0" smtClean="0"/>
              <a:t>Сущность рассматриваемого метода состоит в том, что в процессе идеализации происходит предельное отвлечение от всех реальных свойств предмета с одновременным введением в содержание образуемых понятий несуществующих признаков.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7320" y="571500"/>
            <a:ext cx="11017885" cy="57378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i="1" dirty="0" smtClean="0"/>
              <a:t>Идеализация как метод познания играет важную роль в научном исследовании. </a:t>
            </a:r>
            <a:endParaRPr lang="ru-RU" i="1" dirty="0" smtClean="0"/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r>
              <a:rPr lang="ru-RU" dirty="0" smtClean="0"/>
              <a:t>1.Полученные в результате сложной мыслительной деятельности идеальные объекты позволяют значительно упростить сложные системы, благодаря чему возникает возможность применить к ним математические методы исследования, производить вычисления с любой наперед заданной точностью.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2.Использование идеальных объектов позволяет переходить от эмпирических законов к их строгой формулировке на языке математики, значительно облегчает дедуктивное построение целых областей знания.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Индукция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4480" y="1230630"/>
            <a:ext cx="11297920" cy="4895850"/>
          </a:xfrm>
        </p:spPr>
        <p:txBody>
          <a:bodyPr>
            <a:normAutofit lnSpcReduction="20000"/>
          </a:bodyPr>
          <a:lstStyle/>
          <a:p>
            <a:r>
              <a:rPr lang="ru-RU" b="1" dirty="0" smtClean="0"/>
              <a:t>Индукция</a:t>
            </a:r>
            <a:r>
              <a:rPr lang="ru-RU" dirty="0" smtClean="0"/>
              <a:t> (от лат. </a:t>
            </a:r>
            <a:r>
              <a:rPr lang="ru-RU" dirty="0" err="1" smtClean="0"/>
              <a:t>inductio</a:t>
            </a:r>
            <a:r>
              <a:rPr lang="ru-RU" dirty="0" smtClean="0"/>
              <a:t> - наведение) - метод научного познания, в котором общий вывод представляет собой знание о всем классе предметов, полученное в результате исследования отдельных элементов этого класса.</a:t>
            </a:r>
            <a:endParaRPr lang="ru-RU" dirty="0" smtClean="0"/>
          </a:p>
          <a:p>
            <a:r>
              <a:rPr lang="ru-RU" dirty="0" smtClean="0"/>
              <a:t>Индукция, как логический прием исследования, связана с обобщением результатов наблюдений и экспериментов, с движением мысли от единичного к общему. Поскольку опыт всегда бесконечен и не полон, то индуктивные выводы всегда имеют проблематичный (вероятностный) характер.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</a:rPr>
              <a:t>Основные группы индуктивных умозаключений:</a:t>
            </a:r>
            <a:b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ru-RU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ru-RU" dirty="0" smtClean="0"/>
              <a:t>1.</a:t>
            </a:r>
            <a:r>
              <a:rPr lang="ru-RU" b="1" dirty="0" smtClean="0"/>
              <a:t>Полная индукция </a:t>
            </a:r>
            <a:r>
              <a:rPr lang="ru-RU" dirty="0" smtClean="0"/>
              <a:t>— такое умозаключение, в котором общий вывод о классе предметов делается на основании изучения всех предметов данного класса. Полная индукция дает достоверные выводы, в силу чего она широко используется в качестве доказательства в научном исследовании.</a:t>
            </a:r>
            <a:endParaRPr lang="ru-RU" dirty="0" smtClean="0"/>
          </a:p>
          <a:p>
            <a:pPr lvl="0">
              <a:buNone/>
            </a:pPr>
            <a:r>
              <a:rPr lang="ru-RU" dirty="0" smtClean="0"/>
              <a:t>2.</a:t>
            </a:r>
            <a:r>
              <a:rPr lang="ru-RU" b="1" dirty="0" smtClean="0"/>
              <a:t>Неполная индукция </a:t>
            </a:r>
            <a:r>
              <a:rPr lang="ru-RU" dirty="0" smtClean="0"/>
              <a:t>— такое умозаключение, в котором общий вывод получают из посылок, не охватывающих всех предметов данного класса.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</a:rPr>
              <a:t>Методы установления причинно-следственной связи, </a:t>
            </a:r>
            <a:b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</a:rPr>
            </a:br>
            <a:r>
              <a:rPr lang="ru-RU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</a:rPr>
              <a:t>или методы научной индукции</a:t>
            </a:r>
            <a:endParaRPr lang="ru-RU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1857364"/>
            <a:ext cx="8229600" cy="445199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dirty="0" smtClean="0"/>
              <a:t>1. </a:t>
            </a:r>
            <a:r>
              <a:rPr lang="ru-RU" b="1" dirty="0" smtClean="0"/>
              <a:t>Метод единственного сходства</a:t>
            </a:r>
            <a:r>
              <a:rPr lang="ru-RU" dirty="0" smtClean="0"/>
              <a:t>: если два или более случаев исследуемого явления имеют общим лишь одно обстоятельство, а все остальные обстоятельства различны, то это единственное сходное обстоятельство и есть причина данного явления.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2. </a:t>
            </a:r>
            <a:r>
              <a:rPr lang="ru-RU" b="1" dirty="0" smtClean="0"/>
              <a:t>Метод единственного различия</a:t>
            </a:r>
            <a:r>
              <a:rPr lang="ru-RU" dirty="0" smtClean="0"/>
              <a:t>: если случаи, при которых явление наступает или не наступает, различаются только в одном предшествующем обстоятельстве, а все другие обстоятельства </a:t>
            </a:r>
            <a:r>
              <a:rPr lang="ru-RU" dirty="0" err="1" smtClean="0"/>
              <a:t>тож-дественны</a:t>
            </a:r>
            <a:r>
              <a:rPr lang="ru-RU" dirty="0" smtClean="0"/>
              <a:t>, то это одно обстоятельство и есть причина данного явления.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43840" y="1143000"/>
            <a:ext cx="9966960" cy="51663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3. </a:t>
            </a:r>
            <a:r>
              <a:rPr lang="ru-RU" b="1" dirty="0" smtClean="0"/>
              <a:t>Объединенный метод сходства и различия</a:t>
            </a:r>
            <a:r>
              <a:rPr lang="ru-RU" dirty="0" smtClean="0"/>
              <a:t> представляет собой комбинацию первых двух методов.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4. </a:t>
            </a:r>
            <a:r>
              <a:rPr lang="ru-RU" b="1" dirty="0" smtClean="0"/>
              <a:t>Метод сопутствующих изменений</a:t>
            </a:r>
            <a:r>
              <a:rPr lang="ru-RU" dirty="0" smtClean="0"/>
              <a:t>: если возникновение или изменение одного явления всякий раз необходимо вызывает определенное изменение другого явления, то оба эти явления находятся в причинной связи друг с другом.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5. </a:t>
            </a:r>
            <a:r>
              <a:rPr lang="ru-RU" b="1" dirty="0" smtClean="0"/>
              <a:t>Метод остатков</a:t>
            </a:r>
            <a:r>
              <a:rPr lang="ru-RU" dirty="0" smtClean="0"/>
              <a:t>: если известно, что причиной исследуемого явления не служат необходимые для него обстоятельства, кроме одного, то это одно обстоятельство и есть, вероятно, причина данного явления. 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Дедуктивный метод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Дедуктивный метод</a:t>
            </a:r>
            <a:r>
              <a:rPr lang="ru-RU" dirty="0" smtClean="0"/>
              <a:t> </a:t>
            </a:r>
            <a:r>
              <a:rPr lang="ru-RU" i="1" dirty="0" smtClean="0"/>
              <a:t>(</a:t>
            </a:r>
            <a:r>
              <a:rPr lang="ru-RU" dirty="0" smtClean="0"/>
              <a:t>от лат. </a:t>
            </a:r>
            <a:r>
              <a:rPr lang="ru-RU" dirty="0" err="1" smtClean="0"/>
              <a:t>deductio</a:t>
            </a:r>
            <a:r>
              <a:rPr lang="ru-RU" dirty="0" smtClean="0"/>
              <a:t> — выведение) - это форма мышления, при помощи которой новое знание выводится из старого логическим путем.</a:t>
            </a:r>
            <a:endParaRPr lang="ru-RU" dirty="0" smtClean="0"/>
          </a:p>
          <a:p>
            <a:r>
              <a:rPr lang="ru-RU" dirty="0" smtClean="0"/>
              <a:t>Дедуктивные умозаключения позволяют из уже имеющегося знания получать новые истины, и притом с помощью чистого рассуждения, без обращения к опыту, интуиции, здравому смыслу и т.п.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857232"/>
            <a:ext cx="8229600" cy="5452128"/>
          </a:xfrm>
        </p:spPr>
        <p:txBody>
          <a:bodyPr/>
          <a:lstStyle/>
          <a:p>
            <a:pPr>
              <a:buNone/>
            </a:pPr>
            <a:r>
              <a:rPr lang="ru-RU" b="1" i="1" dirty="0" smtClean="0"/>
              <a:t>Дедуктивное умозаключение представлено в форме силлогизма, включающего: </a:t>
            </a:r>
            <a:endParaRPr lang="ru-RU" b="1" i="1" dirty="0" smtClean="0"/>
          </a:p>
          <a:p>
            <a:pPr>
              <a:buNone/>
            </a:pPr>
            <a:endParaRPr lang="ru-RU" b="1" i="1" dirty="0" smtClean="0"/>
          </a:p>
          <a:p>
            <a:pPr>
              <a:buNone/>
            </a:pPr>
            <a:r>
              <a:rPr lang="ru-RU" dirty="0" smtClean="0"/>
              <a:t>1) общую посылку, представляющую какое-либо знание целого класса вещей;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2) частную посылку, выражающую искомое явление;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3) заключение об этом искомом явлении.</a:t>
            </a: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74650" y="730885"/>
            <a:ext cx="10627995" cy="5578475"/>
          </a:xfr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indent="411480">
              <a:buNone/>
            </a:pPr>
            <a:r>
              <a:rPr lang="ru-RU" dirty="0" smtClean="0"/>
              <a:t>Аналогично индукции дедуктивный метод выступает как </a:t>
            </a:r>
            <a:r>
              <a:rPr lang="ru-RU" i="1" dirty="0" smtClean="0"/>
              <a:t>метод исследования,</a:t>
            </a:r>
            <a:r>
              <a:rPr lang="ru-RU" dirty="0" smtClean="0"/>
              <a:t> который включает ряд этапов или процедур: нахождение ближайшего </a:t>
            </a:r>
            <a:r>
              <a:rPr lang="ru-RU" i="1" dirty="0" smtClean="0"/>
              <a:t>рода,</a:t>
            </a:r>
            <a:r>
              <a:rPr lang="ru-RU" dirty="0" smtClean="0"/>
              <a:t> соответствующего </a:t>
            </a:r>
            <a:r>
              <a:rPr lang="ru-RU" i="1" dirty="0" smtClean="0"/>
              <a:t>закона,</a:t>
            </a:r>
            <a:r>
              <a:rPr lang="ru-RU" dirty="0" smtClean="0"/>
              <a:t> присущего всем предметам данного рода, и, наконец, </a:t>
            </a:r>
            <a:r>
              <a:rPr lang="ru-RU" i="1" dirty="0" smtClean="0"/>
              <a:t>переход</a:t>
            </a:r>
            <a:r>
              <a:rPr lang="ru-RU" dirty="0" smtClean="0"/>
              <a:t> от более общих положений к менее общим. </a:t>
            </a:r>
            <a:endParaRPr lang="ru-RU" dirty="0" smtClean="0"/>
          </a:p>
          <a:p>
            <a:pPr indent="411480">
              <a:buNone/>
            </a:pPr>
            <a:endParaRPr lang="ru-RU" dirty="0" smtClean="0"/>
          </a:p>
          <a:p>
            <a:pPr indent="411480">
              <a:buNone/>
            </a:pPr>
            <a:r>
              <a:rPr lang="ru-RU" dirty="0" smtClean="0"/>
              <a:t>Вместе с тем, роль дедукции в научном исследовании нельзя абсолютизировать, а тем более — противопоставлять индукции и другим методам научного познания. Напротив, дедукция и индукция теснейшим образом взаимосвязаны и дополняют друг друга.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Аналогия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Аналогия </a:t>
            </a:r>
            <a:r>
              <a:rPr lang="ru-RU" dirty="0" smtClean="0"/>
              <a:t>(от греч. </a:t>
            </a:r>
            <a:r>
              <a:rPr lang="ru-RU" dirty="0" err="1" smtClean="0"/>
              <a:t>analogia</a:t>
            </a:r>
            <a:r>
              <a:rPr lang="ru-RU" dirty="0" smtClean="0"/>
              <a:t> - «пропорция, соразмерность») представляет собой в самом общем виде операцию нахождения какого-либо сходства между объектами, а также рассуждение, проводимое на основе этого сходства.</a:t>
            </a:r>
            <a:endParaRPr lang="ru-RU" dirty="0" smtClean="0"/>
          </a:p>
          <a:p>
            <a:r>
              <a:rPr lang="ru-RU" dirty="0" smtClean="0"/>
              <a:t>Аналогия -это такой метод научного исследования, с помощью которого от сходства объектов данного класса в одних признаках делают вывод об их сходстве в других признаках.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5890" y="857250"/>
            <a:ext cx="10074910" cy="5452110"/>
          </a:xfrm>
        </p:spPr>
        <p:txBody>
          <a:bodyPr>
            <a:normAutofit fontScale="90000" lnSpcReduction="10000"/>
          </a:bodyPr>
          <a:lstStyle/>
          <a:p>
            <a:pPr>
              <a:buNone/>
            </a:pPr>
            <a:r>
              <a:rPr lang="ru-RU" b="1" i="1" dirty="0" smtClean="0"/>
              <a:t>Для повышения вероятности выводов по аналогии необходимо стремиться к тому, чтобы:</a:t>
            </a:r>
            <a:endParaRPr lang="ru-RU" b="1" i="1" dirty="0" smtClean="0"/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были выявлены не только внешние свойства сопоставляемых объектов, а главным образом внутренние;</a:t>
            </a:r>
            <a:endParaRPr lang="ru-RU" dirty="0" smtClean="0"/>
          </a:p>
          <a:p>
            <a:r>
              <a:rPr lang="ru-RU" dirty="0" smtClean="0"/>
              <a:t> эти объекты были подобны в важнейших и существенных признаках, а не в случайных и второстепенных;</a:t>
            </a:r>
            <a:endParaRPr lang="ru-RU" dirty="0" smtClean="0"/>
          </a:p>
          <a:p>
            <a:r>
              <a:rPr lang="ru-RU" dirty="0" smtClean="0"/>
              <a:t>круг совпадающих признаков был как можно шире;</a:t>
            </a:r>
            <a:endParaRPr lang="ru-RU" dirty="0" smtClean="0"/>
          </a:p>
          <a:p>
            <a:r>
              <a:rPr lang="ru-RU" dirty="0" smtClean="0"/>
              <a:t>учитывались не только сходство, но и различия — чтобы последние не перенести на другой объект.</a:t>
            </a: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8630" y="1144270"/>
            <a:ext cx="11113770" cy="4982210"/>
          </a:xfrm>
        </p:spPr>
        <p:txBody>
          <a:bodyPr>
            <a:normAutofit lnSpcReduction="20000"/>
          </a:bodyPr>
          <a:lstStyle/>
          <a:p>
            <a:r>
              <a:rPr lang="ru-RU" b="1" dirty="0" smtClean="0"/>
              <a:t>Моделирование</a:t>
            </a:r>
            <a:r>
              <a:rPr lang="ru-RU" dirty="0" smtClean="0"/>
              <a:t> — метод научного познания, с помощью которого изучение объекта (оригинала) осуществляется путем создания его копии (модели), замещающей оригинал, которая затем познается с определенных сторон, интересующих исследователя.</a:t>
            </a:r>
            <a:endParaRPr lang="ru-RU" dirty="0" smtClean="0"/>
          </a:p>
          <a:p>
            <a:r>
              <a:rPr lang="ru-RU" b="1" dirty="0" smtClean="0"/>
              <a:t>Модель</a:t>
            </a:r>
            <a:r>
              <a:rPr lang="ru-RU" dirty="0" smtClean="0"/>
              <a:t> (от лат. </a:t>
            </a:r>
            <a:r>
              <a:rPr lang="ru-RU" dirty="0" err="1" smtClean="0"/>
              <a:t>modulus</a:t>
            </a:r>
            <a:r>
              <a:rPr lang="ru-RU" dirty="0" smtClean="0"/>
              <a:t> — мера, образ, норма) — это условный образ какого-либо объекта (оригинала), определенный способ выражения свойств, связей предметов и явлений реальной действительности на основе аналогии, установления между ними сходства и на этой основе воспроизведение их на материальном или идеальном объекте — подобии.</a:t>
            </a:r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8265" y="928370"/>
            <a:ext cx="10236835" cy="4709160"/>
          </a:xfrm>
          <a:ln w="762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20000"/>
          </a:bodyPr>
          <a:lstStyle/>
          <a:p>
            <a:pPr indent="411480"/>
            <a:r>
              <a:rPr lang="ru-RU" dirty="0" smtClean="0"/>
              <a:t>Моделирование широко применяется для расчета траекторий баллистических ракет, при изучении режима работы машин и даже целых предприятий, а также в управлении предприятиями, в распределении материальных ресурсов, в исследовании жизненных процессов в организме, в обществе.</a:t>
            </a:r>
            <a:endParaRPr lang="ru-RU" dirty="0" smtClean="0"/>
          </a:p>
          <a:p>
            <a:pPr indent="411480"/>
            <a:r>
              <a:rPr lang="ru-RU" dirty="0" smtClean="0"/>
              <a:t>Применяемые в обыденном и научном познании модели, делятся на два больших класса: вещественные, или материальные, и логические (мысленные), или идеальные.</a:t>
            </a:r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Классификация и Типология</a:t>
            </a:r>
            <a:endParaRPr lang="ru-RU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Это процедуры, основой которых является логическая операция деления объема понятия.</a:t>
            </a:r>
            <a:endParaRPr lang="ru-RU" dirty="0" smtClean="0"/>
          </a:p>
          <a:p>
            <a:r>
              <a:rPr lang="ru-RU" dirty="0" smtClean="0"/>
              <a:t>Объемом понятия в логике называется класс объектов, которые обозначаются данным понятием.</a:t>
            </a:r>
            <a:endParaRPr lang="ru-RU" dirty="0" smtClean="0"/>
          </a:p>
          <a:p>
            <a:r>
              <a:rPr lang="ru-RU" dirty="0" smtClean="0"/>
              <a:t> Операция, которая в соответствии с каким-либо способом или правилом приводит к формированию подклассов исходного объема понятия, называется делением объема понятия.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8780" y="785495"/>
            <a:ext cx="9640570" cy="4709160"/>
          </a:xfrm>
          <a:ln w="762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20000"/>
          </a:bodyPr>
          <a:lstStyle/>
          <a:p>
            <a:r>
              <a:rPr lang="ru-RU" dirty="0" smtClean="0"/>
              <a:t>Классификация и типология являются сложными действиями, включающими, как правило, много шагов и способствующими достаточно детальному прояснению исходного содержания того или иного понятия. </a:t>
            </a:r>
            <a:endParaRPr lang="ru-RU" dirty="0" smtClean="0"/>
          </a:p>
          <a:p>
            <a:r>
              <a:rPr lang="ru-RU" dirty="0" smtClean="0"/>
              <a:t>Типология —  самостоятельная логико-методологическая процедура, которая, несмотря на свою существенную близость к классификации, не может быть полностью сведена к ней. Типологические приемы имеют огромное значение в гуманитарных науках.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ru-RU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Заключение</a:t>
            </a:r>
            <a:endParaRPr lang="ru-RU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95350" y="1600200"/>
            <a:ext cx="9315450" cy="4114800"/>
          </a:xfrm>
          <a:ln w="762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indent="411480" algn="ctr">
              <a:buNone/>
            </a:pPr>
            <a:endParaRPr lang="ru-RU" dirty="0" smtClean="0"/>
          </a:p>
          <a:p>
            <a:pPr indent="411480" algn="ctr">
              <a:buNone/>
            </a:pPr>
            <a:r>
              <a:rPr lang="ru-RU" dirty="0" smtClean="0"/>
              <a:t>Следует обратить внимание на то, что все представленные методы научного познания используются в единстве, взаимосвязи и </a:t>
            </a:r>
            <a:r>
              <a:rPr lang="ru-RU" dirty="0" err="1" smtClean="0"/>
              <a:t>взаимодополнении</a:t>
            </a:r>
            <a:r>
              <a:rPr lang="ru-RU" dirty="0" smtClean="0"/>
              <a:t>, а их разъединение необходимо для того, чтобы представить сложный и динамичный характер науки как познавательной деятельности.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14032</Words>
  <Application>WPS Presentation</Application>
  <PresentationFormat>宽屏</PresentationFormat>
  <Paragraphs>178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Art_mountaineering</vt:lpstr>
      <vt:lpstr>PowerPoint 演示文稿</vt:lpstr>
      <vt:lpstr>МЕТОДЫ ТЕОРЕТИЧЕСКОГО ПОЗНАНИЯ</vt:lpstr>
      <vt:lpstr>Формализация</vt:lpstr>
      <vt:lpstr>Аксиоматический метод</vt:lpstr>
      <vt:lpstr>Восхождение от абстрактного к конкретному</vt:lpstr>
      <vt:lpstr>Гипотетико-дедуктивный метод</vt:lpstr>
      <vt:lpstr>Структура гипотетико-дедуктивного метода</vt:lpstr>
      <vt:lpstr>Индуктивный метод</vt:lpstr>
      <vt:lpstr>ОБЩЕЛОГИЧЕСКИЕ МЕТОДЫ И ПРИЕМЫ ИССЛЕДОВАНИЯ</vt:lpstr>
      <vt:lpstr>Метод анализа</vt:lpstr>
      <vt:lpstr>Синтез</vt:lpstr>
      <vt:lpstr>PowerPoint 演示文稿</vt:lpstr>
      <vt:lpstr>Виды анализа и синтеза </vt:lpstr>
      <vt:lpstr>Абстрагирование</vt:lpstr>
      <vt:lpstr>Обобщение</vt:lpstr>
      <vt:lpstr>Два основных типа обобщения</vt:lpstr>
      <vt:lpstr>Идеализация</vt:lpstr>
      <vt:lpstr>PowerPoint 演示文稿</vt:lpstr>
      <vt:lpstr>Индукция</vt:lpstr>
      <vt:lpstr>Основные группы индуктивных умозаключений: </vt:lpstr>
      <vt:lpstr>Методы установления причинно-следственной связи,  или методы научной индукции</vt:lpstr>
      <vt:lpstr>PowerPoint 演示文稿</vt:lpstr>
      <vt:lpstr>Дедуктивный метод</vt:lpstr>
      <vt:lpstr>PowerPoint 演示文稿</vt:lpstr>
      <vt:lpstr>PowerPoint 演示文稿</vt:lpstr>
      <vt:lpstr>Аналогия</vt:lpstr>
      <vt:lpstr>PowerPoint 演示文稿</vt:lpstr>
      <vt:lpstr>Моделирование</vt:lpstr>
      <vt:lpstr>PowerPoint 演示文稿</vt:lpstr>
      <vt:lpstr>Классификация и Типология</vt:lpstr>
      <vt:lpstr>PowerPoint 演示文稿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Ирина</cp:lastModifiedBy>
  <cp:revision>3</cp:revision>
  <dcterms:created xsi:type="dcterms:W3CDTF">2024-02-07T20:53:34Z</dcterms:created>
  <dcterms:modified xsi:type="dcterms:W3CDTF">2024-02-07T21:40:32Z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1049-12.2.0.13359</vt:lpwstr>
  </property>
  <property fmtid="{D5CDD505-2E9C-101B-9397-08002B2CF9AE}" pid="3" name="ICV">
    <vt:lpwstr>0455C79AB84B46F8A4F5A1EBA31531E0_13</vt:lpwstr>
  </property>
</Properties>
</file>