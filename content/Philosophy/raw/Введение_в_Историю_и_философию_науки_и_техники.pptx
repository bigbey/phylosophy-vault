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90" r:id="rId11"/>
    <p:sldId id="268" r:id="rId12"/>
    <p:sldId id="269" r:id="rId13"/>
    <p:sldId id="271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D349B-D215-4DFE-9E13-33B6651069EB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F3F0E-083A-478E-8FD9-1BF48027B9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73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C1E00B-832D-4D5E-840D-723066A3568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37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CB062C-13E6-449D-9018-F06662A19F0C}"/>
              </a:ext>
            </a:extLst>
          </p:cNvPr>
          <p:cNvSpPr/>
          <p:nvPr/>
        </p:nvSpPr>
        <p:spPr>
          <a:xfrm>
            <a:off x="0" y="2141539"/>
            <a:ext cx="12192000" cy="24542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E5E729-A8D2-4886-BC09-5F56F83BCEC5}"/>
              </a:ext>
            </a:extLst>
          </p:cNvPr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9618D3-DA30-42C2-82C9-5A413B9DD752}"/>
              </a:ext>
            </a:extLst>
          </p:cNvPr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5"/>
            <a:ext cx="10363200" cy="165246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51139"/>
            <a:ext cx="10363200" cy="416689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>
            <a:extLst>
              <a:ext uri="{FF2B5EF4-FFF2-40B4-BE49-F238E27FC236}">
                <a16:creationId xmlns:a16="http://schemas.microsoft.com/office/drawing/2014/main" id="{4388834D-2B3E-4352-A8D3-559F8014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C43E76-EB8C-4632-BF70-FC0FD6AB5A61}" type="datetimeFigureOut">
              <a:rPr lang="ru-RU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09.02.2023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79215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36C6F1-0EFB-4DBC-9BFC-A671DB5F9BA9}"/>
              </a:ext>
            </a:extLst>
          </p:cNvPr>
          <p:cNvSpPr/>
          <p:nvPr/>
        </p:nvSpPr>
        <p:spPr>
          <a:xfrm>
            <a:off x="0" y="1944689"/>
            <a:ext cx="12192000" cy="3043237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47CC4E-39FB-4334-AB03-E97208934C4D}"/>
              </a:ext>
            </a:extLst>
          </p:cNvPr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2EF4E28-5DEC-48F7-9801-D4AB1A3F3C79}"/>
              </a:ext>
            </a:extLst>
          </p:cNvPr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>
            <a:extLst>
              <a:ext uri="{FF2B5EF4-FFF2-40B4-BE49-F238E27FC236}">
                <a16:creationId xmlns:a16="http://schemas.microsoft.com/office/drawing/2014/main" id="{D6E5D49B-F4A0-4FB1-A797-BAA34C87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A0BB2C-D6D6-41FC-BCC9-70B9120C67A6}" type="datetimeFigureOut">
              <a:rPr lang="ru-RU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09.02.2023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22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BBA068-14F0-4ED4-B358-14755FE5F79E}"/>
              </a:ext>
            </a:extLst>
          </p:cNvPr>
          <p:cNvSpPr/>
          <p:nvPr/>
        </p:nvSpPr>
        <p:spPr>
          <a:xfrm>
            <a:off x="0" y="0"/>
            <a:ext cx="12192000" cy="6883400"/>
          </a:xfrm>
          <a:prstGeom prst="rect">
            <a:avLst/>
          </a:prstGeom>
          <a:solidFill>
            <a:srgbClr val="434343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bg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6" name="Дата 16">
            <a:extLst>
              <a:ext uri="{FF2B5EF4-FFF2-40B4-BE49-F238E27FC236}">
                <a16:creationId xmlns:a16="http://schemas.microsoft.com/office/drawing/2014/main" id="{CE25519A-B45A-4176-BFDA-B238A740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420687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A890506-4D67-460F-B5B1-47A8921DADBB}" type="datetimeFigureOut">
              <a:rPr lang="ru-RU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09.02.2023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92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ED3FD0-A536-4834-A941-B3339922FFA9}"/>
              </a:ext>
            </a:extLst>
          </p:cNvPr>
          <p:cNvSpPr/>
          <p:nvPr/>
        </p:nvSpPr>
        <p:spPr>
          <a:xfrm>
            <a:off x="0" y="1944689"/>
            <a:ext cx="12192000" cy="20605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Изображение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914400" y="2201897"/>
            <a:ext cx="10363200" cy="151357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9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ая_страница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6300A1-F4E2-41C5-A225-3A5A6E2214DC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BC5E4D-CB6D-4FC1-AE0C-414CDBDB90A9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65" y="868102"/>
            <a:ext cx="11052751" cy="5208607"/>
          </a:xfrm>
          <a:effectLst>
            <a:outerShdw blurRad="50800" dist="50800" dir="5400000" algn="ctr" rotWithShape="0">
              <a:srgbClr val="EBEBEB"/>
            </a:outerShdw>
          </a:effectLst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A3A4ED-190A-44E9-A4A4-342F333C8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CF8C119-E0FD-4B8A-A785-12C1F64604D6}" type="slidenum">
              <a:rPr lang="ru-RU" smtClean="0">
                <a:solidFill>
                  <a:prstClr val="black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60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раница_2_колонки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696633F-EC78-404C-832B-B286F3C9C113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73CC2A-DBEB-4E18-A45A-A83E107224A2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537365" y="863591"/>
            <a:ext cx="5482435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863591"/>
            <a:ext cx="5417916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91E618-6E43-4DA5-8F36-00C05E40B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B419C78-DAB0-415F-8089-3389C02B0679}" type="slidenum">
              <a:rPr lang="ru-RU" smtClean="0">
                <a:solidFill>
                  <a:prstClr val="black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71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B6A7BB9-942F-4CB4-AE2A-2A2D80AE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D4BCEAB-DEF0-4A8A-8510-5B7C18B941EF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09.02.2023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086C020-346B-4CF5-B50B-A9E35402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96730A-7B0C-4A68-B246-D639779D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5D29D9D-F7CB-4FEF-81F5-94067BBA6E1B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84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F84B75-A89E-476D-93B8-E99F05B9D3B4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E6300E-4459-4EBF-A1BC-46505DABD780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60358E-C106-4B76-9348-06BD63D79B96}"/>
              </a:ext>
            </a:extLst>
          </p:cNvPr>
          <p:cNvSpPr txBox="1">
            <a:spLocks/>
          </p:cNvSpPr>
          <p:nvPr/>
        </p:nvSpPr>
        <p:spPr>
          <a:xfrm>
            <a:off x="2590800" y="0"/>
            <a:ext cx="9000067" cy="577850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 baseline="0">
                <a:solidFill>
                  <a:schemeClr val="tx1"/>
                </a:solidFill>
                <a:latin typeface="PT Sans" charset="-52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j-ea"/>
                <a:cs typeface="+mj-cs"/>
              </a:rPr>
              <a:t>Образец заголовка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3809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Дата 2">
            <a:extLst>
              <a:ext uri="{FF2B5EF4-FFF2-40B4-BE49-F238E27FC236}">
                <a16:creationId xmlns:a16="http://schemas.microsoft.com/office/drawing/2014/main" id="{6034537D-4356-4884-A86A-5E61A8A9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33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01DDF91-232C-432B-842F-0DCF202B3136}" type="datetimeFigureOut">
              <a:rPr lang="ru-RU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09.02.2023</a:t>
            </a:fld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Нижний колонтитул 3">
            <a:extLst>
              <a:ext uri="{FF2B5EF4-FFF2-40B4-BE49-F238E27FC236}">
                <a16:creationId xmlns:a16="http://schemas.microsoft.com/office/drawing/2014/main" id="{BE4CF04A-80F1-460D-9944-8F021CB9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351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5511C22D-B867-40BD-B5F6-ED16B82C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4464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A8A5F77-68E7-4124-9B85-DA1973D465D0}" type="slidenum">
              <a:rPr lang="ru-RU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01537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_за_внимани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95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61430D-E335-472C-9FEB-21364E6A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3D771E-DE35-4CB9-8D3F-F2BAFB79B376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09.02.2023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C29C47-6BD6-479D-B89C-5FCAAAC9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DB51AC-B1EE-4361-B8C0-F2FEC5AF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7BE6B90-0D54-492D-BF00-4C1DD8F57288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07112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6D333B69-277C-4BD7-A955-DE3F4C3FF1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524E6994-490E-426F-AC40-84AC72F218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DE39970E-1E84-4A60-BF7B-B171915018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639686-E40C-4324-A1B6-45B71D952597}" type="slidenum">
              <a:rPr lang="ru-RU" alt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 alt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97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1430D-E335-472C-9FEB-21364E6AB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2DB49D1-7328-4986-9F47-4040DEB407A4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09.02.2023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29C47-6BD6-479D-B89C-5FCAAAC9B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B51AC-B1EE-4361-B8C0-F2FEC5AFC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FCE584E-D0B9-4824-BC91-6D6C2FF7FC6F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50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209800" y="2271714"/>
            <a:ext cx="7772400" cy="1652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ru-RU" altLang="ru-RU" sz="4000">
                <a:latin typeface="PT Sans"/>
              </a:rPr>
              <a:t>История и философия науки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63750" y="4581526"/>
            <a:ext cx="8496300" cy="1584325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</a:rPr>
              <a:t>Доцент кафедры общественных наук Санкт-петербургского политехнического университета Петра Великого</a:t>
            </a:r>
          </a:p>
          <a:p>
            <a:pPr algn="r">
              <a:defRPr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Березовская Ирина Петровна</a:t>
            </a:r>
          </a:p>
        </p:txBody>
      </p:sp>
    </p:spTree>
    <p:extLst>
      <p:ext uri="{BB962C8B-B14F-4D97-AF65-F5344CB8AC3E}">
        <p14:creationId xmlns:p14="http://schemas.microsoft.com/office/powerpoint/2010/main" val="50836396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endParaRPr lang="ru-RU" altLang="ru-RU" smtClean="0">
              <a:latin typeface="PT Sans"/>
            </a:endParaRPr>
          </a:p>
        </p:txBody>
      </p:sp>
      <p:sp>
        <p:nvSpPr>
          <p:cNvPr id="15363" name="Объект 2"/>
          <p:cNvSpPr>
            <a:spLocks noGrp="1" noChangeArrowheads="1"/>
          </p:cNvSpPr>
          <p:nvPr>
            <p:ph idx="1"/>
          </p:nvPr>
        </p:nvSpPr>
        <p:spPr>
          <a:xfrm>
            <a:off x="1927226" y="868364"/>
            <a:ext cx="8289925" cy="52085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 dirty="0"/>
              <a:t>Кандидатский</a:t>
            </a:r>
            <a:r>
              <a:rPr lang="ru-RU" dirty="0"/>
              <a:t> минимум необходим для проверки подготовки </a:t>
            </a:r>
            <a:r>
              <a:rPr lang="ru-RU" dirty="0" smtClean="0"/>
              <a:t>к </a:t>
            </a:r>
            <a:r>
              <a:rPr lang="ru-RU" dirty="0"/>
              <a:t>ведению самостоятельной исследовательской деятельности по выбранному направлению. </a:t>
            </a:r>
            <a:endParaRPr lang="ru-RU" dirty="0" smtClean="0"/>
          </a:p>
          <a:p>
            <a:pPr marL="0" indent="0">
              <a:buNone/>
              <a:defRPr/>
            </a:pPr>
            <a:r>
              <a:rPr lang="ru-RU" dirty="0" smtClean="0"/>
              <a:t>Успешное </a:t>
            </a:r>
            <a:r>
              <a:rPr lang="ru-RU" dirty="0"/>
              <a:t>прохождение </a:t>
            </a:r>
            <a:r>
              <a:rPr lang="ru-RU" b="1" dirty="0"/>
              <a:t>кандидатских экзаменов</a:t>
            </a:r>
            <a:r>
              <a:rPr lang="ru-RU" dirty="0"/>
              <a:t> – это обязательное условие для получения допуска к защите </a:t>
            </a:r>
            <a:r>
              <a:rPr lang="ru-RU" b="1" dirty="0"/>
              <a:t>кандидатской</a:t>
            </a:r>
            <a:r>
              <a:rPr lang="ru-RU" dirty="0"/>
              <a:t> диссертации</a:t>
            </a:r>
            <a:endParaRPr lang="ru-RU" altLang="ru-RU" dirty="0" smtClean="0"/>
          </a:p>
        </p:txBody>
      </p:sp>
    </p:spTree>
    <p:extLst>
      <p:ext uri="{BB962C8B-B14F-4D97-AF65-F5344CB8AC3E}">
        <p14:creationId xmlns:p14="http://schemas.microsoft.com/office/powerpoint/2010/main" val="287435354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Кандидатский экзамен по истории и философии науки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536" y="1268761"/>
            <a:ext cx="8297050" cy="4807949"/>
          </a:xfrm>
        </p:spPr>
        <p:txBody>
          <a:bodyPr/>
          <a:lstStyle/>
          <a:p>
            <a:r>
              <a:rPr lang="ru-RU" dirty="0" smtClean="0"/>
              <a:t> Для соискателей допуском к сдаче кандидатского экзамена является</a:t>
            </a:r>
          </a:p>
          <a:p>
            <a:r>
              <a:rPr lang="ru-RU" dirty="0" smtClean="0"/>
              <a:t> </a:t>
            </a:r>
            <a:r>
              <a:rPr lang="ru-RU" sz="3600" dirty="0">
                <a:solidFill>
                  <a:srgbClr val="C00000"/>
                </a:solidFill>
              </a:rPr>
              <a:t>зачтенный реферат по истории науки</a:t>
            </a:r>
          </a:p>
          <a:p>
            <a:r>
              <a:rPr lang="ru-RU" dirty="0" smtClean="0"/>
              <a:t>История науки изучает развитие наук, картину исторического развития научных учений, фактов и явлений, фиксируемых наукой, методологий, представлений, мировоззрений, процессов и проблем</a:t>
            </a:r>
            <a:r>
              <a:rPr lang="ru-RU" altLang="ru-RU" dirty="0" smtClean="0"/>
              <a:t>.</a:t>
            </a:r>
            <a:endParaRPr lang="ru-RU" altLang="ru-RU" dirty="0"/>
          </a:p>
          <a:p>
            <a:r>
              <a:rPr lang="ru-RU" dirty="0"/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978" y="4581129"/>
            <a:ext cx="3974199" cy="185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66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Реферат по истории науки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545" y="908721"/>
            <a:ext cx="3372845" cy="520858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60" y="2420888"/>
            <a:ext cx="4608512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4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Реферат по истории науки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1505" y="836712"/>
            <a:ext cx="8585083" cy="5239998"/>
          </a:xfrm>
        </p:spPr>
        <p:txBody>
          <a:bodyPr/>
          <a:lstStyle/>
          <a:p>
            <a:pPr algn="just"/>
            <a:r>
              <a:rPr lang="ru-RU" sz="2700" dirty="0"/>
              <a:t>Для будущего ученого важно представлять место своей науки, своей работы в историческом контексте, видеть в ней социальный смысл, воспитать в себе уважительное отношение к предшественникам, понять смысл и творческий характер научной деятельности. </a:t>
            </a:r>
          </a:p>
          <a:p>
            <a:pPr algn="just"/>
            <a:r>
              <a:rPr lang="ru-RU" sz="2700" dirty="0"/>
              <a:t>Пониманию сущности той или иной научной области способствует конкретно-исторический анализ ее развития. 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769" y="4077073"/>
            <a:ext cx="4171397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7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Предметом рассмотрения в реферате могут стать: </a:t>
            </a:r>
          </a:p>
          <a:p>
            <a:r>
              <a:rPr lang="ru-RU" dirty="0" smtClean="0">
                <a:solidFill>
                  <a:srgbClr val="C00000"/>
                </a:solidFill>
              </a:rPr>
              <a:t>история становления и развития научных школ и направлений, роли их основоположников, ведущих ученых, в развитии мировой науки; </a:t>
            </a:r>
          </a:p>
          <a:p>
            <a:r>
              <a:rPr lang="ru-RU" dirty="0" smtClean="0">
                <a:solidFill>
                  <a:srgbClr val="C00000"/>
                </a:solidFill>
              </a:rPr>
              <a:t>история исследований и открытий в конкретных областях научного знания; </a:t>
            </a:r>
          </a:p>
          <a:p>
            <a:r>
              <a:rPr lang="ru-RU" dirty="0" smtClean="0">
                <a:solidFill>
                  <a:srgbClr val="C00000"/>
                </a:solidFill>
              </a:rPr>
              <a:t>исследование основных тенденций и закономерностей становления и развития отдельных наук и отраслей научного знания и др.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C00000"/>
                </a:solidFill>
              </a:rPr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901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на рефератов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1. </a:t>
            </a:r>
            <a:r>
              <a:rPr lang="ru-RU" b="1" i="1" dirty="0"/>
              <a:t>Выбор темы</a:t>
            </a:r>
            <a:endParaRPr lang="ru-RU" dirty="0"/>
          </a:p>
          <a:p>
            <a:r>
              <a:rPr lang="ru-RU" b="1" i="1" dirty="0" smtClean="0"/>
              <a:t>2. </a:t>
            </a:r>
            <a:r>
              <a:rPr lang="ru-RU" b="1" i="1" dirty="0"/>
              <a:t>Учет сроков написания </a:t>
            </a:r>
            <a:r>
              <a:rPr lang="ru-RU" b="1" i="1" dirty="0" smtClean="0"/>
              <a:t>работы</a:t>
            </a:r>
          </a:p>
          <a:p>
            <a:r>
              <a:rPr lang="ru-RU" b="1" i="1" dirty="0" smtClean="0"/>
              <a:t>3</a:t>
            </a:r>
            <a:r>
              <a:rPr lang="ru-RU" b="1" i="1" dirty="0"/>
              <a:t>. Использование консультаций научного </a:t>
            </a:r>
            <a:r>
              <a:rPr lang="ru-RU" b="1" i="1" dirty="0" smtClean="0"/>
              <a:t>руководителя, </a:t>
            </a:r>
            <a:r>
              <a:rPr lang="ru-RU" i="1" dirty="0" smtClean="0"/>
              <a:t>от которого потом получаем </a:t>
            </a:r>
            <a:r>
              <a:rPr lang="ru-RU" b="1" i="1" dirty="0" smtClean="0"/>
              <a:t>отзыв на реферат</a:t>
            </a:r>
          </a:p>
          <a:p>
            <a:r>
              <a:rPr lang="ru-RU" b="1" i="1" dirty="0" smtClean="0"/>
              <a:t>4</a:t>
            </a:r>
            <a:r>
              <a:rPr lang="ru-RU" b="1" i="1" dirty="0"/>
              <a:t>. План реферата</a:t>
            </a:r>
            <a:endParaRPr lang="ru-RU" b="1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 План включает в себя перечень коренных вопросов,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 определяющих основное содержание каждой части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 темы и последовательность их изучения. </a:t>
            </a:r>
          </a:p>
          <a:p>
            <a:r>
              <a:rPr lang="ru-RU" sz="1600" dirty="0"/>
              <a:t>Простой план включает в себя</a:t>
            </a:r>
          </a:p>
          <a:p>
            <a:r>
              <a:rPr lang="ru-RU" sz="1600" dirty="0"/>
              <a:t> </a:t>
            </a:r>
            <a:r>
              <a:rPr lang="ru-RU" sz="1600" b="1" dirty="0"/>
              <a:t>заглавие всей темы,</a:t>
            </a:r>
          </a:p>
          <a:p>
            <a:r>
              <a:rPr lang="ru-RU" sz="1600" b="1" dirty="0"/>
              <a:t> введение, </a:t>
            </a:r>
          </a:p>
          <a:p>
            <a:r>
              <a:rPr lang="ru-RU" sz="1600" b="1" dirty="0"/>
              <a:t>1-2- главы ( 1-3 параграфа в главе) </a:t>
            </a:r>
          </a:p>
          <a:p>
            <a:r>
              <a:rPr lang="ru-RU" sz="1600" b="1" dirty="0"/>
              <a:t> заключение.</a:t>
            </a:r>
          </a:p>
          <a:p>
            <a:r>
              <a:rPr lang="ru-RU" sz="1600" b="1" dirty="0"/>
              <a:t>список литературы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112" y="2780928"/>
            <a:ext cx="3112474" cy="358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6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над рефератом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75520" y="692697"/>
            <a:ext cx="8441066" cy="538401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 </a:t>
            </a:r>
          </a:p>
          <a:p>
            <a:r>
              <a:rPr lang="ru-RU" dirty="0"/>
              <a:t>Реферат должен представлять собой самостоятельно выполненное произведение (процент оригинальности по системе «</a:t>
            </a:r>
            <a:r>
              <a:rPr lang="ru-RU" dirty="0" err="1"/>
              <a:t>Антиплагиат</a:t>
            </a:r>
            <a:r>
              <a:rPr lang="ru-RU" dirty="0"/>
              <a:t>» должен составлять не менее 75</a:t>
            </a:r>
            <a:r>
              <a:rPr lang="ru-RU" dirty="0" smtClean="0"/>
              <a:t>%).</a:t>
            </a:r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/>
              <a:t>Структура реферата должна быть логичной, выводы – обоснованными. Иллюстративный и цифровой материал должен использоваться умело и соответствовать текстовому</a:t>
            </a:r>
            <a:r>
              <a:rPr lang="ru-RU" dirty="0" smtClean="0"/>
              <a:t>.</a:t>
            </a:r>
          </a:p>
          <a:p>
            <a:r>
              <a:rPr lang="ru-RU" dirty="0" smtClean="0"/>
              <a:t>Объем 14-16 страниц.  </a:t>
            </a:r>
            <a:endParaRPr lang="ru-RU" dirty="0"/>
          </a:p>
          <a:p>
            <a:endParaRPr lang="ru-RU" dirty="0"/>
          </a:p>
        </p:txBody>
      </p:sp>
      <p:pic>
        <p:nvPicPr>
          <p:cNvPr id="152582" name="Picture 6" descr="Выделяется ли &quot;увы&quot; запятыми? — OneK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1" y="2420889"/>
            <a:ext cx="1419831" cy="141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115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Подготовка к экзамену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537" y="868103"/>
            <a:ext cx="8297050" cy="5009170"/>
          </a:xfrm>
        </p:spPr>
        <p:txBody>
          <a:bodyPr/>
          <a:lstStyle/>
          <a:p>
            <a:r>
              <a:rPr lang="ru-RU" dirty="0" smtClean="0"/>
              <a:t>Лекции по «Общим проблемам философии науки»</a:t>
            </a:r>
          </a:p>
          <a:p>
            <a:r>
              <a:rPr lang="ru-RU" dirty="0" smtClean="0"/>
              <a:t>60 </a:t>
            </a:r>
            <a:r>
              <a:rPr lang="ru-RU" dirty="0" smtClean="0"/>
              <a:t>вопросов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605" y="1844824"/>
            <a:ext cx="5904656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00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327" y="975360"/>
            <a:ext cx="2564696" cy="329184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589" y="975359"/>
            <a:ext cx="2264227" cy="321346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223" y="975358"/>
            <a:ext cx="2229393" cy="3135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2103" y="5120640"/>
            <a:ext cx="513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Все учебники есть в электронном виде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985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>
                <a:latin typeface="PT Sans"/>
              </a:rPr>
              <a:t>Экзамен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75521" y="692697"/>
            <a:ext cx="8441066" cy="5384013"/>
          </a:xfrm>
        </p:spPr>
        <p:txBody>
          <a:bodyPr/>
          <a:lstStyle/>
          <a:p>
            <a:r>
              <a:rPr lang="ru-RU" dirty="0" smtClean="0"/>
              <a:t>Билет (3 вопроса):</a:t>
            </a:r>
          </a:p>
          <a:p>
            <a:r>
              <a:rPr lang="ru-RU" dirty="0" smtClean="0"/>
              <a:t>Протокол </a:t>
            </a:r>
            <a:r>
              <a:rPr lang="ru-RU" dirty="0" smtClean="0"/>
              <a:t>, в котором указываем ФИО, название организации, вопросы билета, название реферата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233" y="2988501"/>
            <a:ext cx="439846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44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63552" y="-2043608"/>
            <a:ext cx="8147248" cy="43296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dirty="0" smtClean="0">
                <a:latin typeface="PT Sans"/>
              </a:rPr>
              <a:t/>
            </a:r>
            <a:br>
              <a:rPr lang="ru-RU" altLang="ru-RU" dirty="0" smtClean="0">
                <a:latin typeface="PT Sans"/>
              </a:rPr>
            </a:br>
            <a:r>
              <a:rPr lang="ru-RU" altLang="ru-RU" dirty="0" smtClean="0">
                <a:latin typeface="PT Sans"/>
              </a:rPr>
              <a:t>ИСТОРИЯ И ФИЛОСОФИЯ НАУКИ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063552" y="836713"/>
            <a:ext cx="8147248" cy="52942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ru-RU" altLang="ru-RU" i="1" dirty="0" smtClean="0"/>
          </a:p>
          <a:p>
            <a:pPr eaLnBrk="1" hangingPunct="1">
              <a:defRPr/>
            </a:pPr>
            <a:r>
              <a:rPr lang="ru-RU" altLang="ru-RU" i="1" dirty="0" smtClean="0"/>
              <a:t>История науки – осмысление исторического развития научного знания. </a:t>
            </a:r>
          </a:p>
          <a:p>
            <a:pPr eaLnBrk="1" hangingPunct="1">
              <a:defRPr/>
            </a:pPr>
            <a:r>
              <a:rPr lang="ru-RU" altLang="ru-RU" i="1" dirty="0" smtClean="0"/>
              <a:t>Философия науки – часть философии, представляет собой философские размышления о науке.</a:t>
            </a:r>
          </a:p>
        </p:txBody>
      </p:sp>
    </p:spTree>
    <p:extLst>
      <p:ext uri="{BB962C8B-B14F-4D97-AF65-F5344CB8AC3E}">
        <p14:creationId xmlns:p14="http://schemas.microsoft.com/office/powerpoint/2010/main" val="329850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flipH="1">
            <a:off x="7080067" y="1837510"/>
            <a:ext cx="3579221" cy="4471812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672064" y="2780929"/>
            <a:ext cx="3693644" cy="3528393"/>
          </a:xfrm>
        </p:spPr>
        <p:txBody>
          <a:bodyPr/>
          <a:lstStyle/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sz="1200" dirty="0">
                <a:solidFill>
                  <a:schemeClr val="bg1"/>
                </a:solidFill>
              </a:rPr>
              <a:t>Аристотель (384—322 годы до нашей эры)</a:t>
            </a:r>
          </a:p>
          <a:p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PT Sans"/>
              </a:rPr>
              <a:t>ИСТОРИЯ И ФИЛОСОФИЯ НАУКИ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847528" y="836712"/>
            <a:ext cx="83690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Как бы хорошо учёный ни изучил свой предмет, он прекрасно понимает, что вне поля его зрения остались многие другие предметы, оставшиеся ему неизвестными.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847529" y="2420888"/>
            <a:ext cx="454671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Философия в собственном (высшем и главном) смысле этого слова «не тождественна ни одной из так называемых частных наук, ибо ни одна из других наук не исследует общую природу сущего как такового, а все они, отделяя себе какую-то часть его, исследуют то, что присуще этой части…».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						Аристотель</a:t>
            </a:r>
          </a:p>
        </p:txBody>
      </p:sp>
    </p:spTree>
    <p:extLst>
      <p:ext uri="{BB962C8B-B14F-4D97-AF65-F5344CB8AC3E}">
        <p14:creationId xmlns:p14="http://schemas.microsoft.com/office/powerpoint/2010/main" val="4033920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r>
              <a:rPr lang="ru-RU" altLang="ru-RU" dirty="0">
                <a:latin typeface="PT Sans"/>
              </a:rPr>
              <a:t>ИСТОРИЯ И ФИЛОСОФИЯ НАУКИ</a:t>
            </a:r>
            <a:endParaRPr lang="ru-RU" altLang="ru-RU" dirty="0" smtClean="0">
              <a:latin typeface="PT Sans"/>
            </a:endParaRPr>
          </a:p>
        </p:txBody>
      </p:sp>
      <p:sp>
        <p:nvSpPr>
          <p:cNvPr id="21507" name="Объект 2"/>
          <p:cNvSpPr>
            <a:spLocks noGrp="1" noChangeArrowheads="1"/>
          </p:cNvSpPr>
          <p:nvPr>
            <p:ph idx="1"/>
          </p:nvPr>
        </p:nvSpPr>
        <p:spPr>
          <a:xfrm>
            <a:off x="1927226" y="868364"/>
            <a:ext cx="8289925" cy="5208587"/>
          </a:xfrm>
        </p:spPr>
        <p:txBody>
          <a:bodyPr/>
          <a:lstStyle/>
          <a:p>
            <a:pPr>
              <a:defRPr/>
            </a:pPr>
            <a:r>
              <a:rPr lang="ru-RU" altLang="ru-RU" sz="3000" i="1" dirty="0"/>
              <a:t>Наука – очень сложное, многогранное и постоянно изменяющееся явление человеческой жизни. </a:t>
            </a:r>
          </a:p>
          <a:p>
            <a:pPr>
              <a:defRPr/>
            </a:pPr>
            <a:endParaRPr lang="ru-RU" altLang="ru-RU" sz="3000" i="1" dirty="0"/>
          </a:p>
          <a:p>
            <a:pPr>
              <a:defRPr/>
            </a:pPr>
            <a:r>
              <a:rPr lang="ru-RU" altLang="ru-RU" sz="3200" dirty="0"/>
              <a:t>1) специфический тип знания; </a:t>
            </a:r>
          </a:p>
          <a:p>
            <a:pPr>
              <a:defRPr/>
            </a:pPr>
            <a:endParaRPr lang="ru-RU" altLang="ru-RU" sz="3200" dirty="0"/>
          </a:p>
          <a:p>
            <a:pPr>
              <a:defRPr/>
            </a:pPr>
            <a:r>
              <a:rPr lang="ru-RU" altLang="ru-RU" sz="3200" dirty="0"/>
              <a:t>2) особый социальный институт.</a:t>
            </a:r>
          </a:p>
          <a:p>
            <a:pPr>
              <a:defRPr/>
            </a:pPr>
            <a:endParaRPr lang="ru-RU" altLang="ru-RU" sz="3200" dirty="0"/>
          </a:p>
          <a:p>
            <a:pPr>
              <a:defRPr/>
            </a:pPr>
            <a:r>
              <a:rPr lang="ru-RU" altLang="ru-RU" sz="3200" dirty="0"/>
              <a:t>3) особый вид деятельности; </a:t>
            </a:r>
          </a:p>
        </p:txBody>
      </p:sp>
    </p:spTree>
    <p:extLst>
      <p:ext uri="{BB962C8B-B14F-4D97-AF65-F5344CB8AC3E}">
        <p14:creationId xmlns:p14="http://schemas.microsoft.com/office/powerpoint/2010/main" val="30622496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 bwMode="auto">
          <a:xfrm>
            <a:off x="2682240" y="-99390"/>
            <a:ext cx="7528560" cy="9354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800" dirty="0">
                <a:latin typeface="PT Sans"/>
              </a:rPr>
              <a:t>Наука как специфический тип знания</a:t>
            </a:r>
            <a:r>
              <a:rPr lang="ru-RU" altLang="ru-RU" dirty="0" smtClean="0">
                <a:latin typeface="PT Sans"/>
              </a:rPr>
              <a:t>. </a:t>
            </a:r>
          </a:p>
        </p:txBody>
      </p:sp>
      <p:sp>
        <p:nvSpPr>
          <p:cNvPr id="23555" name="Объект 2"/>
          <p:cNvSpPr>
            <a:spLocks noGrp="1" noChangeArrowheads="1"/>
          </p:cNvSpPr>
          <p:nvPr>
            <p:ph idx="1"/>
          </p:nvPr>
        </p:nvSpPr>
        <p:spPr>
          <a:xfrm>
            <a:off x="1775520" y="1340769"/>
            <a:ext cx="8435280" cy="4755232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ru-RU" altLang="ru-RU" dirty="0" smtClean="0"/>
              <a:t>Главная проблема: 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altLang="ru-RU" dirty="0" smtClean="0"/>
              <a:t>выявление тех признаков, которые необходимы для различения научного знания и различных форм </a:t>
            </a:r>
            <a:r>
              <a:rPr lang="ru-RU" altLang="ru-RU" dirty="0" err="1" smtClean="0"/>
              <a:t>вненаучного</a:t>
            </a:r>
            <a:r>
              <a:rPr lang="ru-RU" altLang="ru-RU" dirty="0" smtClean="0"/>
              <a:t> знания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ru-RU" altLang="ru-RU" dirty="0"/>
          </a:p>
          <a:p>
            <a:pPr marL="0" indent="0">
              <a:spcBef>
                <a:spcPts val="0"/>
              </a:spcBef>
              <a:buNone/>
              <a:defRPr/>
            </a:pPr>
            <a:endParaRPr lang="ru-RU" altLang="ru-RU" dirty="0" smtClean="0"/>
          </a:p>
          <a:p>
            <a:pPr marL="0" indent="0">
              <a:buNone/>
              <a:defRPr/>
            </a:pPr>
            <a:r>
              <a:rPr lang="ru-RU" b="1" dirty="0" smtClean="0">
                <a:latin typeface="PT Sans"/>
                <a:ea typeface="+mj-ea"/>
                <a:cs typeface="+mj-cs"/>
              </a:rPr>
              <a:t>	Наука </a:t>
            </a:r>
            <a:r>
              <a:rPr lang="ru-RU" b="1" dirty="0">
                <a:latin typeface="PT Sans"/>
                <a:ea typeface="+mj-ea"/>
                <a:cs typeface="+mj-cs"/>
              </a:rPr>
              <a:t>как особый социальный </a:t>
            </a:r>
            <a:r>
              <a:rPr lang="ru-RU" b="1" dirty="0" smtClean="0">
                <a:latin typeface="PT Sans"/>
                <a:ea typeface="+mj-ea"/>
                <a:cs typeface="+mj-cs"/>
              </a:rPr>
              <a:t>институт</a:t>
            </a:r>
          </a:p>
          <a:p>
            <a:pPr>
              <a:spcBef>
                <a:spcPts val="0"/>
              </a:spcBef>
              <a:defRPr/>
            </a:pPr>
            <a:r>
              <a:rPr lang="ru-RU" altLang="ru-RU" dirty="0"/>
              <a:t>Основная проблема</a:t>
            </a:r>
            <a:r>
              <a:rPr lang="ru-RU" altLang="ru-RU" dirty="0" smtClean="0"/>
              <a:t>:</a:t>
            </a:r>
            <a:endParaRPr lang="ru-RU" altLang="ru-RU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altLang="ru-RU" dirty="0"/>
              <a:t>функционирование научного сообщества</a:t>
            </a:r>
          </a:p>
          <a:p>
            <a:pPr marL="0" indent="0">
              <a:buNone/>
              <a:defRPr/>
            </a:pPr>
            <a:endParaRPr lang="ru-RU" altLang="ru-RU" b="1" dirty="0">
              <a:latin typeface="PT Sans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6570933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title"/>
          </p:nvPr>
        </p:nvSpPr>
        <p:spPr bwMode="auto">
          <a:xfrm>
            <a:off x="1847850" y="-315913"/>
            <a:ext cx="9144000" cy="13435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r>
              <a:rPr lang="ru-RU" altLang="ru-RU" sz="2800" dirty="0">
                <a:latin typeface="PT Sans"/>
              </a:rPr>
              <a:t>Наука как познавательная деятельность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386850-4060-4696-AB5E-38C76E26D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557339"/>
            <a:ext cx="9144000" cy="4751387"/>
          </a:xfrm>
        </p:spPr>
        <p:txBody>
          <a:bodyPr/>
          <a:lstStyle/>
          <a:p>
            <a:pPr>
              <a:defRPr/>
            </a:pPr>
            <a:r>
              <a:rPr lang="ru-RU" dirty="0"/>
              <a:t>цель — получение нового научного знания, </a:t>
            </a:r>
          </a:p>
          <a:p>
            <a:pPr>
              <a:defRPr/>
            </a:pPr>
            <a:r>
              <a:rPr lang="ru-RU" dirty="0"/>
              <a:t>предмет — имеющаяся эмпирическая и теоретическая информация </a:t>
            </a:r>
          </a:p>
          <a:p>
            <a:pPr>
              <a:defRPr/>
            </a:pPr>
            <a:r>
              <a:rPr lang="ru-RU" dirty="0"/>
              <a:t>средства — имеющиеся в распоряжении исследователя методы анализа и коммуникации, способствующие решению заявленной проблемы</a:t>
            </a:r>
          </a:p>
          <a:p>
            <a:pPr marL="0" indent="0" algn="ctr">
              <a:buNone/>
              <a:defRPr/>
            </a:pPr>
            <a:endParaRPr lang="ru-RU" dirty="0"/>
          </a:p>
          <a:p>
            <a:pPr marL="0" indent="0" algn="ctr">
              <a:buNone/>
              <a:defRPr/>
            </a:pPr>
            <a:r>
              <a:rPr lang="ru-RU" dirty="0"/>
              <a:t>Проблема: модели получения научного знания</a:t>
            </a:r>
          </a:p>
        </p:txBody>
      </p:sp>
    </p:spTree>
    <p:extLst>
      <p:ext uri="{BB962C8B-B14F-4D97-AF65-F5344CB8AC3E}">
        <p14:creationId xmlns:p14="http://schemas.microsoft.com/office/powerpoint/2010/main" val="342564812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27E3319-FB8B-47D5-9040-927106A60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7100" y="0"/>
            <a:ext cx="6750050" cy="57785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ru-RU" altLang="ru-RU" dirty="0"/>
              <a:t>ОБЩИЕ МОДЕЛИ ИСТОРИИ НАУКИ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927226" y="868364"/>
            <a:ext cx="8289925" cy="5208587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dirty="0" smtClean="0"/>
              <a:t>	1) история науки как прогрессивный поступательный процесс (кумулятивная модель);</a:t>
            </a:r>
          </a:p>
          <a:p>
            <a:pPr eaLnBrk="1" hangingPunct="1">
              <a:defRPr/>
            </a:pPr>
            <a:r>
              <a:rPr lang="ru-RU" altLang="ru-RU" dirty="0" smtClean="0"/>
              <a:t>	2) история науки как процесс развития научного знания через научные революции; (революционная модель)</a:t>
            </a:r>
          </a:p>
          <a:p>
            <a:pPr eaLnBrk="1" hangingPunct="1">
              <a:defRPr/>
            </a:pPr>
            <a:r>
              <a:rPr lang="ru-RU" altLang="ru-RU" dirty="0" smtClean="0"/>
              <a:t>	3) история науки как совокупность различных познавательных программ «кейс </a:t>
            </a:r>
            <a:r>
              <a:rPr lang="ru-RU" altLang="ru-RU" dirty="0" err="1" smtClean="0"/>
              <a:t>стадис</a:t>
            </a:r>
            <a:r>
              <a:rPr lang="ru-RU" altLang="ru-RU" dirty="0" smtClean="0"/>
              <a:t>» (</a:t>
            </a:r>
            <a:r>
              <a:rPr lang="en-US" altLang="ru-RU" dirty="0" smtClean="0"/>
              <a:t>case studies</a:t>
            </a:r>
            <a:r>
              <a:rPr lang="ru-RU" altLang="ru-RU" dirty="0" smtClean="0"/>
              <a:t>).</a:t>
            </a:r>
            <a:endParaRPr lang="ru-RU" alt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175594482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1800" dirty="0" smtClean="0">
                <a:latin typeface="PT Sans"/>
              </a:rPr>
              <a:t>КУМУЛЯТИВНАЯ МОДЕЛЬ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1036319"/>
            <a:ext cx="10903131" cy="5040631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i="1" dirty="0" smtClean="0"/>
              <a:t> </a:t>
            </a:r>
            <a:r>
              <a:rPr lang="ru-RU" altLang="ru-RU" dirty="0"/>
              <a:t>и</a:t>
            </a:r>
            <a:r>
              <a:rPr lang="ru-RU" altLang="ru-RU" dirty="0" smtClean="0"/>
              <a:t>сходит из установки, что новое знание всегда совершеннее прежнего, поэтому историческое развитие науки это подготовка ее современного состояния.</a:t>
            </a:r>
          </a:p>
          <a:p>
            <a:pPr eaLnBrk="1" hangingPunct="1">
              <a:defRPr/>
            </a:pPr>
            <a:endParaRPr lang="ru-RU" altLang="ru-RU" dirty="0" smtClean="0"/>
          </a:p>
          <a:p>
            <a:pPr eaLnBrk="1" hangingPunct="1">
              <a:defRPr/>
            </a:pPr>
            <a:endParaRPr lang="ru-RU" altLang="ru-RU" dirty="0"/>
          </a:p>
          <a:p>
            <a:pPr eaLnBrk="1" hangingPunct="1">
              <a:defRPr/>
            </a:pPr>
            <a:endParaRPr lang="ru-RU" altLang="ru-RU" dirty="0" smtClean="0"/>
          </a:p>
          <a:p>
            <a:pPr eaLnBrk="1" hangingPunct="1">
              <a:defRPr/>
            </a:pPr>
            <a:endParaRPr lang="ru-RU" altLang="ru-RU" dirty="0"/>
          </a:p>
          <a:p>
            <a:pPr eaLnBrk="1" hangingPunct="1">
              <a:defRPr/>
            </a:pPr>
            <a:endParaRPr lang="ru-RU" altLang="ru-RU" dirty="0" smtClean="0"/>
          </a:p>
          <a:p>
            <a:pPr eaLnBrk="1" hangingPunct="1">
              <a:defRPr/>
            </a:pPr>
            <a:r>
              <a:rPr lang="ru-RU" altLang="ru-RU" dirty="0" smtClean="0"/>
              <a:t> Теоретической основой данной модели стала философия позитивизма (конец XIX - начало ХХ в).</a:t>
            </a:r>
            <a:endParaRPr lang="ru-RU" altLang="ru-RU" i="1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183" y="2311308"/>
            <a:ext cx="5495109" cy="249065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30" y="2311308"/>
            <a:ext cx="3840481" cy="237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033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64229" y="-470263"/>
            <a:ext cx="9178834" cy="1828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sz="1800" dirty="0" smtClean="0">
                <a:latin typeface="PT Sans"/>
              </a:rPr>
              <a:t>ВТОРАЯ МОДЕЛЬ (ЧЕРЕЗ НАУЧНЫЕ РЕВОЛЮЦИИ</a:t>
            </a:r>
            <a:r>
              <a:rPr lang="ru-RU" altLang="ru-RU" sz="2800" dirty="0" smtClean="0">
                <a:latin typeface="PT Sans"/>
              </a:rPr>
              <a:t>)</a:t>
            </a:r>
            <a:r>
              <a:rPr lang="ru-RU" altLang="ru-RU" dirty="0" smtClean="0">
                <a:latin typeface="PT Sans"/>
              </a:rPr>
              <a:t/>
            </a:r>
            <a:br>
              <a:rPr lang="ru-RU" altLang="ru-RU" dirty="0" smtClean="0">
                <a:latin typeface="PT Sans"/>
              </a:rPr>
            </a:br>
            <a:endParaRPr lang="ru-RU" altLang="ru-RU" dirty="0" smtClean="0">
              <a:latin typeface="PT San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821387" y="1425763"/>
            <a:ext cx="9250500" cy="4500700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dirty="0" smtClean="0"/>
              <a:t>появилась в середине ХХ в. в связи с кризисом позитивизма. </a:t>
            </a:r>
          </a:p>
          <a:p>
            <a:pPr eaLnBrk="1" hangingPunct="1">
              <a:defRPr/>
            </a:pPr>
            <a:r>
              <a:rPr lang="ru-RU" altLang="ru-RU" dirty="0" smtClean="0"/>
              <a:t>исходит из идеи прерывности развития научного знания.</a:t>
            </a:r>
          </a:p>
          <a:p>
            <a:pPr eaLnBrk="1" hangingPunct="1">
              <a:defRPr/>
            </a:pPr>
            <a:r>
              <a:rPr lang="ru-RU" altLang="ru-RU" dirty="0" smtClean="0"/>
              <a:t> время от времени в науке происходят революции, принципиально меняющие парадигму и направление научного знания.</a:t>
            </a:r>
            <a:endParaRPr lang="ru-RU" altLang="ru-RU" i="1" dirty="0" smtClean="0"/>
          </a:p>
          <a:p>
            <a:pPr eaLnBrk="1" hangingPunct="1">
              <a:defRPr/>
            </a:pPr>
            <a:endParaRPr lang="ru-RU" altLang="ru-RU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312" y="882336"/>
            <a:ext cx="1749471" cy="247128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887" y="3579223"/>
            <a:ext cx="1797896" cy="276932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026" y="3701143"/>
            <a:ext cx="2481646" cy="272578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515496" y="5359564"/>
            <a:ext cx="2386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Томас </a:t>
            </a:r>
            <a:r>
              <a:rPr lang="ru-RU" sz="1200" dirty="0" err="1" smtClean="0"/>
              <a:t>Сэмюэл</a:t>
            </a:r>
            <a:r>
              <a:rPr lang="ru-RU" sz="1200" dirty="0" smtClean="0"/>
              <a:t> Кун</a:t>
            </a:r>
          </a:p>
          <a:p>
            <a:r>
              <a:rPr lang="ru-RU" sz="1200" dirty="0" smtClean="0"/>
              <a:t> (англ. </a:t>
            </a:r>
            <a:r>
              <a:rPr lang="en-US" sz="1200" dirty="0" smtClean="0"/>
              <a:t>Thomas Samuel Kuhn</a:t>
            </a:r>
            <a:r>
              <a:rPr lang="ru-RU" sz="1200" dirty="0" smtClean="0"/>
              <a:t>)</a:t>
            </a:r>
          </a:p>
          <a:p>
            <a:r>
              <a:rPr lang="en-US" sz="1200" dirty="0" smtClean="0"/>
              <a:t> </a:t>
            </a:r>
            <a:r>
              <a:rPr lang="ru-RU" sz="1200" dirty="0" smtClean="0"/>
              <a:t>1922- 1996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78412272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6778" y="113211"/>
            <a:ext cx="8449310" cy="69977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ru-RU" altLang="ru-RU" sz="2200" dirty="0" smtClean="0"/>
              <a:t>«КЕЙС СТАДИС» (</a:t>
            </a:r>
            <a:r>
              <a:rPr lang="en-US" altLang="ru-RU" sz="2200" dirty="0" smtClean="0"/>
              <a:t>CASE STUDIES</a:t>
            </a:r>
            <a:r>
              <a:rPr lang="ru-RU" altLang="ru-RU" sz="3100" dirty="0" smtClean="0"/>
              <a:t>)</a:t>
            </a:r>
            <a:r>
              <a:rPr lang="ru-RU" altLang="ru-RU" i="1" dirty="0"/>
              <a:t/>
            </a:r>
            <a:br>
              <a:rPr lang="ru-RU" altLang="ru-RU" i="1" dirty="0"/>
            </a:br>
            <a:endParaRPr lang="ru-RU" altLang="ru-RU" dirty="0" smtClean="0">
              <a:latin typeface="PT Sans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9966891-D52F-4C46-A070-A0D4FB12A6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3474" y="1271451"/>
            <a:ext cx="9633677" cy="4805500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sz="2400" dirty="0" smtClean="0"/>
              <a:t>Любое </a:t>
            </a:r>
            <a:r>
              <a:rPr lang="ru-RU" altLang="ru-RU" sz="2400" dirty="0"/>
              <a:t>событие в науке </a:t>
            </a:r>
            <a:r>
              <a:rPr lang="ru-RU" altLang="ru-RU" sz="2400" dirty="0" smtClean="0"/>
              <a:t>- </a:t>
            </a:r>
            <a:r>
              <a:rPr lang="ru-RU" altLang="ru-RU" sz="2400" dirty="0"/>
              <a:t>неповторимое в других исторических условиях. </a:t>
            </a:r>
            <a:endParaRPr lang="ru-RU" altLang="ru-RU" sz="2400" dirty="0" smtClean="0"/>
          </a:p>
          <a:p>
            <a:pPr eaLnBrk="1" hangingPunct="1">
              <a:defRPr/>
            </a:pPr>
            <a:r>
              <a:rPr lang="ru-RU" altLang="ru-RU" sz="2400" dirty="0" smtClean="0"/>
              <a:t>Наука </a:t>
            </a:r>
            <a:r>
              <a:rPr lang="ru-RU" altLang="ru-RU" sz="2400" dirty="0"/>
              <a:t>допускает одновременное существование различных теорий, по-разному объясняющих одни и те же научные факты</a:t>
            </a:r>
          </a:p>
          <a:p>
            <a:pPr eaLnBrk="1" hangingPunct="1">
              <a:defRPr/>
            </a:pPr>
            <a:r>
              <a:rPr lang="ru-RU" altLang="ru-RU" sz="2400" dirty="0"/>
              <a:t>Представители  - К.Д. </a:t>
            </a:r>
            <a:r>
              <a:rPr lang="ru-RU" altLang="ru-RU" sz="2400" dirty="0" err="1"/>
              <a:t>Кнорр-Цетина</a:t>
            </a:r>
            <a:r>
              <a:rPr lang="ru-RU" altLang="ru-RU" sz="2400" dirty="0"/>
              <a:t>, М. </a:t>
            </a:r>
            <a:r>
              <a:rPr lang="ru-RU" altLang="ru-RU" sz="2400" dirty="0" err="1"/>
              <a:t>Малкей</a:t>
            </a:r>
            <a:r>
              <a:rPr lang="ru-RU" altLang="ru-RU" sz="2400" dirty="0"/>
              <a:t>, Дж. Гилберт, </a:t>
            </a:r>
            <a:endParaRPr lang="ru-RU" altLang="ru-RU" sz="2400" dirty="0" smtClean="0"/>
          </a:p>
          <a:p>
            <a:pPr marL="0" indent="0" eaLnBrk="1" hangingPunct="1">
              <a:buNone/>
              <a:defRPr/>
            </a:pPr>
            <a:r>
              <a:rPr lang="ru-RU" altLang="ru-RU" sz="2400" dirty="0" smtClean="0"/>
              <a:t> </a:t>
            </a:r>
            <a:endParaRPr lang="ru-RU" altLang="ru-RU" sz="2400" dirty="0"/>
          </a:p>
          <a:p>
            <a:pPr eaLnBrk="1" hangingPunct="1">
              <a:defRPr/>
            </a:pPr>
            <a:endParaRPr lang="ru-RU" altLang="ru-RU" sz="2000" dirty="0" smtClean="0"/>
          </a:p>
          <a:p>
            <a:pPr eaLnBrk="1" hangingPunct="1">
              <a:defRPr/>
            </a:pPr>
            <a:endParaRPr lang="ru-RU" altLang="ru-RU" sz="2000" dirty="0"/>
          </a:p>
          <a:p>
            <a:pPr eaLnBrk="1" hangingPunct="1">
              <a:defRPr/>
            </a:pPr>
            <a:endParaRPr lang="ru-RU" altLang="ru-RU" sz="2000" dirty="0" smtClean="0"/>
          </a:p>
          <a:p>
            <a:pPr eaLnBrk="1" hangingPunct="1">
              <a:defRPr/>
            </a:pPr>
            <a:endParaRPr lang="ru-RU" altLang="ru-RU" sz="2000" dirty="0"/>
          </a:p>
          <a:p>
            <a:pPr eaLnBrk="1" hangingPunct="1">
              <a:defRPr/>
            </a:pPr>
            <a:r>
              <a:rPr lang="ru-RU" altLang="ru-RU" sz="2000" dirty="0" smtClean="0"/>
              <a:t>Помимо </a:t>
            </a:r>
            <a:r>
              <a:rPr lang="ru-RU" altLang="ru-RU" sz="2000" dirty="0"/>
              <a:t>указанных моделей история науки может изучаться через теории отдельных ученых или научных школ, исследующих определенную область научного знания.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931" y="3561264"/>
            <a:ext cx="1497875" cy="174314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58" y="3486489"/>
            <a:ext cx="1306288" cy="18179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24" y="3419891"/>
            <a:ext cx="127063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4036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Тема1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C35E5ABC-F7F3-48C6-8922-A394D5FB2A3C}" vid="{95FD78CC-307C-40F4-9440-13386BF0948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693</Words>
  <Application>Microsoft Office PowerPoint</Application>
  <PresentationFormat>Широкоэкранный</PresentationFormat>
  <Paragraphs>119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PT Sans</vt:lpstr>
      <vt:lpstr>Wingdings</vt:lpstr>
      <vt:lpstr>Тема1</vt:lpstr>
      <vt:lpstr>История и философия науки</vt:lpstr>
      <vt:lpstr>Презентация PowerPoint</vt:lpstr>
      <vt:lpstr>Кандидатский экзамен по истории и философии науки</vt:lpstr>
      <vt:lpstr>Реферат по истории науки</vt:lpstr>
      <vt:lpstr>Реферат по истории науки</vt:lpstr>
      <vt:lpstr>Презентация PowerPoint</vt:lpstr>
      <vt:lpstr>Работа на рефератов</vt:lpstr>
      <vt:lpstr>Работа над рефератом</vt:lpstr>
      <vt:lpstr>Подготовка к экзамену</vt:lpstr>
      <vt:lpstr>Литература:</vt:lpstr>
      <vt:lpstr>Экзамен</vt:lpstr>
      <vt:lpstr> ИСТОРИЯ И ФИЛОСОФИЯ НАУКИ</vt:lpstr>
      <vt:lpstr>ИСТОРИЯ И ФИЛОСОФИЯ НАУКИ</vt:lpstr>
      <vt:lpstr>ИСТОРИЯ И ФИЛОСОФИЯ НАУКИ</vt:lpstr>
      <vt:lpstr>Наука как специфический тип знания. </vt:lpstr>
      <vt:lpstr>Наука как познавательная деятельность</vt:lpstr>
      <vt:lpstr>ОБЩИЕ МОДЕЛИ ИСТОРИИ НАУКИ</vt:lpstr>
      <vt:lpstr>КУМУЛЯТИВНАЯ МОДЕЛЬ</vt:lpstr>
      <vt:lpstr>ВТОРАЯ МОДЕЛЬ (ЧЕРЕЗ НАУЧНЫЕ РЕВОЛЮЦИИ) </vt:lpstr>
      <vt:lpstr>«КЕЙС СТАДИС» (CASE STUDIES)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10</cp:revision>
  <dcterms:created xsi:type="dcterms:W3CDTF">2022-11-14T21:33:44Z</dcterms:created>
  <dcterms:modified xsi:type="dcterms:W3CDTF">2023-02-08T22:16:52Z</dcterms:modified>
</cp:coreProperties>
</file>