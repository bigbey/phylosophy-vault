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29" r:id="rId3"/>
    <p:sldId id="335" r:id="rId4"/>
    <p:sldId id="257" r:id="rId5"/>
    <p:sldId id="333" r:id="rId6"/>
    <p:sldId id="331" r:id="rId7"/>
    <p:sldId id="258" r:id="rId8"/>
    <p:sldId id="259" r:id="rId9"/>
    <p:sldId id="332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  <p:sldId id="270" r:id="rId20"/>
    <p:sldId id="271" r:id="rId21"/>
    <p:sldId id="272" r:id="rId22"/>
    <p:sldId id="334" r:id="rId23"/>
    <p:sldId id="274" r:id="rId24"/>
    <p:sldId id="275" r:id="rId25"/>
    <p:sldId id="276" r:id="rId26"/>
    <p:sldId id="277" r:id="rId27"/>
    <p:sldId id="295" r:id="rId28"/>
    <p:sldId id="278" r:id="rId29"/>
    <p:sldId id="280" r:id="rId30"/>
    <p:sldId id="296" r:id="rId31"/>
    <p:sldId id="336" r:id="rId32"/>
    <p:sldId id="281" r:id="rId33"/>
    <p:sldId id="282" r:id="rId34"/>
    <p:sldId id="283" r:id="rId35"/>
    <p:sldId id="297" r:id="rId36"/>
    <p:sldId id="285" r:id="rId37"/>
    <p:sldId id="337" r:id="rId38"/>
    <p:sldId id="286" r:id="rId39"/>
    <p:sldId id="287" r:id="rId40"/>
    <p:sldId id="288" r:id="rId41"/>
    <p:sldId id="289" r:id="rId42"/>
    <p:sldId id="294" r:id="rId43"/>
    <p:sldId id="292" r:id="rId44"/>
    <p:sldId id="338" r:id="rId45"/>
    <p:sldId id="298" r:id="rId46"/>
    <p:sldId id="301" r:id="rId47"/>
    <p:sldId id="302" r:id="rId48"/>
    <p:sldId id="303" r:id="rId49"/>
    <p:sldId id="306" r:id="rId50"/>
    <p:sldId id="307" r:id="rId51"/>
    <p:sldId id="308" r:id="rId52"/>
    <p:sldId id="309" r:id="rId53"/>
    <p:sldId id="312" r:id="rId54"/>
    <p:sldId id="313" r:id="rId55"/>
    <p:sldId id="321" r:id="rId56"/>
    <p:sldId id="324" r:id="rId57"/>
    <p:sldId id="325" r:id="rId58"/>
    <p:sldId id="326" r:id="rId59"/>
    <p:sldId id="327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CB062C-13E6-449D-9018-F06662A19F0C}"/>
              </a:ext>
            </a:extLst>
          </p:cNvPr>
          <p:cNvSpPr/>
          <p:nvPr/>
        </p:nvSpPr>
        <p:spPr>
          <a:xfrm>
            <a:off x="0" y="2141539"/>
            <a:ext cx="12192000" cy="24542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E5E729-A8D2-4886-BC09-5F56F83BCEC5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9618D3-DA30-42C2-82C9-5A413B9DD752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5"/>
            <a:ext cx="103632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51139"/>
            <a:ext cx="10363200" cy="41668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4388834D-2B3E-4352-A8D3-559F8014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BB9DD5-E060-43FE-BE50-EED8A5600C48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34923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36C6F1-0EFB-4DBC-9BFC-A671DB5F9BA9}"/>
              </a:ext>
            </a:extLst>
          </p:cNvPr>
          <p:cNvSpPr/>
          <p:nvPr/>
        </p:nvSpPr>
        <p:spPr>
          <a:xfrm>
            <a:off x="0" y="1944689"/>
            <a:ext cx="12192000" cy="3043237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47CC4E-39FB-4334-AB03-E97208934C4D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EF4E28-5DEC-48F7-9801-D4AB1A3F3C79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D6E5D49B-F4A0-4FB1-A797-BAA34C87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DE0C77-58A1-40C4-80E8-C62DA019950B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14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BBA068-14F0-4ED4-B358-14755FE5F79E}"/>
              </a:ext>
            </a:extLst>
          </p:cNvPr>
          <p:cNvSpPr/>
          <p:nvPr/>
        </p:nvSpPr>
        <p:spPr>
          <a:xfrm>
            <a:off x="0" y="0"/>
            <a:ext cx="12192000" cy="6883400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" name="Дата 16">
            <a:extLst>
              <a:ext uri="{FF2B5EF4-FFF2-40B4-BE49-F238E27FC236}">
                <a16:creationId xmlns:a16="http://schemas.microsoft.com/office/drawing/2014/main" id="{CE25519A-B45A-4176-BFDA-B238A740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420687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67A818-1D8A-491C-A8DF-5E1868AAD494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5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ED3FD0-A536-4834-A941-B3339922FFA9}"/>
              </a:ext>
            </a:extLst>
          </p:cNvPr>
          <p:cNvSpPr/>
          <p:nvPr/>
        </p:nvSpPr>
        <p:spPr>
          <a:xfrm>
            <a:off x="0" y="1944689"/>
            <a:ext cx="12192000" cy="20605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Изображение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201897"/>
            <a:ext cx="103632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13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ая_страница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6300A1-F4E2-41C5-A225-3A5A6E2214DC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BC5E4D-CB6D-4FC1-AE0C-414CDBDB90A9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65" y="868102"/>
            <a:ext cx="11052751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A3A4ED-190A-44E9-A4A4-342F333C8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3AEDE0-4A2E-4AB6-A6C8-A0CC5347AFB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раница_2_колонки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96633F-EC78-404C-832B-B286F3C9C113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73CC2A-DBEB-4E18-A45A-A83E107224A2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537365" y="863591"/>
            <a:ext cx="5482435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863591"/>
            <a:ext cx="5417916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91E618-6E43-4DA5-8F36-00C05E40B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DFF2C1-5C80-43D5-A8C4-F0E4F8590B7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T Sans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20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B6A7BB9-942F-4CB4-AE2A-2A2D80AE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45878D-6B7A-4BA9-855C-FB0D06C31212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086C020-346B-4CF5-B50B-A9E35402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96730A-7B0C-4A68-B246-D639779D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181822-0D56-45F3-A9AC-2E262786160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66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F84B75-A89E-476D-93B8-E99F05B9D3B4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6300E-4459-4EBF-A1BC-46505DABD780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60358E-C106-4B76-9348-06BD63D79B96}"/>
              </a:ext>
            </a:extLst>
          </p:cNvPr>
          <p:cNvSpPr txBox="1">
            <a:spLocks/>
          </p:cNvSpPr>
          <p:nvPr/>
        </p:nvSpPr>
        <p:spPr>
          <a:xfrm>
            <a:off x="2590800" y="0"/>
            <a:ext cx="9000067" cy="5778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j-ea"/>
                <a:cs typeface="+mj-cs"/>
              </a:rPr>
              <a:t>Образец заголовка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3809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Дата 2">
            <a:extLst>
              <a:ext uri="{FF2B5EF4-FFF2-40B4-BE49-F238E27FC236}">
                <a16:creationId xmlns:a16="http://schemas.microsoft.com/office/drawing/2014/main" id="{6034537D-4356-4884-A86A-5E61A8A9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33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E7C5-A301-4AE9-8445-D870C6CBE0BF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T Sans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  <p:sp>
        <p:nvSpPr>
          <p:cNvPr id="8" name="Нижний колонтитул 3">
            <a:extLst>
              <a:ext uri="{FF2B5EF4-FFF2-40B4-BE49-F238E27FC236}">
                <a16:creationId xmlns:a16="http://schemas.microsoft.com/office/drawing/2014/main" id="{BE4CF04A-80F1-460D-9944-8F021CB9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5511C22D-B867-40BD-B5F6-ED16B82C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4464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F3DAB8-E242-4B8F-A33E-25C09CDC712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T Sans" charset="-52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T Sans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64977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_за_внимани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87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B0A08B-7456-43CB-8C05-A31EB723E5A1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2B475F-00C5-4419-80AE-CEE6C6DA3E6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69128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CB062C-13E6-449D-9018-F06662A19F0C}"/>
              </a:ext>
            </a:extLst>
          </p:cNvPr>
          <p:cNvSpPr/>
          <p:nvPr/>
        </p:nvSpPr>
        <p:spPr>
          <a:xfrm>
            <a:off x="0" y="2141539"/>
            <a:ext cx="12192000" cy="24542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E5E729-A8D2-4886-BC09-5F56F83BCEC5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9618D3-DA30-42C2-82C9-5A413B9DD752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5"/>
            <a:ext cx="103632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51139"/>
            <a:ext cx="10363200" cy="41668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4388834D-2B3E-4352-A8D3-559F8014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DBB9DD5-E060-43FE-BE50-EED8A5600C48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88546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36C6F1-0EFB-4DBC-9BFC-A671DB5F9BA9}"/>
              </a:ext>
            </a:extLst>
          </p:cNvPr>
          <p:cNvSpPr/>
          <p:nvPr/>
        </p:nvSpPr>
        <p:spPr>
          <a:xfrm>
            <a:off x="0" y="1944689"/>
            <a:ext cx="12192000" cy="3043237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047CC4E-39FB-4334-AB03-E97208934C4D}"/>
              </a:ext>
            </a:extLst>
          </p:cNvPr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EF4E28-5DEC-48F7-9801-D4AB1A3F3C79}"/>
              </a:ext>
            </a:extLst>
          </p:cNvPr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>
            <a:extLst>
              <a:ext uri="{FF2B5EF4-FFF2-40B4-BE49-F238E27FC236}">
                <a16:creationId xmlns:a16="http://schemas.microsoft.com/office/drawing/2014/main" id="{D6E5D49B-F4A0-4FB1-A797-BAA34C87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DE0C77-58A1-40C4-80E8-C62DA019950B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915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BBA068-14F0-4ED4-B358-14755FE5F79E}"/>
              </a:ext>
            </a:extLst>
          </p:cNvPr>
          <p:cNvSpPr/>
          <p:nvPr/>
        </p:nvSpPr>
        <p:spPr>
          <a:xfrm>
            <a:off x="0" y="0"/>
            <a:ext cx="12192000" cy="6883400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" name="Дата 16">
            <a:extLst>
              <a:ext uri="{FF2B5EF4-FFF2-40B4-BE49-F238E27FC236}">
                <a16:creationId xmlns:a16="http://schemas.microsoft.com/office/drawing/2014/main" id="{CE25519A-B45A-4176-BFDA-B238A740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420687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267A818-1D8A-491C-A8DF-5E1868AAD494}" type="datetimeFigureOut">
              <a:rPr lang="ru-RU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01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ED3FD0-A536-4834-A941-B3339922FFA9}"/>
              </a:ext>
            </a:extLst>
          </p:cNvPr>
          <p:cNvSpPr/>
          <p:nvPr/>
        </p:nvSpPr>
        <p:spPr>
          <a:xfrm>
            <a:off x="0" y="1944689"/>
            <a:ext cx="12192000" cy="20605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Изображение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201897"/>
            <a:ext cx="103632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933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ая_страница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6300A1-F4E2-41C5-A225-3A5A6E2214DC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BC5E4D-CB6D-4FC1-AE0C-414CDBDB90A9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65" y="868102"/>
            <a:ext cx="11052751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A3A4ED-190A-44E9-A4A4-342F333C8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3AEDE0-4A2E-4AB6-A6C8-A0CC5347AFBD}" type="slidenum">
              <a:rPr lang="ru-RU" smtClean="0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00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раница_2_колонки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96633F-EC78-404C-832B-B286F3C9C113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73CC2A-DBEB-4E18-A45A-A83E107224A2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537365" y="863591"/>
            <a:ext cx="5482435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863591"/>
            <a:ext cx="5417916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91E618-6E43-4DA5-8F36-00C05E40B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6DFF2C1-5C80-43D5-A8C4-F0E4F8590B76}" type="slidenum">
              <a:rPr lang="ru-RU" smtClean="0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476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B6A7BB9-942F-4CB4-AE2A-2A2D80AE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345878D-6B7A-4BA9-855C-FB0D06C31212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086C020-346B-4CF5-B50B-A9E35402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96730A-7B0C-4A68-B246-D639779D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6181822-0D56-45F3-A9AC-2E262786160A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55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F84B75-A89E-476D-93B8-E99F05B9D3B4}"/>
              </a:ext>
            </a:extLst>
          </p:cNvPr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6300E-4459-4EBF-A1BC-46505DABD780}"/>
              </a:ext>
            </a:extLst>
          </p:cNvPr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60358E-C106-4B76-9348-06BD63D79B96}"/>
              </a:ext>
            </a:extLst>
          </p:cNvPr>
          <p:cNvSpPr txBox="1">
            <a:spLocks/>
          </p:cNvSpPr>
          <p:nvPr/>
        </p:nvSpPr>
        <p:spPr>
          <a:xfrm>
            <a:off x="2590800" y="0"/>
            <a:ext cx="9000067" cy="5778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j-ea"/>
                <a:cs typeface="+mj-cs"/>
              </a:rPr>
              <a:t>Образец заголовка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3809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Дата 2">
            <a:extLst>
              <a:ext uri="{FF2B5EF4-FFF2-40B4-BE49-F238E27FC236}">
                <a16:creationId xmlns:a16="http://schemas.microsoft.com/office/drawing/2014/main" id="{6034537D-4356-4884-A86A-5E61A8A9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33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4A7E7C5-A301-4AE9-8445-D870C6CBE0BF}" type="datetimeFigureOut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Нижний колонтитул 3">
            <a:extLst>
              <a:ext uri="{FF2B5EF4-FFF2-40B4-BE49-F238E27FC236}">
                <a16:creationId xmlns:a16="http://schemas.microsoft.com/office/drawing/2014/main" id="{BE4CF04A-80F1-460D-9944-8F021CB9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3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5511C22D-B867-40BD-B5F6-ED16B82C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4464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EF3DAB8-E242-4B8F-A33E-25C09CDC7125}" type="slidenum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9542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_за_внимани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66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0B0A08B-7456-43CB-8C05-A31EB723E5A1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B2B475F-00C5-4419-80AE-CEE6C6DA3E6E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6139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6D333B69-277C-4BD7-A955-DE3F4C3FF1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524E6994-490E-426F-AC40-84AC72F218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DE39970E-1E84-4A60-BF7B-B17191501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56578-050F-451D-B248-973105786DC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39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F41C32-B87B-49BC-9673-8CFEB4C493F1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02.02.2023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3FFC6B-74C4-4C98-ACD9-8A062E456F68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09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430D-E335-472C-9FEB-21364E6AB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3F41C32-B87B-49BC-9673-8CFEB4C493F1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02.02.2023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9C47-6BD6-479D-B89C-5FCAAAC9B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51AC-B1EE-4361-B8C0-F2FEC5AFC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E3FFC6B-74C4-4C98-ACD9-8A062E456F68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4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B3C1203F-E319-4062-B8CA-7B248B63A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276475"/>
            <a:ext cx="7850188" cy="127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+mn-cs"/>
              </a:rPr>
              <a:t>"ИСТОРИЯ И ФИЛОСОФИЯ НАУКИ”</a:t>
            </a:r>
          </a:p>
        </p:txBody>
      </p:sp>
    </p:spTree>
    <p:extLst>
      <p:ext uri="{BB962C8B-B14F-4D97-AF65-F5344CB8AC3E}">
        <p14:creationId xmlns:p14="http://schemas.microsoft.com/office/powerpoint/2010/main" val="2845879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097280" y="2926080"/>
            <a:ext cx="10180320" cy="997732"/>
          </a:xfrm>
        </p:spPr>
        <p:txBody>
          <a:bodyPr/>
          <a:lstStyle/>
          <a:p>
            <a:pPr algn="ctr"/>
            <a:r>
              <a:rPr lang="ru-RU" dirty="0" smtClean="0"/>
              <a:t>4</a:t>
            </a:r>
            <a:r>
              <a:rPr lang="ru-RU" dirty="0"/>
              <a:t>. Неопозитивистская концепция науки.</a:t>
            </a:r>
            <a:br>
              <a:rPr lang="ru-RU" dirty="0"/>
            </a:b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6388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dirty="0" smtClean="0">
              <a:solidFill>
                <a:srgbClr val="FF0000"/>
              </a:solidFill>
              <a:latin typeface="PT San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2D894-E127-4D0C-9538-E532A7DF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217" y="577850"/>
            <a:ext cx="10816046" cy="6453188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сложился как третья историческая форма позитивизма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в начале 20-х гг. XX в.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в Австрии, Англии и Польше.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«</a:t>
            </a:r>
            <a:r>
              <a:rPr lang="ru-RU" sz="3600" b="1" dirty="0"/>
              <a:t>Венский кружок</a:t>
            </a:r>
            <a:r>
              <a:rPr lang="ru-RU" sz="3600" dirty="0"/>
              <a:t>»  — сообщество учёных, регулярно собиравшихся в Вене с конца 20-х и до середины 30-х годов  </a:t>
            </a:r>
            <a:r>
              <a:rPr lang="en-US" sz="3600" dirty="0"/>
              <a:t>XX </a:t>
            </a:r>
            <a:r>
              <a:rPr lang="ru-RU" sz="3600" dirty="0"/>
              <a:t>века</a:t>
            </a:r>
            <a:r>
              <a:rPr lang="ru-RU" sz="3200" dirty="0"/>
              <a:t>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dirty="0" smtClean="0"/>
              <a:t>	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263712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82389" y="868102"/>
            <a:ext cx="9261565" cy="5208607"/>
          </a:xfrm>
        </p:spPr>
        <p:txBody>
          <a:bodyPr/>
          <a:lstStyle/>
          <a:p>
            <a:r>
              <a:rPr lang="ru-RU" dirty="0"/>
              <a:t>История Венского кружка началась в Венском университете в Австрии. В 1895-м году </a:t>
            </a:r>
            <a:r>
              <a:rPr lang="ru-RU" dirty="0" smtClean="0"/>
              <a:t>была </a:t>
            </a:r>
            <a:r>
              <a:rPr lang="ru-RU" dirty="0"/>
              <a:t>создана кафедра философии индуктивных наук, которой до 1901 года заведовал </a:t>
            </a:r>
            <a:r>
              <a:rPr lang="ru-RU" b="1" dirty="0"/>
              <a:t>Эрнст Мах</a:t>
            </a:r>
            <a:r>
              <a:rPr lang="ru-RU" dirty="0"/>
              <a:t>, благодаря этому в Вене складывалась эмпирическая философская традиция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 1907 году в венском кафе Централь стали собираться студенты и преподаватели Венского университета, в основном это были студенты </a:t>
            </a:r>
            <a:r>
              <a:rPr lang="ru-RU" dirty="0" err="1"/>
              <a:t>Ханса</a:t>
            </a:r>
            <a:r>
              <a:rPr lang="ru-RU" dirty="0"/>
              <a:t> Хана и молодые преподаватели физики и </a:t>
            </a:r>
            <a:r>
              <a:rPr lang="ru-RU" dirty="0" smtClean="0"/>
              <a:t>математики. </a:t>
            </a:r>
            <a:r>
              <a:rPr lang="ru-RU" dirty="0"/>
              <a:t>Эти собрания считаются первым Венским кружком или </a:t>
            </a:r>
            <a:r>
              <a:rPr lang="ru-RU" dirty="0" err="1"/>
              <a:t>прото</a:t>
            </a:r>
            <a:r>
              <a:rPr lang="ru-RU" dirty="0"/>
              <a:t>-кружком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974"/>
            <a:ext cx="2243634" cy="224363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3" y="3951514"/>
            <a:ext cx="2373086" cy="177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2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0" y="143692"/>
            <a:ext cx="8739052" cy="650264"/>
          </a:xfrm>
        </p:spPr>
        <p:txBody>
          <a:bodyPr>
            <a:normAutofit fontScale="90000"/>
          </a:bodyPr>
          <a:lstStyle/>
          <a:p>
            <a:r>
              <a:rPr lang="ru-RU" dirty="0"/>
              <a:t>Идея «Венского кружка»  была инициирована </a:t>
            </a:r>
            <a:r>
              <a:rPr lang="ru-RU" dirty="0" smtClean="0"/>
              <a:t>  «</a:t>
            </a:r>
            <a:r>
              <a:rPr lang="ru-RU" dirty="0" err="1"/>
              <a:t>Principia</a:t>
            </a:r>
            <a:r>
              <a:rPr lang="ru-RU" dirty="0"/>
              <a:t> </a:t>
            </a:r>
            <a:r>
              <a:rPr lang="ru-RU" dirty="0" err="1" smtClean="0"/>
              <a:t>Mathematica</a:t>
            </a:r>
            <a:r>
              <a:rPr lang="ru-RU" dirty="0" smtClean="0"/>
              <a:t>» Рассела  </a:t>
            </a:r>
            <a:r>
              <a:rPr lang="ru-RU" dirty="0"/>
              <a:t>и Уайтхеда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203" y="793954"/>
            <a:ext cx="3314700" cy="52006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65760" y="6026836"/>
            <a:ext cx="45066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Объём </a:t>
            </a:r>
            <a:r>
              <a:rPr lang="ru-RU" sz="2000" dirty="0" smtClean="0"/>
              <a:t>около </a:t>
            </a:r>
            <a:r>
              <a:rPr lang="ru-RU" sz="2000" dirty="0"/>
              <a:t>2000 страниц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637315" y="793954"/>
            <a:ext cx="743276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Вся </a:t>
            </a:r>
            <a:r>
              <a:rPr lang="ru-RU" sz="2000" dirty="0"/>
              <a:t>математика сводится к логике с помощью набора аксиом и нескольких основных </a:t>
            </a:r>
            <a:r>
              <a:rPr lang="ru-RU" sz="2000" dirty="0" smtClean="0"/>
              <a:t>понятий</a:t>
            </a:r>
          </a:p>
          <a:p>
            <a:endParaRPr lang="ru-RU" sz="2000" dirty="0" smtClean="0"/>
          </a:p>
          <a:p>
            <a:pPr algn="ctr"/>
            <a:endParaRPr lang="ru-RU" sz="2000" dirty="0" smtClean="0"/>
          </a:p>
          <a:p>
            <a:pPr algn="ctr"/>
            <a:r>
              <a:rPr lang="ru-RU" sz="2400" b="1" dirty="0" smtClean="0"/>
              <a:t>Логицизм</a:t>
            </a:r>
          </a:p>
          <a:p>
            <a:pPr algn="ctr"/>
            <a:endParaRPr lang="ru-RU" sz="2000" dirty="0" smtClean="0"/>
          </a:p>
          <a:p>
            <a:r>
              <a:rPr lang="ru-RU" sz="2000" dirty="0" smtClean="0"/>
              <a:t> Была введена теория типов, в рамках которой было невозможно сформулировать понятие «множество всех множеств», которое приводило к парадоксу Рассела:</a:t>
            </a:r>
          </a:p>
          <a:p>
            <a:r>
              <a:rPr lang="ru-RU" sz="1400" dirty="0"/>
              <a:t>Пусть K — множество всех множеств, которые не содержат себя в качестве своего элемента. Содержит ли K само себя в качестве элемента? Если да, то, по определению K, оно не должно быть элементом K — противоречие. Если нет — то, по определению K, оно должно быть элементом K — вновь противоречие.</a:t>
            </a:r>
            <a:endParaRPr lang="ru-RU" sz="1400" dirty="0" smtClean="0"/>
          </a:p>
          <a:p>
            <a:r>
              <a:rPr lang="ru-RU" sz="2000" dirty="0" smtClean="0"/>
              <a:t>Были </a:t>
            </a:r>
            <a:r>
              <a:rPr lang="ru-RU" sz="2000" dirty="0"/>
              <a:t>введены две аксиомы: </a:t>
            </a:r>
            <a:r>
              <a:rPr lang="ru-RU" sz="2000" i="1" dirty="0"/>
              <a:t>аксиома бесконечности </a:t>
            </a:r>
            <a:r>
              <a:rPr lang="ru-RU" sz="2000" dirty="0"/>
              <a:t>(существует бесконечное число объектов) и </a:t>
            </a:r>
            <a:r>
              <a:rPr lang="ru-RU" sz="2000" i="1" dirty="0"/>
              <a:t>аксиома сводимости</a:t>
            </a:r>
            <a:r>
              <a:rPr lang="ru-RU" sz="2000" dirty="0"/>
              <a:t> (для каждого множества существует равнообъёмное ему множество первого порядка)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7720149" y="1685108"/>
            <a:ext cx="587828" cy="313510"/>
          </a:xfrm>
          <a:prstGeom prst="downArrow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80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Principia</a:t>
            </a:r>
            <a:r>
              <a:rPr lang="ru-RU" dirty="0"/>
              <a:t> </a:t>
            </a:r>
            <a:r>
              <a:rPr lang="ru-RU" dirty="0" err="1"/>
              <a:t>Mathematica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2696" y="577943"/>
            <a:ext cx="11652069" cy="5498767"/>
          </a:xfrm>
        </p:spPr>
        <p:txBody>
          <a:bodyPr/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1800" dirty="0" smtClean="0"/>
              <a:t>Идея</a:t>
            </a:r>
            <a:r>
              <a:rPr lang="ru-RU" sz="1800" dirty="0"/>
              <a:t> </a:t>
            </a:r>
            <a:r>
              <a:rPr lang="ru-RU" sz="1800" dirty="0" smtClean="0"/>
              <a:t>о </a:t>
            </a:r>
            <a:r>
              <a:rPr lang="ru-RU" sz="1800" dirty="0"/>
              <a:t>сводимости математики к логике (логицизм) была неявно высказана ещё </a:t>
            </a:r>
            <a:r>
              <a:rPr lang="ru-RU" sz="1800" dirty="0" smtClean="0"/>
              <a:t>Лейбницем</a:t>
            </a:r>
            <a:r>
              <a:rPr lang="ru-RU" sz="1800" dirty="0"/>
              <a:t> в XVII веке, позже в явном виде её </a:t>
            </a:r>
            <a:r>
              <a:rPr lang="ru-RU" sz="1800" dirty="0" smtClean="0"/>
              <a:t>высказал Фреге, </a:t>
            </a:r>
            <a:r>
              <a:rPr lang="ru-RU" sz="1800" dirty="0"/>
              <a:t>который разработал логико-математический аппарат, необходимый для технического обоснования логицизма</a:t>
            </a:r>
            <a:endParaRPr lang="ru-RU" sz="1800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 состоит из 3 томов, которые разделены на 6 частей.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I том  (1910 г.)содержал базовые аксиомы и правила вывода аксиом более высокого порядка, элементарные операции  над множествами и бинарные отношения, определение единицы и двойки как чисел. В I томе рассматривались </a:t>
            </a:r>
            <a:r>
              <a:rPr lang="ru-RU" sz="2000" i="1" dirty="0"/>
              <a:t>теорема </a:t>
            </a:r>
            <a:r>
              <a:rPr lang="ru-RU" sz="2000" i="1" dirty="0" smtClean="0"/>
              <a:t>Цермело: </a:t>
            </a:r>
            <a:r>
              <a:rPr lang="ru-RU" sz="1400" i="1" dirty="0" smtClean="0"/>
              <a:t>на </a:t>
            </a:r>
            <a:r>
              <a:rPr lang="ru-RU" sz="1400" i="1" dirty="0"/>
              <a:t>всяком множестве можно ввести такое отношение порядка, что множество будет вполне </a:t>
            </a:r>
            <a:r>
              <a:rPr lang="ru-RU" sz="1400" i="1" dirty="0" smtClean="0"/>
              <a:t>упорядоченным</a:t>
            </a:r>
            <a:r>
              <a:rPr lang="ru-RU" sz="2000" i="1" dirty="0" smtClean="0"/>
              <a:t>,</a:t>
            </a:r>
            <a:r>
              <a:rPr lang="ru-RU" sz="2000" i="1" dirty="0"/>
              <a:t> аксиома выбора и теорема Кантора — </a:t>
            </a:r>
            <a:r>
              <a:rPr lang="ru-RU" sz="2000" i="1" dirty="0" smtClean="0"/>
              <a:t>Бернштейна: </a:t>
            </a:r>
            <a:r>
              <a:rPr lang="ru-RU" sz="1400" i="1" dirty="0" smtClean="0"/>
              <a:t>если </a:t>
            </a:r>
            <a:r>
              <a:rPr lang="ru-RU" sz="1400" i="1" dirty="0"/>
              <a:t>множество A равномощно некоторому подмножеству множества B, а множество B равномощно некоторому подмножеству множества A, то множества A и B равномощны</a:t>
            </a:r>
            <a:r>
              <a:rPr lang="ru-RU" sz="1400" i="1" dirty="0" smtClean="0"/>
              <a:t>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000" i="1" dirty="0" smtClean="0"/>
              <a:t> </a:t>
            </a:r>
            <a:r>
              <a:rPr lang="ru-RU" sz="2000" dirty="0" smtClean="0"/>
              <a:t>II </a:t>
            </a:r>
            <a:r>
              <a:rPr lang="ru-RU" sz="2000" dirty="0"/>
              <a:t>том (1912 г.) . В нём  рассматривались кардинальные числа и арифметические операции над ними, конечные числа, арифметика бинарных отношений, линейно упорядоченные множества, упорядоченные </a:t>
            </a:r>
            <a:r>
              <a:rPr lang="ru-RU" sz="2000" i="1" dirty="0"/>
              <a:t>множества Дедекинда: </a:t>
            </a:r>
            <a:r>
              <a:rPr lang="ru-RU" sz="1400" i="1" dirty="0"/>
              <a:t>область рациональных чисел не обладает той полнотой, или же непрерывностью, которая присуща прямой </a:t>
            </a:r>
            <a:r>
              <a:rPr lang="ru-RU" sz="1400" i="1" dirty="0" smtClean="0"/>
              <a:t>линии</a:t>
            </a:r>
            <a:r>
              <a:rPr lang="ru-RU" sz="2000" i="1" dirty="0" smtClean="0"/>
              <a:t>,</a:t>
            </a:r>
            <a:r>
              <a:rPr lang="ru-RU" sz="2000" i="1" dirty="0"/>
              <a:t> предельные точки и непрерывные функции</a:t>
            </a:r>
            <a:r>
              <a:rPr lang="ru-RU" sz="2000" dirty="0"/>
              <a:t>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III том (1913 г.) В нём рассматривались вполне </a:t>
            </a:r>
            <a:r>
              <a:rPr lang="ru-RU" sz="2000" i="1" dirty="0"/>
              <a:t>упорядоченные множества, полностью упорядоченные множества, множества целых, рациональных, вещественных чисел и их измерение</a:t>
            </a:r>
            <a:r>
              <a:rPr lang="ru-RU" sz="2000" dirty="0"/>
              <a:t>. Также был затронут вопрос </a:t>
            </a:r>
            <a:r>
              <a:rPr lang="ru-RU" sz="2000" i="1" dirty="0"/>
              <a:t>эквивалентности аксиомы выбора и принципа вполне упорядочения.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IV том планировался к выходу, но так и не был написан. Он должен был быть посвящён </a:t>
            </a:r>
            <a:r>
              <a:rPr lang="ru-RU" sz="2000" i="1" dirty="0"/>
              <a:t>геометрии</a:t>
            </a:r>
          </a:p>
        </p:txBody>
      </p:sp>
    </p:spTree>
    <p:extLst>
      <p:ext uri="{BB962C8B-B14F-4D97-AF65-F5344CB8AC3E}">
        <p14:creationId xmlns:p14="http://schemas.microsoft.com/office/powerpoint/2010/main" val="172957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403567" y="0"/>
            <a:ext cx="918655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Математическая логика послужила материалом строительства здания новой единой науки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(своего рода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Нового Органона Наук (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др.-греч. </a:t>
            </a:r>
            <a:r>
              <a:rPr kumimoji="0" lang="ru-RU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Ὄργ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ανον — инструмент, метод).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4" y="1430621"/>
            <a:ext cx="3355745" cy="43110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28754" y="1863635"/>
            <a:ext cx="6688183" cy="3873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Задача философии</a:t>
            </a:r>
            <a:r>
              <a:rPr kumimoji="0" lang="ru-RU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не в том, чтобы открывать факты или строить обобщения о фактах, а в </a:t>
            </a:r>
            <a: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том, чтобы подвергнуть логическому анализу высказывания науки; тем самым обеспечивая прояснение знания.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  <a:b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ru-RU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Повседневный язык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не годится для науки и философии, так как в нем много неясностей и двусмысленностей. Поэтому нужно обратиться к </a:t>
            </a: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искусственному языку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который следует организовать на основе логики. </a:t>
            </a:r>
            <a:b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27017" y="5737320"/>
            <a:ext cx="3905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Бертран Артур Уильям Рассел</a:t>
            </a:r>
          </a:p>
          <a:p>
            <a:r>
              <a:rPr lang="ru-RU" dirty="0" smtClean="0"/>
              <a:t>(1872 </a:t>
            </a:r>
            <a:r>
              <a:rPr lang="ru-RU" dirty="0"/>
              <a:t>— 1970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84194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007" y="577943"/>
            <a:ext cx="3714750" cy="49720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7384" y="5839098"/>
            <a:ext cx="885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Альфред </a:t>
            </a:r>
            <a:r>
              <a:rPr lang="ru-RU" dirty="0" err="1"/>
              <a:t>Норт</a:t>
            </a:r>
            <a:r>
              <a:rPr lang="ru-RU" dirty="0"/>
              <a:t> </a:t>
            </a:r>
            <a:r>
              <a:rPr lang="ru-RU" dirty="0" smtClean="0"/>
              <a:t>Уайтхед (1861- 1947)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76948" y="718457"/>
            <a:ext cx="677962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/>
              <a:t>Эдинбургские</a:t>
            </a:r>
            <a:r>
              <a:rPr lang="ru-RU" sz="2000" b="1" dirty="0" smtClean="0"/>
              <a:t> </a:t>
            </a:r>
            <a:r>
              <a:rPr lang="ru-RU" sz="2000" b="1" dirty="0"/>
              <a:t>лекции </a:t>
            </a:r>
            <a:r>
              <a:rPr lang="ru-RU" sz="2000" b="1" dirty="0" smtClean="0"/>
              <a:t>1929 года </a:t>
            </a:r>
            <a:r>
              <a:rPr lang="ru-RU" sz="2000" b="1" dirty="0"/>
              <a:t>под названием «Процесс и реальность</a:t>
            </a:r>
            <a:r>
              <a:rPr lang="ru-RU" sz="2000" b="1" dirty="0" smtClean="0"/>
              <a:t>».  </a:t>
            </a:r>
            <a:r>
              <a:rPr lang="ru-RU" sz="2000" dirty="0"/>
              <a:t>Став свидетелем крушения казавшейся непреложной </a:t>
            </a:r>
            <a:r>
              <a:rPr lang="ru-RU" sz="2000" dirty="0" err="1"/>
              <a:t>ньютоновской</a:t>
            </a:r>
            <a:r>
              <a:rPr lang="ru-RU" sz="2000" dirty="0"/>
              <a:t> системы мироздания, Уайтхед отказывался принимать догматизм в философии, науке либо теологии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  <a:p>
            <a:r>
              <a:rPr lang="ru-RU" sz="2000" dirty="0"/>
              <a:t>Уайтхед сделал вывод, что ломка физических понятий в физике требует существенной ревизии философского языка и введения новых </a:t>
            </a:r>
            <a:r>
              <a:rPr lang="ru-RU" sz="2000" dirty="0" smtClean="0"/>
              <a:t>понятий</a:t>
            </a:r>
          </a:p>
          <a:p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/>
              <a:t>Свои религиозные взгляды он выразил в сжатой форме в работе </a:t>
            </a:r>
            <a:r>
              <a:rPr lang="ru-RU" sz="2000" b="1" dirty="0"/>
              <a:t>«Религия в созидании» (1926), </a:t>
            </a:r>
            <a:r>
              <a:rPr lang="ru-RU" sz="2000" dirty="0"/>
              <a:t>выступив с оправданием религии как отношения индивида не к иным индивидам и их группам, а к вселенной в целом. Тем самым религия, по Уайтхеду, представляет собой самый глубокий срез человеческого одиночества.</a:t>
            </a:r>
          </a:p>
        </p:txBody>
      </p:sp>
    </p:spTree>
    <p:extLst>
      <p:ext uri="{BB962C8B-B14F-4D97-AF65-F5344CB8AC3E}">
        <p14:creationId xmlns:p14="http://schemas.microsoft.com/office/powerpoint/2010/main" val="19836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B03B79A-4B6F-4464-B33C-7FBEF00C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874" y="718458"/>
            <a:ext cx="6303101" cy="5461682"/>
          </a:xfrm>
        </p:spPr>
        <p:txBody>
          <a:bodyPr rtlCol="0">
            <a:normAutofit fontScale="70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dirty="0"/>
              <a:t>В книге </a:t>
            </a:r>
            <a:r>
              <a:rPr lang="ru-RU" b="1" dirty="0"/>
              <a:t>«Всеобщая теория познания» (1918) </a:t>
            </a:r>
            <a:r>
              <a:rPr lang="ru-RU" dirty="0"/>
              <a:t>сформулировал идеи, которые позднее логические позитивисты положили в основание своей </a:t>
            </a:r>
            <a:r>
              <a:rPr lang="ru-RU" dirty="0" smtClean="0"/>
              <a:t>доктрины: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i="1" dirty="0" smtClean="0"/>
              <a:t>об </a:t>
            </a:r>
            <a:r>
              <a:rPr lang="ru-RU" i="1" dirty="0"/>
              <a:t>аналитической природе логики и математики </a:t>
            </a:r>
            <a:endParaRPr lang="ru-RU" i="1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i="1" dirty="0" smtClean="0"/>
              <a:t>и </a:t>
            </a:r>
            <a:r>
              <a:rPr lang="ru-RU" i="1" dirty="0"/>
              <a:t>принцип </a:t>
            </a:r>
            <a:r>
              <a:rPr lang="ru-RU" i="1" dirty="0" err="1" smtClean="0"/>
              <a:t>верифицируемости</a:t>
            </a:r>
            <a:endParaRPr lang="ru-RU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dirty="0" smtClean="0"/>
              <a:t>Выдвинул </a:t>
            </a:r>
            <a:r>
              <a:rPr lang="ru-RU" dirty="0"/>
              <a:t>теорию о «невыразимости содержания», согласно которой «непосредственный опыт», являющийся содержанием наших знаний, не может быть сообщен другому лицу. </a:t>
            </a:r>
            <a:endParaRPr lang="ru-RU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ru-RU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3000" dirty="0" smtClean="0"/>
              <a:t>Основные </a:t>
            </a:r>
            <a:r>
              <a:rPr lang="ru-RU" sz="3000" dirty="0"/>
              <a:t>работы: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dirty="0"/>
              <a:t>«Пространство и время в современной физике» (</a:t>
            </a:r>
            <a:r>
              <a:rPr lang="en-US" dirty="0"/>
              <a:t>1917)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«</a:t>
            </a:r>
            <a:r>
              <a:rPr lang="ru-RU" dirty="0"/>
              <a:t>Всеобщая теория познания» (</a:t>
            </a:r>
            <a:r>
              <a:rPr lang="en-US" dirty="0"/>
              <a:t>1918)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«</a:t>
            </a:r>
            <a:r>
              <a:rPr lang="ru-RU" dirty="0"/>
              <a:t>Вопросы этики» (</a:t>
            </a:r>
            <a:r>
              <a:rPr lang="en-US" dirty="0"/>
              <a:t>1930)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«</a:t>
            </a:r>
            <a:r>
              <a:rPr lang="ru-RU" dirty="0"/>
              <a:t>Позитивизм и реализм» (</a:t>
            </a:r>
            <a:r>
              <a:rPr lang="en-US" dirty="0"/>
              <a:t>1932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dirty="0"/>
              <a:t> </a:t>
            </a:r>
            <a:r>
              <a:rPr lang="ru-RU" dirty="0" smtClean="0"/>
              <a:t>Освобождения </a:t>
            </a:r>
            <a:r>
              <a:rPr lang="ru-RU" dirty="0"/>
              <a:t>научного метода от химер и мистификаций обыденного </a:t>
            </a:r>
            <a:r>
              <a:rPr lang="ru-RU" dirty="0" smtClean="0"/>
              <a:t>сознания</a:t>
            </a:r>
            <a:endParaRPr lang="en-US" b="1" dirty="0"/>
          </a:p>
          <a:p>
            <a:pPr algn="ctr" eaLnBrk="1" fontAlgn="auto" hangingPunct="1">
              <a:spcAft>
                <a:spcPts val="0"/>
              </a:spcAft>
              <a:defRPr/>
            </a:pPr>
            <a:endParaRPr lang="ru-RU"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84" y="1001351"/>
            <a:ext cx="3732212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02784" y="5962288"/>
            <a:ext cx="4239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Мориц</a:t>
            </a:r>
            <a:r>
              <a:rPr lang="ru-RU" dirty="0"/>
              <a:t> </a:t>
            </a:r>
            <a:r>
              <a:rPr lang="ru-RU" dirty="0" err="1"/>
              <a:t>Шлик</a:t>
            </a:r>
            <a:r>
              <a:rPr lang="ru-RU" dirty="0"/>
              <a:t> (1882 – 1936)</a:t>
            </a:r>
          </a:p>
        </p:txBody>
      </p:sp>
    </p:spTree>
    <p:extLst>
      <p:ext uri="{BB962C8B-B14F-4D97-AF65-F5344CB8AC3E}">
        <p14:creationId xmlns:p14="http://schemas.microsoft.com/office/powerpoint/2010/main" val="21602225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86" y="886120"/>
            <a:ext cx="29813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D6FC6C4-1F54-4419-9391-E37B14DC19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48411" y="5344998"/>
            <a:ext cx="3057200" cy="12443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algn="ctr" eaLnBrk="1" hangingPunct="1">
              <a:defRPr/>
            </a:pPr>
            <a:r>
              <a:rPr lang="ru-RU" sz="1200" dirty="0">
                <a:latin typeface="PT Sans"/>
              </a:rPr>
              <a:t>Людвиг Йозеф Иоганн </a:t>
            </a:r>
            <a:r>
              <a:rPr lang="ru-RU" sz="1200" dirty="0" err="1">
                <a:latin typeface="PT Sans"/>
              </a:rPr>
              <a:t>Витгенштейн</a:t>
            </a:r>
            <a:r>
              <a:rPr lang="ru-RU" sz="1200" dirty="0">
                <a:latin typeface="PT Sans"/>
              </a:rPr>
              <a:t> </a:t>
            </a:r>
            <a:br>
              <a:rPr lang="ru-RU" sz="1200" dirty="0">
                <a:latin typeface="PT Sans"/>
              </a:rPr>
            </a:b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(1889 - 1951 ) 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7B438C1-44ED-4210-BCB8-4B3B1105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928" y="603315"/>
            <a:ext cx="7997072" cy="547363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Начав изучать инженерное дело, он познакомился с работами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Готлоба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Фреге, которые повернули его интерес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проблеме философских оснований математики.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совету Фреге, в 1911 году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Витгенштейн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отправился в 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Кембридж,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стал учеником 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Б.Рассела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 время боевых действий и пребывания в лагере для военнопленных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Витгенштейн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практически полностью написал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«Логико-философский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трактат» (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1921г.)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Мур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(родоначальник аналитической философии)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написал: «Я считаю, что это работа гения; но, даже если я полностью ошибаюсь, и это совсем не так, эта работа намного выше стандарта, необходимого для получения степени доктора философии»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679840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565608" y="-603448"/>
            <a:ext cx="9922880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 Sans"/>
                <a:ea typeface="+mn-ea"/>
                <a:cs typeface="+mn-cs"/>
              </a:rPr>
              <a:t>Мир определяется фактами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altLang="ru-RU" sz="3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T Sans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Л. </a:t>
            </a:r>
            <a:r>
              <a:rPr kumimoji="0" lang="ru-RU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Витгенштейн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ввёл несколько доктрин логического позитивизма в своей работе </a:t>
            </a:r>
            <a: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«</a:t>
            </a:r>
            <a:r>
              <a:rPr kumimoji="0" lang="ru-RU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Tractatus</a:t>
            </a: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ru-RU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logico-philosoficus</a:t>
            </a:r>
            <a:r>
              <a:rPr lang="ru-RU" sz="2000" b="1" dirty="0" smtClean="0">
                <a:solidFill>
                  <a:prstClr val="black"/>
                </a:solidFill>
              </a:rPr>
              <a:t>»</a:t>
            </a:r>
            <a:r>
              <a:rPr kumimoji="0" 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 </a:t>
            </a: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язык есть граница мышления (то есть они совпадают).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есть только один мир, мир фактов и событий. Они описываются различными естественными науками.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предложение — картина мира, так как имеет с миром одну и ту же логическую форму. «Если бы мир был нелогичным, его нельзя было бы представить в форме предложения»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предложения состоят из элементарных, которые непосредственно соотносятся с фактами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высшее невыразимо (то есть этику, эстетику, религию нельзя познавать фактами)</a:t>
            </a:r>
          </a:p>
        </p:txBody>
      </p:sp>
      <p:sp>
        <p:nvSpPr>
          <p:cNvPr id="49155" name="Заголовок 5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268103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2771" name="Объект 2">
            <a:extLst>
              <a:ext uri="{FF2B5EF4-FFF2-40B4-BE49-F238E27FC236}">
                <a16:creationId xmlns:a16="http://schemas.microsoft.com/office/drawing/2014/main" id="{638B0776-17F0-43E9-8FFD-C7940940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36" y="868364"/>
            <a:ext cx="10028615" cy="5208587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Философские предложения не могут быть научными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Их нельзя проверить на истинность и ложность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Философия – это не особое учение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Философия -  деятельность по прояснению языка. </a:t>
            </a:r>
          </a:p>
        </p:txBody>
      </p:sp>
      <p:sp>
        <p:nvSpPr>
          <p:cNvPr id="50180" name="Прямоугольник 3"/>
          <p:cNvSpPr>
            <a:spLocks noChangeArrowheads="1"/>
          </p:cNvSpPr>
          <p:nvPr/>
        </p:nvSpPr>
        <p:spPr bwMode="auto">
          <a:xfrm flipV="1">
            <a:off x="4943476" y="2151064"/>
            <a:ext cx="52736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ru-RU" alt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5580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9E7D7-5FC2-44FB-A9C1-5E8CB9E4D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b="1" dirty="0"/>
              <a:t>Принцип верификации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(от лат. </a:t>
            </a:r>
            <a:r>
              <a:rPr lang="ru-RU" sz="3200" dirty="0" err="1"/>
              <a:t>verus</a:t>
            </a:r>
            <a:r>
              <a:rPr lang="ru-RU" sz="3200" dirty="0"/>
              <a:t> – истинный и  </a:t>
            </a:r>
            <a:r>
              <a:rPr lang="ru-RU" sz="3200" dirty="0" err="1"/>
              <a:t>facere</a:t>
            </a:r>
            <a:r>
              <a:rPr lang="ru-RU" sz="3200" dirty="0"/>
              <a:t> – делать)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Был сформулирован М. </a:t>
            </a:r>
            <a:r>
              <a:rPr lang="ru-RU" sz="3200" dirty="0" err="1"/>
              <a:t>Шликом</a:t>
            </a:r>
            <a:r>
              <a:rPr lang="ru-RU" sz="3200" dirty="0"/>
              <a:t> во "Всеобщей теории познания"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 err="1"/>
              <a:t>Витгенштейном</a:t>
            </a:r>
            <a:r>
              <a:rPr lang="ru-RU" sz="3200" dirty="0"/>
              <a:t> в "Логико-философском трактате".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Призван осуществить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 «</a:t>
            </a:r>
            <a:r>
              <a:rPr lang="ru-RU" sz="3200" b="1" dirty="0"/>
              <a:t>демаркацию» (разграничение</a:t>
            </a:r>
            <a:r>
              <a:rPr lang="ru-RU" sz="3200" dirty="0"/>
              <a:t>) между имеющими смысл для науки и лишенными научного смысла утверждениями. </a:t>
            </a:r>
          </a:p>
        </p:txBody>
      </p:sp>
    </p:spTree>
    <p:extLst>
      <p:ext uri="{BB962C8B-B14F-4D97-AF65-F5344CB8AC3E}">
        <p14:creationId xmlns:p14="http://schemas.microsoft.com/office/powerpoint/2010/main" val="8402211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2F542B0-116C-40F0-BE22-37FE46018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226" y="868364"/>
            <a:ext cx="8904172" cy="5208587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верификации: </a:t>
            </a:r>
          </a:p>
          <a:p>
            <a:pPr marL="0" indent="0" algn="ctr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то предложение имеет смысл,</a:t>
            </a:r>
          </a:p>
          <a:p>
            <a:pPr marL="0" indent="0" algn="ctr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которое прямым или косвенным образом допускает сведение к 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протокольным предложениям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ctr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обозначающим непосредственный чувственный опыт индивида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 нужно разделить на протокольные.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протокольного предложения выглядит так: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 наблюдал такой-то и такой-то объект в такое-то время и в таком-то месте». </a:t>
            </a:r>
            <a:endParaRPr lang="ru-RU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сложных предложений к протокольным называется редукцией.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учёного сводится к проверке протокольных предложений и их обобщению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процедуры верификации все метафизические вопросы попадали в категорию бессмысленных и отбрасывались. Причина этого кроется в том, что философские вопросы не могут быть посредством логической цепочки рассуждений сведены к эмпирическим утверждениям, которые их могут подтвердить или опровергнуть.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532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BFA95E-AD39-4BBB-917B-A5A7D3F8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868364"/>
            <a:ext cx="10576874" cy="5208587"/>
          </a:xfrm>
        </p:spPr>
        <p:txBody>
          <a:bodyPr rtlCol="0">
            <a:normAutofit fontScale="70000" lnSpcReduction="20000"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Невозможно свести к чувственным данным конкретного опыта любое обобщение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«все люди смертны»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Нельзя непосредственно верифицировать фундаментальные принципы и законы науки,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утверждения логики и математики,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исторические события. </a:t>
            </a:r>
            <a:endParaRPr lang="ru-RU" sz="3200" dirty="0" smtClean="0"/>
          </a:p>
          <a:p>
            <a:r>
              <a:rPr lang="ru-RU" dirty="0"/>
              <a:t>Примерами неверифицируемых, то есть «бессмысленных» философских утверждений, по мнению участников Венского кружка, можно назвать следующие утверждения</a:t>
            </a:r>
          </a:p>
          <a:p>
            <a:pPr marL="1371600" lvl="3" indent="0">
              <a:buNone/>
            </a:pPr>
            <a:r>
              <a:rPr lang="ru-RU" sz="3200" dirty="0"/>
              <a:t>👇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Бог существует в вечности. (Августин)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Бог умер. (Ницше)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Бытие есть, небытия нет. (</a:t>
            </a:r>
            <a:r>
              <a:rPr lang="ru-RU" dirty="0" err="1"/>
              <a:t>Парменид</a:t>
            </a:r>
            <a:r>
              <a:rPr lang="ru-RU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Время </a:t>
            </a:r>
            <a:r>
              <a:rPr lang="ru-RU" dirty="0" err="1"/>
              <a:t>временится</a:t>
            </a:r>
            <a:r>
              <a:rPr lang="ru-RU" dirty="0"/>
              <a:t> как бывшее настоящим будущее. (Хайдеггер)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Все имеет конечную цель. (Аристотель)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Миром правит слепая космическая воля. (Шопенгауэр)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🔹 Человек — раб своего бессознательного. (Фрейд)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043046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6528CB1-AAF8-4A37-BBB6-C0963B64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65608"/>
            <a:ext cx="12192000" cy="5511343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Прямой </a:t>
            </a:r>
            <a:r>
              <a:rPr lang="ru-RU" sz="2000" dirty="0" err="1"/>
              <a:t>верификационизм</a:t>
            </a:r>
            <a:r>
              <a:rPr lang="ru-RU" sz="2000" dirty="0"/>
              <a:t> невозможен в тех случаях, когда мы имеем дело с событиями прошлого, с общими суждениями и т. д. </a:t>
            </a:r>
            <a:endParaRPr lang="ru-RU" sz="2000" dirty="0" smtClean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Тогда </a:t>
            </a:r>
            <a:r>
              <a:rPr lang="ru-RU" sz="2000" dirty="0"/>
              <a:t>этот критерий был ослаблен и появился критерий принципиальной верификации, или </a:t>
            </a:r>
            <a:r>
              <a:rPr lang="ru-RU" sz="2000" dirty="0" err="1"/>
              <a:t>верифицируемости</a:t>
            </a:r>
            <a:r>
              <a:rPr lang="ru-RU" sz="2000" dirty="0"/>
              <a:t>: оговаривались условия практической проверки того или иного факта. </a:t>
            </a:r>
            <a:endParaRPr lang="ru-RU" sz="2000" dirty="0" smtClean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Типичным </a:t>
            </a:r>
            <a:r>
              <a:rPr lang="ru-RU" sz="2000" dirty="0"/>
              <a:t>примером стало в те годы рассуждение об обратной стороне Луны, которое в принципе можно будет подтвердить, когда будет построен летательный аппарат, который облетит Луну. Уязвимым было и само понятие протокольных предложений</a:t>
            </a:r>
            <a:r>
              <a:rPr lang="ru-RU" sz="2000" dirty="0" smtClean="0"/>
              <a:t>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Актуальная </a:t>
            </a:r>
            <a:r>
              <a:rPr lang="ru-RU" sz="2000" dirty="0"/>
              <a:t>верификация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endParaRPr lang="ru-RU" sz="20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err="1" smtClean="0"/>
              <a:t>Верифицируемость</a:t>
            </a:r>
            <a:endParaRPr lang="ru-RU" sz="20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 принципиальная возможность проверки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т.е</a:t>
            </a:r>
            <a:r>
              <a:rPr lang="ru-RU" sz="2000" dirty="0"/>
              <a:t>. возможность хотя бы частичного эмпирического </a:t>
            </a:r>
            <a:r>
              <a:rPr lang="ru-RU" sz="2000" dirty="0" smtClean="0"/>
              <a:t>подтверждения</a:t>
            </a:r>
            <a:r>
              <a:rPr lang="ru-RU" sz="2000" dirty="0"/>
              <a:t> </a:t>
            </a:r>
            <a:r>
              <a:rPr lang="ru-RU" sz="2000" dirty="0" smtClean="0"/>
              <a:t>предложений.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/>
              <a:t>Неопределенность </a:t>
            </a:r>
            <a:r>
              <a:rPr lang="ru-RU" sz="2000" dirty="0"/>
              <a:t>понятия «частичная </a:t>
            </a:r>
            <a:r>
              <a:rPr lang="ru-RU" sz="2000" dirty="0" err="1"/>
              <a:t>подтверждаемость</a:t>
            </a:r>
            <a:r>
              <a:rPr lang="ru-RU" sz="2000" dirty="0"/>
              <a:t>»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Возможность найти частичное подтверждение даже для таких утверждений,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2000" dirty="0"/>
              <a:t>которые считались бессмысленными</a:t>
            </a:r>
            <a:endParaRPr lang="ru-RU" sz="2000" dirty="0"/>
          </a:p>
          <a:p>
            <a:pPr algn="ctr" eaLnBrk="1" fontAlgn="auto" hangingPunct="1">
              <a:spcAft>
                <a:spcPts val="0"/>
              </a:spcAft>
              <a:defRPr/>
            </a:pPr>
            <a:endParaRPr lang="ru-RU" sz="2000" dirty="0"/>
          </a:p>
        </p:txBody>
      </p:sp>
      <p:sp>
        <p:nvSpPr>
          <p:cNvPr id="4" name="Стрелка вниз 3">
            <a:extLst>
              <a:ext uri="{FF2B5EF4-FFF2-40B4-BE49-F238E27FC236}">
                <a16:creationId xmlns:a16="http://schemas.microsoft.com/office/drawing/2014/main" id="{C64C4A17-143E-4D72-B69A-4D97F4CA0D5B}"/>
              </a:ext>
            </a:extLst>
          </p:cNvPr>
          <p:cNvSpPr/>
          <p:nvPr/>
        </p:nvSpPr>
        <p:spPr>
          <a:xfrm>
            <a:off x="5722072" y="3217585"/>
            <a:ext cx="373929" cy="5467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977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772997" y="725863"/>
            <a:ext cx="9644179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</a:t>
            </a:r>
            <a:r>
              <a:rPr lang="ru-RU" alt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конвенционализма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встречается уже в античности (</a:t>
            </a:r>
            <a:r>
              <a:rPr lang="ru-RU" alt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астрономии — «спасти явления, представляемые планетами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 и в эпоху Возрождения (</a:t>
            </a:r>
            <a:r>
              <a:rPr lang="ru-RU" altLang="ru-RU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инструменталистская интерпретация теории Коперника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altLang="ru-RU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altLang="ru-RU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Конвенционализм в 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явной форме </a:t>
            </a:r>
            <a:r>
              <a:rPr lang="ru-RU" alt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встречается у 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Анри </a:t>
            </a:r>
            <a:r>
              <a:rPr lang="ru-RU" alt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Пуанкаре: основные 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положения любой научной теории не являются ни синтетическими истинами a </a:t>
            </a:r>
            <a:r>
              <a:rPr lang="ru-RU" alt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ни отражением реальности a </a:t>
            </a:r>
            <a:r>
              <a:rPr lang="ru-RU" alt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posteriori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Они суть соглашения, единственным абсолютным условием которых является непротиворечивость. Выбор тех или иных положений из множества возможных диктуется практическими соображениями: потребностью в максимальной простоте теорий и необходимостью успешного их использования. При появлении более эффективных конвенций старые отвергаются.</a:t>
            </a: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altLang="ru-RU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Конвенционализм </a:t>
            </a:r>
            <a:r>
              <a:rPr kumimoji="0" lang="ru-RU" alt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Р.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Карнап,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К. </a:t>
            </a:r>
            <a:r>
              <a:rPr kumimoji="0" lang="ru-RU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Айдукевич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 К. </a:t>
            </a:r>
            <a:r>
              <a:rPr kumimoji="0" lang="ru-RU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Гемпель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постулировал существование в составе науки произвольных соглашений (конвенций).</a:t>
            </a:r>
            <a:endParaRPr kumimoji="0" lang="ru-RU" altLang="ru-RU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Согласие исследователей основывалось на выборе фундаментальных идей и принципов</a:t>
            </a:r>
            <a:r>
              <a:rPr kumimoji="0" lang="ru-RU" alt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7528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9765" y="718600"/>
            <a:ext cx="3038726" cy="3560373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204354" y="622169"/>
            <a:ext cx="7616857" cy="5554795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Логические позитивисты распространили идеи </a:t>
            </a:r>
            <a:r>
              <a:rPr lang="ru-RU" sz="2400" b="1" dirty="0"/>
              <a:t>конвенционализма и на логику. </a:t>
            </a:r>
            <a:endParaRPr lang="ru-RU" sz="2400" b="1" dirty="0" smtClean="0"/>
          </a:p>
          <a:p>
            <a:pPr marL="0" indent="0">
              <a:buNone/>
            </a:pPr>
            <a:r>
              <a:rPr lang="ru-RU" sz="2400" dirty="0" smtClean="0"/>
              <a:t>Карнап </a:t>
            </a:r>
            <a:r>
              <a:rPr lang="ru-RU" sz="2400" dirty="0"/>
              <a:t>сформулировал </a:t>
            </a:r>
            <a:r>
              <a:rPr lang="ru-RU" sz="2400" b="1" dirty="0"/>
              <a:t>«принцип терпимости», </a:t>
            </a:r>
            <a:r>
              <a:rPr lang="ru-RU" sz="2400" dirty="0"/>
              <a:t>согласно которому выбор логических средств любой естественнонаучной теории не детерминирован; обязательно лишь явное указание синтаксических </a:t>
            </a:r>
            <a:r>
              <a:rPr lang="ru-RU" sz="2400" b="1" dirty="0"/>
              <a:t>правил построения той или иной логической системы</a:t>
            </a:r>
            <a:r>
              <a:rPr lang="ru-RU" sz="2400" dirty="0"/>
              <a:t>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Эта </a:t>
            </a:r>
            <a:r>
              <a:rPr lang="ru-RU" sz="2400" dirty="0"/>
              <a:t>идея была подвергнута уточнениям и ограничениям: выбор логики не может быть абсолютно произвольным, предпочтение должно оказываться тем логическим системам, которые наиболее эффективны в той или иной области научных рассуждений. 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25863" y="4562573"/>
            <a:ext cx="25169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Рудольф Карнап (1891- 1970) </a:t>
            </a:r>
          </a:p>
        </p:txBody>
      </p:sp>
    </p:spTree>
    <p:extLst>
      <p:ext uri="{BB962C8B-B14F-4D97-AF65-F5344CB8AC3E}">
        <p14:creationId xmlns:p14="http://schemas.microsoft.com/office/powerpoint/2010/main" val="10308264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754145" y="577944"/>
            <a:ext cx="9806352" cy="5498766"/>
          </a:xfrm>
        </p:spPr>
        <p:txBody>
          <a:bodyPr/>
          <a:lstStyle/>
          <a:p>
            <a:r>
              <a:rPr lang="ru-RU" sz="2600" dirty="0"/>
              <a:t>Карнап и </a:t>
            </a:r>
            <a:r>
              <a:rPr lang="ru-RU" sz="2600" dirty="0" err="1"/>
              <a:t>Гемпель</a:t>
            </a:r>
            <a:r>
              <a:rPr lang="ru-RU" sz="2600" dirty="0"/>
              <a:t> указывали, что надо избирать системы, к которым склоняются «ученые нашего культурного круга». </a:t>
            </a:r>
          </a:p>
          <a:p>
            <a:r>
              <a:rPr lang="ru-RU" sz="2600" dirty="0" err="1" smtClean="0"/>
              <a:t>Нейрат</a:t>
            </a:r>
            <a:r>
              <a:rPr lang="ru-RU" sz="2600" dirty="0" smtClean="0"/>
              <a:t> </a:t>
            </a:r>
            <a:r>
              <a:rPr lang="ru-RU" sz="2600" dirty="0"/>
              <a:t>ссылался на «психологию» ученых данной культурной группы. </a:t>
            </a:r>
          </a:p>
          <a:p>
            <a:r>
              <a:rPr lang="ru-RU" sz="2600" dirty="0" err="1"/>
              <a:t>Эйно</a:t>
            </a:r>
            <a:r>
              <a:rPr lang="ru-RU" sz="2600" dirty="0"/>
              <a:t> Кайла ссылался на «человеческую природу»</a:t>
            </a:r>
          </a:p>
          <a:p>
            <a:r>
              <a:rPr lang="ru-RU" sz="2600" dirty="0"/>
              <a:t> Георг </a:t>
            </a:r>
            <a:r>
              <a:rPr lang="ru-RU" sz="2600" dirty="0" err="1"/>
              <a:t>Вригт</a:t>
            </a:r>
            <a:r>
              <a:rPr lang="ru-RU" sz="2600" dirty="0"/>
              <a:t> - на привычки повседневной жизни и науки</a:t>
            </a:r>
          </a:p>
          <a:p>
            <a:r>
              <a:rPr lang="ru-RU" sz="2600" dirty="0"/>
              <a:t> Ричард </a:t>
            </a:r>
            <a:r>
              <a:rPr lang="ru-RU" sz="2600" dirty="0" err="1"/>
              <a:t>Брайтвейт</a:t>
            </a:r>
            <a:r>
              <a:rPr lang="ru-RU" sz="2600" dirty="0"/>
              <a:t> - на то, что конвенции должны приносить «интеллектуальное удовлетворение». </a:t>
            </a:r>
          </a:p>
          <a:p>
            <a:r>
              <a:rPr lang="ru-RU" sz="2600" dirty="0" err="1"/>
              <a:t>Шлик</a:t>
            </a:r>
            <a:r>
              <a:rPr lang="ru-RU" sz="2600" dirty="0"/>
              <a:t>, следуя Пуанкаре, утверждал, что при выборе аксиом надо стремиться к тому, чтобы они помогали формулировке законов природы в наиболее простой форме. Понятие простоты толковалось им в смысле </a:t>
            </a:r>
            <a:r>
              <a:rPr lang="ru-RU" sz="2600" dirty="0" smtClean="0"/>
              <a:t>«экономии мышления», </a:t>
            </a:r>
            <a:r>
              <a:rPr lang="ru-RU" sz="2600" dirty="0"/>
              <a:t>соединенной с эстетической </a:t>
            </a:r>
            <a:r>
              <a:rPr lang="ru-RU" sz="2600" dirty="0" smtClean="0"/>
              <a:t>«радостью </a:t>
            </a:r>
            <a:r>
              <a:rPr lang="ru-RU" sz="2600" dirty="0"/>
              <a:t>субъекта».</a:t>
            </a:r>
          </a:p>
        </p:txBody>
      </p:sp>
    </p:spTree>
    <p:extLst>
      <p:ext uri="{BB962C8B-B14F-4D97-AF65-F5344CB8AC3E}">
        <p14:creationId xmlns:p14="http://schemas.microsoft.com/office/powerpoint/2010/main" val="2450903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301657" y="-471340"/>
            <a:ext cx="11123629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altLang="ru-RU" sz="3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Карнап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«</a:t>
            </a:r>
            <a:r>
              <a:rPr kumimoji="0" lang="ru-RU" altLang="ru-RU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Физикалистский</a:t>
            </a: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язык как универсальный язык науки»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Требование </a:t>
            </a:r>
            <a:r>
              <a:rPr kumimoji="0" lang="ru-RU" alt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адекватного перевода предложений всех наук, содержащих описание предметов в  </a:t>
            </a:r>
            <a:r>
              <a:rPr kumimoji="0" lang="ru-RU" alt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терминах наблюдения,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на предложения, состоящие исключительно из терминов, которые употребляются в  </a:t>
            </a:r>
            <a:r>
              <a:rPr kumimoji="0" lang="ru-RU" alt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физике</a:t>
            </a: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ru-RU" sz="3200" dirty="0" smtClean="0">
                <a:latin typeface="Times New Roman" panose="02020603050405020304" pitchFamily="18" charset="0"/>
              </a:rPr>
              <a:t>В </a:t>
            </a:r>
            <a:r>
              <a:rPr lang="ru-RU" altLang="ru-RU" sz="3200" dirty="0">
                <a:latin typeface="Times New Roman" panose="02020603050405020304" pitchFamily="18" charset="0"/>
              </a:rPr>
              <a:t>качестве критерия истинности высказывания предложил</a:t>
            </a:r>
            <a:br>
              <a:rPr lang="ru-RU" altLang="ru-RU" sz="3200" dirty="0">
                <a:latin typeface="Times New Roman" panose="02020603050405020304" pitchFamily="18" charset="0"/>
              </a:rPr>
            </a:br>
            <a:r>
              <a:rPr lang="ru-RU" altLang="ru-RU" sz="3200" dirty="0">
                <a:latin typeface="Times New Roman" panose="02020603050405020304" pitchFamily="18" charset="0"/>
              </a:rPr>
              <a:t>   </a:t>
            </a:r>
            <a:r>
              <a:rPr lang="ru-RU" altLang="ru-RU" sz="3200" b="1" dirty="0">
                <a:latin typeface="Times New Roman" panose="02020603050405020304" pitchFamily="18" charset="0"/>
              </a:rPr>
              <a:t>принцип «когерентности»: </a:t>
            </a:r>
            <a:endParaRPr lang="ru-RU" altLang="ru-RU" sz="3200" b="1" dirty="0" smtClean="0">
              <a:latin typeface="Times New Roman" panose="02020603050405020304" pitchFamily="18" charset="0"/>
            </a:endParaRP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altLang="ru-RU" sz="3200" dirty="0" smtClean="0">
                <a:latin typeface="Times New Roman" panose="02020603050405020304" pitchFamily="18" charset="0"/>
              </a:rPr>
              <a:t>«</a:t>
            </a:r>
            <a:r>
              <a:rPr lang="ru-RU" altLang="ru-RU" sz="3200" dirty="0">
                <a:latin typeface="Times New Roman" panose="02020603050405020304" pitchFamily="18" charset="0"/>
              </a:rPr>
              <a:t>Высказывание следует признать истинным если оно внутренне логически не противоречиво и не противоречит другим высказываниям в составе данной концепции»</a:t>
            </a:r>
            <a:endParaRPr kumimoji="0" lang="ru-RU" altLang="ru-RU" sz="32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51369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097280" y="2926080"/>
            <a:ext cx="10180320" cy="997732"/>
          </a:xfrm>
        </p:spPr>
        <p:txBody>
          <a:bodyPr/>
          <a:lstStyle/>
          <a:p>
            <a:pPr algn="ctr"/>
            <a:r>
              <a:rPr lang="ru-RU" altLang="ru-RU" dirty="0" smtClean="0">
                <a:solidFill>
                  <a:schemeClr val="accent1">
                    <a:lumMod val="75000"/>
                  </a:schemeClr>
                </a:solidFill>
                <a:latin typeface="PT Sans"/>
              </a:rPr>
              <a:t>5. </a:t>
            </a:r>
            <a:r>
              <a:rPr lang="ru-RU" dirty="0"/>
              <a:t>Критический рационализм К. Поппера.</a:t>
            </a:r>
          </a:p>
        </p:txBody>
      </p:sp>
    </p:spTree>
    <p:extLst>
      <p:ext uri="{BB962C8B-B14F-4D97-AF65-F5344CB8AC3E}">
        <p14:creationId xmlns:p14="http://schemas.microsoft.com/office/powerpoint/2010/main" val="161449449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Прямоугольник 1"/>
          <p:cNvSpPr>
            <a:spLocks noChangeArrowheads="1"/>
          </p:cNvSpPr>
          <p:nvPr/>
        </p:nvSpPr>
        <p:spPr bwMode="auto">
          <a:xfrm>
            <a:off x="113122" y="3563331"/>
            <a:ext cx="12078877" cy="272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Постпозитивизм</a:t>
            </a:r>
            <a:endParaRPr lang="ru-RU" altLang="ru-RU" sz="4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восходит к работам 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Карла  Поппера 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50-х гг. XX в. </a:t>
            </a:r>
          </a:p>
        </p:txBody>
      </p:sp>
      <p:sp>
        <p:nvSpPr>
          <p:cNvPr id="60419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ru-RU" altLang="ru-RU" dirty="0" smtClean="0">
                <a:solidFill>
                  <a:srgbClr val="FF0000"/>
                </a:solidFill>
                <a:latin typeface="PT Sans"/>
              </a:rPr>
              <a:t>5. </a:t>
            </a:r>
            <a:r>
              <a:rPr lang="ru-RU" dirty="0"/>
              <a:t>Критический рационализм К. Поппера.</a:t>
            </a:r>
            <a:endParaRPr lang="ru-RU" altLang="ru-RU" dirty="0" smtClean="0">
              <a:solidFill>
                <a:srgbClr val="FF0000"/>
              </a:solidFill>
              <a:latin typeface="PT San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A18D55-3153-47B4-AAC4-D815C437A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40" y="923826"/>
            <a:ext cx="11095349" cy="2733774"/>
          </a:xfrm>
        </p:spPr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u-RU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7400" dirty="0" err="1" smtClean="0"/>
              <a:t>Постпозитивизм</a:t>
            </a:r>
            <a:r>
              <a:rPr lang="ru-RU" sz="7400" dirty="0" smtClean="0"/>
              <a:t> </a:t>
            </a:r>
            <a:r>
              <a:rPr lang="ru-RU" sz="7400" dirty="0"/>
              <a:t>(англ. </a:t>
            </a:r>
            <a:r>
              <a:rPr lang="ru-RU" sz="7400" dirty="0" err="1"/>
              <a:t>Postpositivism</a:t>
            </a:r>
            <a:r>
              <a:rPr lang="ru-RU" sz="7400" dirty="0"/>
              <a:t>) — общее название для нескольких школ философии науки, объединённых критическим </a:t>
            </a:r>
            <a:r>
              <a:rPr lang="ru-RU" sz="7400" dirty="0" smtClean="0"/>
              <a:t>отношением </a:t>
            </a:r>
            <a:r>
              <a:rPr lang="ru-RU" sz="7400" dirty="0"/>
              <a:t>к эпистемологическим учениям, которые были развиты в рамках неопозитивизма и обосновывали получение объективного знания из опыта. </a:t>
            </a:r>
            <a:endParaRPr lang="ru-RU" sz="7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7400" dirty="0" smtClean="0"/>
              <a:t>Основные </a:t>
            </a:r>
            <a:r>
              <a:rPr lang="ru-RU" sz="7400" dirty="0"/>
              <a:t>представители: Карл Поппер, Томас Кун, </a:t>
            </a:r>
            <a:r>
              <a:rPr lang="ru-RU" sz="7400" dirty="0" err="1"/>
              <a:t>Имре</a:t>
            </a:r>
            <a:r>
              <a:rPr lang="ru-RU" sz="7400" dirty="0"/>
              <a:t> </a:t>
            </a:r>
            <a:r>
              <a:rPr lang="ru-RU" sz="7400" dirty="0" err="1"/>
              <a:t>Лакатос</a:t>
            </a:r>
            <a:r>
              <a:rPr lang="ru-RU" sz="7400" dirty="0"/>
              <a:t>, Пол </a:t>
            </a:r>
            <a:r>
              <a:rPr lang="ru-RU" sz="7400" dirty="0" err="1"/>
              <a:t>Фейерабенд</a:t>
            </a:r>
            <a:r>
              <a:rPr lang="ru-RU" sz="7400" dirty="0"/>
              <a:t>, Майкл </a:t>
            </a:r>
            <a:r>
              <a:rPr lang="ru-RU" sz="7400" dirty="0" err="1"/>
              <a:t>Полани</a:t>
            </a:r>
            <a:r>
              <a:rPr lang="ru-RU" sz="7400" dirty="0"/>
              <a:t>, Стивен </a:t>
            </a:r>
            <a:r>
              <a:rPr lang="ru-RU" sz="7400" dirty="0" err="1"/>
              <a:t>Тулмин</a:t>
            </a:r>
            <a:r>
              <a:rPr lang="ru-RU" sz="7400" dirty="0"/>
              <a:t>. </a:t>
            </a:r>
            <a:endParaRPr lang="ru-RU" sz="7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7400" dirty="0" smtClean="0"/>
              <a:t>К </a:t>
            </a:r>
            <a:r>
              <a:rPr lang="ru-RU" sz="7400" dirty="0" err="1"/>
              <a:t>постпозитивизму</a:t>
            </a:r>
            <a:r>
              <a:rPr lang="ru-RU" sz="7400" dirty="0"/>
              <a:t> близки работы школы </a:t>
            </a:r>
            <a:r>
              <a:rPr lang="ru-RU" sz="7400" dirty="0" err="1"/>
              <a:t>неорационализма</a:t>
            </a:r>
            <a:r>
              <a:rPr lang="ru-RU" sz="7400" dirty="0"/>
              <a:t>, в </a:t>
            </a:r>
            <a:r>
              <a:rPr lang="ru-RU" sz="7400" dirty="0" smtClean="0"/>
              <a:t>особенности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7400" dirty="0"/>
              <a:t> </a:t>
            </a:r>
            <a:r>
              <a:rPr lang="ru-RU" sz="7400" dirty="0" smtClean="0"/>
              <a:t>    </a:t>
            </a:r>
            <a:r>
              <a:rPr lang="ru-RU" sz="7400" dirty="0"/>
              <a:t>Г. </a:t>
            </a:r>
            <a:r>
              <a:rPr lang="ru-RU" sz="7400" dirty="0" err="1"/>
              <a:t>Башляра</a:t>
            </a:r>
            <a:r>
              <a:rPr lang="ru-RU" sz="7400" dirty="0"/>
              <a:t> и М. Фуко.</a:t>
            </a:r>
            <a:endParaRPr lang="ru-RU" sz="7400" dirty="0"/>
          </a:p>
        </p:txBody>
      </p:sp>
    </p:spTree>
    <p:extLst>
      <p:ext uri="{BB962C8B-B14F-4D97-AF65-F5344CB8AC3E}">
        <p14:creationId xmlns:p14="http://schemas.microsoft.com/office/powerpoint/2010/main" val="39774581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1631950" y="765175"/>
            <a:ext cx="8351838" cy="3649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На основании представления о способах развития научного знания 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можно</a:t>
            </a:r>
            <a:endParaRPr lang="ru-RU" altLang="ru-RU" sz="36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выделить </a:t>
            </a:r>
            <a:r>
              <a:rPr lang="ru-RU" altLang="ru-RU" sz="3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два основных  направления в </a:t>
            </a:r>
            <a:r>
              <a:rPr lang="ru-RU" altLang="ru-RU" sz="3600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постпостизивизме</a:t>
            </a:r>
            <a:r>
              <a:rPr lang="ru-RU" altLang="ru-RU" sz="3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эволюционное и революционное</a:t>
            </a:r>
            <a:r>
              <a:rPr lang="ru-RU" alt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altLang="ru-RU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344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971601"/>
            <a:ext cx="310832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4194928" y="876693"/>
            <a:ext cx="652228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Основные работы: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«Логика и рост научного знания» (1935)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«Открытое общество и его враги», т. 1  (1945)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«Нищета </a:t>
            </a:r>
            <a:r>
              <a:rPr lang="ru-RU" altLang="ru-RU" dirty="0" err="1">
                <a:solidFill>
                  <a:srgbClr val="000000"/>
                </a:solidFill>
              </a:rPr>
              <a:t>историцизма</a:t>
            </a:r>
            <a:r>
              <a:rPr lang="ru-RU" altLang="ru-RU" dirty="0">
                <a:solidFill>
                  <a:srgbClr val="000000"/>
                </a:solidFill>
              </a:rPr>
              <a:t>» (</a:t>
            </a:r>
            <a:r>
              <a:rPr lang="en-US" altLang="ru-RU" dirty="0">
                <a:solidFill>
                  <a:srgbClr val="000000"/>
                </a:solidFill>
              </a:rPr>
              <a:t>195</a:t>
            </a:r>
            <a:r>
              <a:rPr lang="ru-RU" altLang="ru-RU" dirty="0">
                <a:solidFill>
                  <a:srgbClr val="000000"/>
                </a:solidFill>
              </a:rPr>
              <a:t>7) «Предположения и опровержения: рост научного знания» (</a:t>
            </a:r>
            <a:r>
              <a:rPr lang="en-US" altLang="ru-RU" dirty="0">
                <a:solidFill>
                  <a:srgbClr val="000000"/>
                </a:solidFill>
              </a:rPr>
              <a:t>1963</a:t>
            </a:r>
            <a:r>
              <a:rPr lang="ru-RU" altLang="ru-RU" dirty="0">
                <a:solidFill>
                  <a:srgbClr val="000000"/>
                </a:solidFill>
              </a:rPr>
              <a:t>)</a:t>
            </a:r>
            <a:endParaRPr lang="en-US" altLang="ru-RU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solidFill>
                  <a:srgbClr val="000000"/>
                </a:solidFill>
              </a:rPr>
              <a:t>«Открытое общество и его враги»</a:t>
            </a:r>
            <a:r>
              <a:rPr lang="en-US" altLang="ru-RU" dirty="0">
                <a:solidFill>
                  <a:srgbClr val="000000"/>
                </a:solidFill>
              </a:rPr>
              <a:t>, </a:t>
            </a:r>
            <a:r>
              <a:rPr lang="ru-RU" altLang="ru-RU" dirty="0">
                <a:solidFill>
                  <a:srgbClr val="000000"/>
                </a:solidFill>
              </a:rPr>
              <a:t>т. 2  (1965)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09601" y="5691157"/>
            <a:ext cx="39152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Карл </a:t>
            </a:r>
            <a:r>
              <a:rPr lang="ru-RU" dirty="0" err="1"/>
              <a:t>Раймунд</a:t>
            </a:r>
            <a:r>
              <a:rPr lang="ru-RU" dirty="0"/>
              <a:t> Поппер </a:t>
            </a:r>
          </a:p>
          <a:p>
            <a:r>
              <a:rPr lang="ru-RU" dirty="0"/>
              <a:t>(1902 –1994)</a:t>
            </a:r>
          </a:p>
        </p:txBody>
      </p:sp>
    </p:spTree>
    <p:extLst>
      <p:ext uri="{BB962C8B-B14F-4D97-AF65-F5344CB8AC3E}">
        <p14:creationId xmlns:p14="http://schemas.microsoft.com/office/powerpoint/2010/main" val="39760959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339365" y="549275"/>
            <a:ext cx="11679810" cy="59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Неодинаковая роль   подтверждающих и опровергающих - познавательная «асимметричность». </a:t>
            </a:r>
            <a:endParaRPr lang="ru-RU" altLang="ru-RU" sz="3400" dirty="0" smtClean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4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altLang="ru-RU" sz="18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пример с белыми шарами</a:t>
            </a:r>
            <a:r>
              <a:rPr lang="ru-RU" altLang="ru-RU" sz="34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ru-RU" altLang="ru-RU" sz="34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4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Принцип </a:t>
            </a:r>
            <a:r>
              <a:rPr lang="ru-RU" altLang="ru-RU" sz="3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верификации </a:t>
            </a:r>
          </a:p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4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Принцип фальсификации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Проверка </a:t>
            </a:r>
            <a:r>
              <a:rPr lang="ru-RU" altLang="ru-RU" sz="32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 истинности научных теорий 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должна осуществляться не  через их подтверждение,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а преимущественно </a:t>
            </a:r>
          </a:p>
          <a:p>
            <a:pPr algn="ctr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через их опровержение</a:t>
            </a:r>
            <a:r>
              <a:rPr lang="ru-RU" altLang="ru-RU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altLang="ru-RU" sz="34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Стрелка вниз 2">
            <a:extLst>
              <a:ext uri="{FF2B5EF4-FFF2-40B4-BE49-F238E27FC236}">
                <a16:creationId xmlns:a16="http://schemas.microsoft.com/office/drawing/2014/main" id="{623494A7-0952-45E1-AFE0-C5EA33AEDE54}"/>
              </a:ext>
            </a:extLst>
          </p:cNvPr>
          <p:cNvSpPr/>
          <p:nvPr/>
        </p:nvSpPr>
        <p:spPr>
          <a:xfrm>
            <a:off x="5759778" y="2978870"/>
            <a:ext cx="480686" cy="7164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sz="3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492" name="Заголовок 3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16000335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строгом смысле все наши знания – принципиально должны быть опровержимы</a:t>
            </a:r>
          </a:p>
          <a:p>
            <a:pPr marL="0" indent="0">
              <a:buNone/>
            </a:pPr>
            <a:r>
              <a:rPr lang="ru-RU" dirty="0" smtClean="0"/>
              <a:t>Потенциальные фальсификаторы:</a:t>
            </a:r>
          </a:p>
          <a:p>
            <a:pPr marL="0" indent="0">
              <a:buNone/>
            </a:pPr>
            <a:r>
              <a:rPr lang="ru-RU" dirty="0" smtClean="0"/>
              <a:t>Деятельность ученого заключается не только в построении гипотез и теорий, но и в выведении следствий из этой </a:t>
            </a:r>
            <a:r>
              <a:rPr lang="ru-RU" dirty="0" smtClean="0"/>
              <a:t>теории, которые  </a:t>
            </a:r>
            <a:r>
              <a:rPr lang="ru-RU" dirty="0" smtClean="0"/>
              <a:t>ее бы опровергли. Т.е. мы мысленно модулируем ситуацию, случись которые мы бы считали нашу гипотезу ложной</a:t>
            </a:r>
          </a:p>
          <a:p>
            <a:pPr marL="0" indent="0">
              <a:buNone/>
            </a:pPr>
            <a:r>
              <a:rPr lang="ru-RU" dirty="0" smtClean="0"/>
              <a:t>Т.е</a:t>
            </a:r>
            <a:r>
              <a:rPr lang="ru-RU" dirty="0" smtClean="0"/>
              <a:t>. ученый должен четко представлять, какие факты заставят отказаться от этой теории.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К </a:t>
            </a:r>
            <a:r>
              <a:rPr lang="ru-RU" dirty="0" smtClean="0"/>
              <a:t>религиозному миросозерцанию с таким вопросом не подойти.</a:t>
            </a:r>
          </a:p>
          <a:p>
            <a:pPr marL="0" indent="0">
              <a:buNone/>
            </a:pPr>
            <a:r>
              <a:rPr lang="ru-RU" dirty="0" smtClean="0"/>
              <a:t>Тем не менее  у Поппера </a:t>
            </a:r>
            <a:r>
              <a:rPr lang="ru-RU" dirty="0" err="1" smtClean="0"/>
              <a:t>коммулятивисткий</a:t>
            </a:r>
            <a:r>
              <a:rPr lang="ru-RU" dirty="0" smtClean="0"/>
              <a:t> взгляд на развитие науки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901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B08838A-9227-4502-8EF7-F0CECD48A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564" y="923827"/>
            <a:ext cx="8050491" cy="5153124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Отсутствие </a:t>
            </a:r>
            <a:r>
              <a:rPr lang="ru-RU" dirty="0"/>
              <a:t>опытного опровержения гипотезы не говорит в пользу ее истинности, а только «оправданности». </a:t>
            </a:r>
          </a:p>
          <a:p>
            <a:pPr>
              <a:defRPr/>
            </a:pPr>
            <a:r>
              <a:rPr lang="ru-RU" dirty="0"/>
              <a:t>Поппер считает, что теория является научной только тогда, когда она в принципе допускает фальсификацию (опровержение), т. е. когда в ней есть положения, которые могут быть проверены </a:t>
            </a:r>
            <a:r>
              <a:rPr lang="ru-RU" dirty="0" err="1"/>
              <a:t>интерсубъективным</a:t>
            </a:r>
            <a:r>
              <a:rPr lang="ru-RU" dirty="0"/>
              <a:t> </a:t>
            </a:r>
            <a:r>
              <a:rPr lang="ru-RU" dirty="0" smtClean="0"/>
              <a:t>наблюдением</a:t>
            </a:r>
          </a:p>
          <a:p>
            <a:pPr marL="0" indent="0">
              <a:buNone/>
              <a:defRPr/>
            </a:pPr>
            <a:r>
              <a:rPr lang="ru-RU" dirty="0" smtClean="0"/>
              <a:t>.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85" y="1768312"/>
            <a:ext cx="214312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104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56181" y="904974"/>
            <a:ext cx="1078426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Из   принципа </a:t>
            </a:r>
            <a:r>
              <a:rPr lang="ru-RU" altLang="ru-RU" sz="2400" b="1" i="1" dirty="0">
                <a:solidFill>
                  <a:srgbClr val="000000"/>
                </a:solidFill>
                <a:cs typeface="Calibri" panose="020F0502020204030204" pitchFamily="34" charset="0"/>
              </a:rPr>
              <a:t>фальсификации</a:t>
            </a: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 следует принцип </a:t>
            </a:r>
            <a:r>
              <a:rPr lang="ru-RU" altLang="ru-RU" sz="2400" i="1" dirty="0" err="1">
                <a:solidFill>
                  <a:srgbClr val="000000"/>
                </a:solidFill>
                <a:cs typeface="Calibri" panose="020F0502020204030204" pitchFamily="34" charset="0"/>
              </a:rPr>
              <a:t>фаллибилизма</a:t>
            </a:r>
            <a:endParaRPr lang="ru-RU" altLang="ru-RU" sz="2400" i="1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400" b="1" i="1" dirty="0"/>
              <a:t>(любое научное знание носит лишь гипотетический характер и подвержено ошибкам</a:t>
            </a:r>
            <a:r>
              <a:rPr lang="ru-RU" sz="2400" dirty="0"/>
              <a:t>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400" dirty="0"/>
              <a:t>Понятие «</a:t>
            </a:r>
            <a:r>
              <a:rPr lang="ru-RU" sz="2400" dirty="0" err="1"/>
              <a:t>фаллибилизм</a:t>
            </a:r>
            <a:r>
              <a:rPr lang="ru-RU" sz="2400" dirty="0"/>
              <a:t>» было разработано </a:t>
            </a:r>
            <a:r>
              <a:rPr lang="ru-RU" sz="2400" dirty="0" err="1"/>
              <a:t>Ч.С.Пирсом</a:t>
            </a:r>
            <a:r>
              <a:rPr lang="ru-RU" sz="2400" dirty="0"/>
              <a:t>  (прагматизм) </a:t>
            </a:r>
            <a:r>
              <a:rPr lang="ru-RU" sz="2000" dirty="0"/>
              <a:t>«Абсолютная непогрешимость может быть присуща лишь папе римскому и экономическим советникам, но я совершенно уверен, что она не присуща таблице умножения», </a:t>
            </a:r>
            <a:r>
              <a:rPr lang="ru-RU" sz="2400" dirty="0"/>
              <a:t>который утверждал, что в любой данный момент времени наше знание о реальности носит частичный и предположительный характер. </a:t>
            </a:r>
            <a:endParaRPr lang="ru-RU" sz="2400" dirty="0" smtClean="0"/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ru-RU" sz="2400" dirty="0" smtClean="0"/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400" dirty="0" smtClean="0"/>
              <a:t>Поппер разработал  принцип </a:t>
            </a:r>
            <a:r>
              <a:rPr lang="ru-RU" sz="2400" dirty="0" err="1" smtClean="0"/>
              <a:t>фаллибилизма</a:t>
            </a:r>
            <a:r>
              <a:rPr lang="ru-RU" sz="2400" dirty="0" smtClean="0"/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ru-RU" sz="2400" dirty="0"/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400" dirty="0"/>
              <a:t> Рост научного знания, по Попперу, состоит в выдвижении смелых гипотез и осуществлении их решительных опровержений.</a:t>
            </a:r>
            <a:endParaRPr lang="ru-RU" sz="24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61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Ряд учёных, не согласных с идеями Поппера, попытались доказать тот факт, что принцип </a:t>
            </a:r>
            <a:r>
              <a:rPr lang="ru-RU" dirty="0" err="1"/>
              <a:t>фальсифицируемости</a:t>
            </a:r>
            <a:r>
              <a:rPr lang="ru-RU" dirty="0"/>
              <a:t> не может быть основной методологической единицей при обсуждении вопросов подтверждения, проверки и опровержения теорий.</a:t>
            </a:r>
          </a:p>
          <a:p>
            <a:pPr marL="0" indent="0">
              <a:buNone/>
            </a:pPr>
            <a:r>
              <a:rPr lang="ru-RU" sz="2000" dirty="0" smtClean="0"/>
              <a:t>Например: </a:t>
            </a:r>
          </a:p>
          <a:p>
            <a:r>
              <a:rPr lang="ru-RU" dirty="0" smtClean="0"/>
              <a:t> Марио </a:t>
            </a:r>
            <a:r>
              <a:rPr lang="ru-RU" dirty="0" err="1" smtClean="0"/>
              <a:t>Бунге</a:t>
            </a:r>
            <a:r>
              <a:rPr lang="ru-RU" dirty="0" smtClean="0"/>
              <a:t> (аргентинский философ) : </a:t>
            </a:r>
          </a:p>
          <a:p>
            <a:pPr marL="0" indent="0">
              <a:buNone/>
            </a:pPr>
            <a:r>
              <a:rPr lang="ru-RU" sz="2000" dirty="0" smtClean="0"/>
              <a:t>факты </a:t>
            </a:r>
            <a:r>
              <a:rPr lang="ru-RU" sz="2000" dirty="0"/>
              <a:t>не являются первичными, а получаются и интерпретируются с помощью теории; научные теории имеют дело не с самими наблюдаемыми явлениями, а лишь с их идеализированными моделями; проверяемые предложения часто не являются следствием единственной теории, а следуют из теории в сочетании с дополнительными предположениями, которые также должны проверяться опытным путём. </a:t>
            </a:r>
          </a:p>
        </p:txBody>
      </p:sp>
    </p:spTree>
    <p:extLst>
      <p:ext uri="{BB962C8B-B14F-4D97-AF65-F5344CB8AC3E}">
        <p14:creationId xmlns:p14="http://schemas.microsoft.com/office/powerpoint/2010/main" val="2203026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2778" y="2815361"/>
            <a:ext cx="10363200" cy="1652467"/>
          </a:xfrm>
        </p:spPr>
        <p:txBody>
          <a:bodyPr/>
          <a:lstStyle/>
          <a:p>
            <a:pPr algn="ctr"/>
            <a:r>
              <a:rPr lang="ru-RU" dirty="0"/>
              <a:t>6 Концепция исследовательских программ И. </a:t>
            </a:r>
            <a:r>
              <a:rPr lang="ru-RU" dirty="0" err="1"/>
              <a:t>Лакатоса</a:t>
            </a:r>
            <a:r>
              <a:rPr lang="ru-RU" dirty="0"/>
              <a:t>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1949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2135188" y="765176"/>
            <a:ext cx="7632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>
                <a:solidFill>
                  <a:srgbClr val="000000"/>
                </a:solidFill>
              </a:rPr>
              <a:t>Имре Лакатос (1922 – 1974)</a:t>
            </a:r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4091232" y="1411290"/>
            <a:ext cx="8276735" cy="505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srgbClr val="000000"/>
                </a:solidFill>
              </a:rPr>
              <a:t>Основные работы: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000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srgbClr val="000000"/>
                </a:solidFill>
              </a:rPr>
              <a:t>«Доказательства и опровержения» (1964) «Фальсификация и методология научно-исследовательских программ’»(1970)</a:t>
            </a: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srgbClr val="000000"/>
                </a:solidFill>
              </a:rPr>
              <a:t> «История науки и ее рациональные реконструкции» (1972) </a:t>
            </a: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srgbClr val="000000"/>
                </a:solidFill>
              </a:rPr>
              <a:t>«Изменяющаяся логика научного открытия» (1973)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9" y="1857080"/>
            <a:ext cx="2971198" cy="4372613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05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311085" y="754144"/>
            <a:ext cx="75791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Научно-исследовательская программа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это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последовательность научных теорий,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объединяемых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 определенной совокупностью базисных идей и принципов,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основные идеи, методы и  предпосылки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выдвигаются интеллектуальными лидерами науки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solidFill>
                  <a:srgbClr val="000000"/>
                </a:solidFill>
                <a:cs typeface="Calibri" panose="020F0502020204030204" pitchFamily="34" charset="0"/>
              </a:rPr>
              <a:t>усваиваются научными сообществами догматически</a:t>
            </a:r>
            <a:endParaRPr lang="ru-RU" altLang="ru-RU" sz="2400" dirty="0">
              <a:solidFill>
                <a:srgbClr val="0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454" y="2095843"/>
            <a:ext cx="3943546" cy="38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22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Заголовок 1"/>
          <p:cNvSpPr>
            <a:spLocks noGrp="1" noChangeArrowheads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endParaRPr lang="ru-RU" altLang="ru-RU" smtClean="0">
              <a:latin typeface="PT San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0602C3-2514-4BEA-9D88-90F04142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50" y="868364"/>
            <a:ext cx="9566702" cy="5208587"/>
          </a:xfrm>
        </p:spPr>
        <p:txBody>
          <a:bodyPr/>
          <a:lstStyle/>
          <a:p>
            <a:pPr>
              <a:defRPr/>
            </a:pPr>
            <a:r>
              <a:rPr lang="ru-RU" dirty="0"/>
              <a:t>Научно-исследовательская программа включает:</a:t>
            </a:r>
            <a:br>
              <a:rPr lang="ru-RU" dirty="0"/>
            </a:br>
            <a:r>
              <a:rPr lang="ru-RU" dirty="0"/>
              <a:t>► «жесткое ядро» — совокупность суждений, которые являются теоретической  основой данного стиля мышления;</a:t>
            </a:r>
            <a:br>
              <a:rPr lang="ru-RU" dirty="0"/>
            </a:br>
            <a:r>
              <a:rPr lang="ru-RU" dirty="0"/>
              <a:t> ►«защитный пояс», состоящий из вспомогательных гипотез; он обеспечивает  сохранность «жесткого ядра», связывает исследовательскую программу с эмпирическими данными;</a:t>
            </a:r>
            <a:br>
              <a:rPr lang="ru-RU" dirty="0"/>
            </a:br>
            <a:r>
              <a:rPr lang="ru-RU" dirty="0"/>
              <a:t> ►«негативную эвристику» — указание на то, каких путей исследования нужно избегать;</a:t>
            </a:r>
            <a:br>
              <a:rPr lang="ru-RU" dirty="0"/>
            </a:br>
            <a:r>
              <a:rPr lang="ru-RU" dirty="0"/>
              <a:t> ►«позитивную эвристику» — рекомендации наиболее предположительных путей исследования.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12002510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>
                <a:latin typeface="Times New Roman" panose="02020603050405020304" pitchFamily="18" charset="0"/>
              </a:rPr>
              <a:t>Историю науки </a:t>
            </a:r>
            <a:r>
              <a:rPr lang="ru-RU" altLang="ru-RU" dirty="0" err="1">
                <a:latin typeface="Times New Roman" panose="02020603050405020304" pitchFamily="18" charset="0"/>
              </a:rPr>
              <a:t>Лакатос</a:t>
            </a:r>
            <a:r>
              <a:rPr lang="ru-RU" altLang="ru-RU" dirty="0">
                <a:latin typeface="Times New Roman" panose="02020603050405020304" pitchFamily="18" charset="0"/>
              </a:rPr>
              <a:t> понимает как смену программ. </a:t>
            </a:r>
            <a:br>
              <a:rPr lang="ru-RU" altLang="ru-RU" dirty="0">
                <a:latin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</a:rPr>
              <a:t>	Любая программа, пройдя прогрессивную стадию, достигает так называемого «пункта насыщения», когда в науке появляются несовместимые факты, противоречия, парадоксы.</a:t>
            </a:r>
            <a:br>
              <a:rPr lang="ru-RU" altLang="ru-RU" dirty="0">
                <a:latin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</a:rPr>
              <a:t> 	Возникает соперничающая исследовательская программа, которая объясняет </a:t>
            </a:r>
            <a:r>
              <a:rPr lang="ru-RU" altLang="ru-RU" dirty="0" smtClean="0">
                <a:latin typeface="Times New Roman" panose="02020603050405020304" pitchFamily="18" charset="0"/>
              </a:rPr>
              <a:t>эмпирические данные </a:t>
            </a:r>
            <a:r>
              <a:rPr lang="ru-RU" altLang="ru-RU" dirty="0">
                <a:latin typeface="Times New Roman" panose="02020603050405020304" pitchFamily="18" charset="0"/>
              </a:rPr>
              <a:t>предшествующей программы, способна предсказать неизвестные еще факты.</a:t>
            </a:r>
            <a:br>
              <a:rPr lang="ru-RU" altLang="ru-RU" dirty="0">
                <a:latin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</a:rPr>
              <a:t> 	Научная революция — это процесс вытеснения новыми исследовательскими программами предыдущих.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0903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>
            <a:spLocks noChangeArrowheads="1"/>
          </p:cNvSpPr>
          <p:nvPr/>
        </p:nvSpPr>
        <p:spPr bwMode="auto">
          <a:xfrm>
            <a:off x="1919289" y="620714"/>
            <a:ext cx="81375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b="1" dirty="0" err="1">
                <a:solidFill>
                  <a:srgbClr val="000000"/>
                </a:solidFill>
                <a:cs typeface="Calibri" panose="020F0502020204030204" pitchFamily="34" charset="0"/>
              </a:rPr>
              <a:t>Революционистское</a:t>
            </a:r>
            <a:r>
              <a:rPr lang="ru-RU" altLang="ru-RU" sz="3200" b="1" dirty="0">
                <a:solidFill>
                  <a:srgbClr val="000000"/>
                </a:solidFill>
                <a:cs typeface="Calibri" panose="020F0502020204030204" pitchFamily="34" charset="0"/>
              </a:rPr>
              <a:t> направление :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развитие науки происходит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через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 периодическую коренную трансформацию и смену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ведущих научных представлений и техники исследования (парадигм)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 т.е. через периодически повторяющиеся научные революции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  <p:sp>
        <p:nvSpPr>
          <p:cNvPr id="71683" name="Заголовок 3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7281086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25782" y="2804160"/>
            <a:ext cx="8551817" cy="1119652"/>
          </a:xfrm>
        </p:spPr>
        <p:txBody>
          <a:bodyPr/>
          <a:lstStyle/>
          <a:p>
            <a:r>
              <a:rPr lang="ru-RU" dirty="0" smtClean="0"/>
              <a:t>7. </a:t>
            </a:r>
            <a:r>
              <a:rPr lang="ru-RU" dirty="0"/>
              <a:t>Т. Кун об исторической динамике науки.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73243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2208214" y="836614"/>
            <a:ext cx="7704137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600" dirty="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Основные понятия: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«научная парадигма»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«научное сообщество»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«нормальная наука»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</a:rPr>
              <a:t>«научная революция»</a:t>
            </a:r>
          </a:p>
        </p:txBody>
      </p:sp>
      <p:sp>
        <p:nvSpPr>
          <p:cNvPr id="72707" name="Заголовок 4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dirty="0" smtClean="0">
              <a:solidFill>
                <a:srgbClr val="FF000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7" y="1624179"/>
            <a:ext cx="2667000" cy="381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598" y="1466884"/>
            <a:ext cx="2743543" cy="428726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87087" y="5691157"/>
            <a:ext cx="3771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Томас </a:t>
            </a:r>
            <a:r>
              <a:rPr lang="ru-RU" dirty="0" err="1"/>
              <a:t>Сэмюэл</a:t>
            </a:r>
            <a:r>
              <a:rPr lang="ru-RU" dirty="0"/>
              <a:t> Кун</a:t>
            </a:r>
          </a:p>
          <a:p>
            <a:r>
              <a:rPr lang="ru-RU" dirty="0"/>
              <a:t> (1922 -1996)</a:t>
            </a:r>
          </a:p>
        </p:txBody>
      </p:sp>
    </p:spTree>
    <p:extLst>
      <p:ext uri="{BB962C8B-B14F-4D97-AF65-F5344CB8AC3E}">
        <p14:creationId xmlns:p14="http://schemas.microsoft.com/office/powerpoint/2010/main" val="2271176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2351088" y="404814"/>
            <a:ext cx="784860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Понятие «парадигма»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заимствовано из грамматики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означает совокупность элементов, которые образуют единое правило.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В философии науки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парадигма есть совокупность научных достижений,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в первую очередь теорий, признаваемых всем научным сообществом в определенный период времени.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endParaRPr lang="ru-RU" altLang="ru-RU" sz="3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932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1524001" y="150813"/>
            <a:ext cx="8893175" cy="649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200" dirty="0">
              <a:solidFill>
                <a:srgbClr val="000000"/>
              </a:solidFill>
              <a:latin typeface="PT Sans"/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Парадигма – это те фундаментальные теории,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которые получили всеобщее признание 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в течение какого-то периода определяли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научное исследование.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200" dirty="0">
              <a:solidFill>
                <a:srgbClr val="000000"/>
              </a:solidFill>
              <a:latin typeface="PT Sans"/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Например: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физика Аристотеля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 механика и оптика Ньютона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 электродинамика Максв</a:t>
            </a:r>
            <a:r>
              <a:rPr lang="ru-RU" altLang="ru-RU" sz="3200" b="1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е</a:t>
            </a: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лла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latin typeface="PT Sans"/>
                <a:cs typeface="Calibri" panose="020F0502020204030204" pitchFamily="34" charset="0"/>
              </a:rPr>
              <a:t>теория относительности Эйнштейна</a:t>
            </a:r>
            <a:endParaRPr lang="ru-RU" altLang="ru-RU" dirty="0">
              <a:solidFill>
                <a:srgbClr val="000000"/>
              </a:solidFill>
              <a:latin typeface="PT Sans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200" dirty="0">
              <a:solidFill>
                <a:srgbClr val="FFFFFF"/>
              </a:solidFill>
              <a:latin typeface="PT Sans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933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Прямоугольник 4"/>
          <p:cNvSpPr>
            <a:spLocks noChangeArrowheads="1"/>
          </p:cNvSpPr>
          <p:nvPr/>
        </p:nvSpPr>
        <p:spPr bwMode="auto">
          <a:xfrm>
            <a:off x="2279651" y="765176"/>
            <a:ext cx="70199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>
                <a:solidFill>
                  <a:srgbClr val="000000"/>
                </a:solidFill>
                <a:cs typeface="Calibri" panose="020F0502020204030204" pitchFamily="34" charset="0"/>
              </a:rPr>
              <a:t>Научное сообщество – это группа людей, принадлежащих определенной эпохе и объединенных какой-либо парадигмой. </a:t>
            </a:r>
            <a:endParaRPr lang="ru-RU" altLang="ru-RU" sz="3200">
              <a:solidFill>
                <a:srgbClr val="000000"/>
              </a:solidFill>
            </a:endParaRPr>
          </a:p>
        </p:txBody>
      </p:sp>
      <p:pic>
        <p:nvPicPr>
          <p:cNvPr id="75779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8" y="2915976"/>
            <a:ext cx="511175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39565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235671" y="669303"/>
            <a:ext cx="11189616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Как </a:t>
            </a:r>
            <a:r>
              <a:rPr lang="ru-RU" altLang="ru-RU" sz="3000" dirty="0" smtClean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 происходит </a:t>
            </a: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переход от одной парадигмы к другой?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srgbClr val="FFFFFF"/>
                </a:solidFill>
                <a:latin typeface="PT Sans"/>
                <a:cs typeface="Calibri" panose="020F0502020204030204" pitchFamily="34" charset="0"/>
              </a:rPr>
              <a:t>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Во время </a:t>
            </a:r>
            <a:r>
              <a:rPr lang="ru-RU" altLang="ru-RU" sz="3000" dirty="0" err="1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парадигмального</a:t>
            </a: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 развития научного знания </a:t>
            </a:r>
            <a:r>
              <a:rPr lang="ru-RU" altLang="ru-RU" sz="3000" dirty="0" err="1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появляютмся</a:t>
            </a: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 аномалии -  </a:t>
            </a:r>
            <a:r>
              <a:rPr lang="ru-RU" altLang="ru-RU" sz="3000" dirty="0" smtClean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явления</a:t>
            </a: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,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 к восприятию которого парадигма не подготовила исследователя.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000" dirty="0">
              <a:solidFill>
                <a:prstClr val="black"/>
              </a:solidFill>
              <a:latin typeface="PT Sans"/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Осознание аномалии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постепенное или мгновенное признание аномалии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изменение </a:t>
            </a:r>
            <a:r>
              <a:rPr lang="ru-RU" altLang="ru-RU" sz="3000" dirty="0" err="1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парадигмальных</a:t>
            </a:r>
            <a:r>
              <a:rPr lang="ru-RU" altLang="ru-RU" sz="3000" dirty="0">
                <a:solidFill>
                  <a:prstClr val="black"/>
                </a:solidFill>
                <a:latin typeface="PT Sans"/>
                <a:cs typeface="Calibri" panose="020F0502020204030204" pitchFamily="34" charset="0"/>
              </a:rPr>
              <a:t> категорий и процедур</a:t>
            </a:r>
            <a:endParaRPr lang="ru-RU" altLang="ru-RU" sz="3000" dirty="0">
              <a:solidFill>
                <a:prstClr val="black"/>
              </a:solidFill>
              <a:latin typeface="PT Sans"/>
            </a:endParaRPr>
          </a:p>
        </p:txBody>
      </p:sp>
      <p:sp>
        <p:nvSpPr>
          <p:cNvPr id="5" name="Стрелка вниз 4">
            <a:extLst>
              <a:ext uri="{FF2B5EF4-FFF2-40B4-BE49-F238E27FC236}">
                <a16:creationId xmlns:a16="http://schemas.microsoft.com/office/drawing/2014/main" id="{288D615C-6359-49F4-B9DD-5850BA0E4534}"/>
              </a:ext>
            </a:extLst>
          </p:cNvPr>
          <p:cNvSpPr/>
          <p:nvPr/>
        </p:nvSpPr>
        <p:spPr>
          <a:xfrm>
            <a:off x="5736022" y="3627275"/>
            <a:ext cx="188913" cy="2873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98811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75413" y="404813"/>
            <a:ext cx="11868347" cy="481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Периоды научных революций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характеризуются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конкурентной борьбой сообществ, сторонников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  старой и появившейся парадигмы. 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2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srgbClr val="000000"/>
                </a:solidFill>
                <a:cs typeface="Calibri" panose="020F0502020204030204" pitchFamily="34" charset="0"/>
              </a:rPr>
              <a:t> История науки предстает как совокупность разобщенных и не понимающих друг друга научных сообществ. </a:t>
            </a:r>
            <a:endParaRPr lang="ru-RU" altLang="ru-RU" sz="3200" dirty="0" smtClea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>
                <a:solidFill>
                  <a:prstClr val="black"/>
                </a:solidFill>
                <a:cs typeface="Calibri" panose="020F0502020204030204" pitchFamily="34" charset="0"/>
              </a:rPr>
              <a:t>Нормальная наука – это работа в рамках заданной парадигмы</a:t>
            </a:r>
          </a:p>
          <a:p>
            <a:pPr algn="ctr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 smtClean="0">
                <a:solidFill>
                  <a:prstClr val="black"/>
                </a:solidFill>
                <a:cs typeface="Calibri" panose="020F0502020204030204" pitchFamily="34" charset="0"/>
              </a:rPr>
              <a:t>Научная </a:t>
            </a:r>
            <a:r>
              <a:rPr lang="ru-RU" altLang="ru-RU" sz="3200" dirty="0">
                <a:solidFill>
                  <a:prstClr val="black"/>
                </a:solidFill>
                <a:cs typeface="Calibri" panose="020F0502020204030204" pitchFamily="34" charset="0"/>
              </a:rPr>
              <a:t>революция  – это переход от одной парадигмы к другой</a:t>
            </a:r>
            <a:endParaRPr lang="ru-RU" altLang="ru-RU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377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81646" y="2795451"/>
            <a:ext cx="8995954" cy="1128361"/>
          </a:xfrm>
        </p:spPr>
        <p:txBody>
          <a:bodyPr/>
          <a:lstStyle/>
          <a:p>
            <a:r>
              <a:rPr lang="ru-RU" dirty="0"/>
              <a:t>7. Эпистемологический анархизм П. </a:t>
            </a:r>
            <a:r>
              <a:rPr lang="ru-RU" dirty="0" err="1"/>
              <a:t>Фейерабенда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47818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endParaRPr lang="ru-RU" altLang="ru-RU" dirty="0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67100" y="1084082"/>
            <a:ext cx="6750051" cy="4992869"/>
          </a:xfrm>
        </p:spPr>
        <p:txBody>
          <a:bodyPr/>
          <a:lstStyle/>
          <a:p>
            <a:pPr>
              <a:defRPr/>
            </a:pPr>
            <a:r>
              <a:rPr lang="ru-RU" b="1" dirty="0" smtClean="0"/>
              <a:t>В </a:t>
            </a:r>
            <a:r>
              <a:rPr lang="ru-RU" b="1" dirty="0"/>
              <a:t>р</a:t>
            </a:r>
            <a:r>
              <a:rPr lang="ru-RU" b="1" dirty="0" smtClean="0"/>
              <a:t>еальной науке рациональность смешана с иррациональностью</a:t>
            </a:r>
          </a:p>
          <a:p>
            <a:pPr algn="ctr">
              <a:spcBef>
                <a:spcPts val="300"/>
              </a:spcBef>
              <a:defRPr/>
            </a:pPr>
            <a:r>
              <a:rPr lang="ru-RU" dirty="0"/>
              <a:t>Термин «пролиферация» взят из </a:t>
            </a:r>
            <a:r>
              <a:rPr lang="ru-RU" dirty="0" smtClean="0"/>
              <a:t>биологии означает </a:t>
            </a:r>
            <a:endParaRPr lang="ru-RU" dirty="0"/>
          </a:p>
          <a:p>
            <a:pPr marL="0" indent="0" algn="ctr">
              <a:spcBef>
                <a:spcPts val="300"/>
              </a:spcBef>
              <a:buNone/>
              <a:defRPr/>
            </a:pPr>
            <a:r>
              <a:rPr lang="ru-RU" dirty="0"/>
              <a:t>разрастание ткани организма путём размножения клеток</a:t>
            </a:r>
          </a:p>
          <a:p>
            <a:pPr algn="ctr">
              <a:spcBef>
                <a:spcPts val="300"/>
              </a:spcBef>
              <a:defRPr/>
            </a:pPr>
            <a:endParaRPr lang="ru-RU" dirty="0"/>
          </a:p>
          <a:p>
            <a:pPr algn="ctr">
              <a:spcBef>
                <a:spcPts val="300"/>
              </a:spcBef>
              <a:defRPr/>
            </a:pPr>
            <a:r>
              <a:rPr lang="ru-RU" dirty="0"/>
              <a:t>Этот принцип призван обосновать плюрализм в методологии научного познания</a:t>
            </a:r>
            <a:endParaRPr lang="ru-RU" dirty="0">
              <a:ea typeface="Calibri" panose="020F0502020204030204" pitchFamily="34" charset="0"/>
            </a:endParaRPr>
          </a:p>
          <a:p>
            <a:pPr>
              <a:defRPr/>
            </a:pPr>
            <a:endParaRPr lang="ru-RU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68" y="1906116"/>
            <a:ext cx="1993565" cy="251786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90194" y="4788816"/>
            <a:ext cx="34596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 </a:t>
            </a:r>
            <a:r>
              <a:rPr lang="ru-RU" dirty="0" err="1"/>
              <a:t>Фейерабенд</a:t>
            </a:r>
            <a:r>
              <a:rPr lang="ru-RU" dirty="0"/>
              <a:t>  </a:t>
            </a:r>
            <a:endParaRPr lang="ru-RU" dirty="0" smtClean="0"/>
          </a:p>
          <a:p>
            <a:r>
              <a:rPr lang="ru-RU" dirty="0" smtClean="0"/>
              <a:t>(</a:t>
            </a:r>
            <a:r>
              <a:rPr lang="ru-RU" dirty="0"/>
              <a:t>1924-1994)</a:t>
            </a:r>
          </a:p>
        </p:txBody>
      </p:sp>
    </p:spTree>
    <p:extLst>
      <p:ext uri="{BB962C8B-B14F-4D97-AF65-F5344CB8AC3E}">
        <p14:creationId xmlns:p14="http://schemas.microsoft.com/office/powerpoint/2010/main" val="207239409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886627" y="942680"/>
            <a:ext cx="10425538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Познание представляет собой возрастающий океан взаимно несовместимых альтернатив,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каждая  отдельная теория,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каждая волшебная сказка,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каждый миф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являются частями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одной совокупности,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 взаимно усиливают,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дополняют друг друга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3200" dirty="0">
                <a:cs typeface="Calibri" panose="020F0502020204030204" pitchFamily="34" charset="0"/>
              </a:rPr>
              <a:t>и вносят свой вклад в развитие нашего познания. </a:t>
            </a:r>
            <a:endParaRPr lang="ru-RU" alt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73" y="2496777"/>
            <a:ext cx="18002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355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1AD11A-CE0E-463C-A0B7-3B8899F78183}"/>
              </a:ext>
            </a:extLst>
          </p:cNvPr>
          <p:cNvSpPr/>
          <p:nvPr/>
        </p:nvSpPr>
        <p:spPr>
          <a:xfrm>
            <a:off x="273377" y="765176"/>
            <a:ext cx="11698664" cy="4679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defRPr/>
            </a:pPr>
            <a:r>
              <a:rPr lang="ru-RU" sz="2800" dirty="0">
                <a:ea typeface="Calibri" panose="020F0502020204030204" pitchFamily="34" charset="0"/>
                <a:cs typeface="Times New Roman" panose="02020603050405020304" pitchFamily="18" charset="0"/>
              </a:rPr>
              <a:t>Ни одна идея никогда </a:t>
            </a:r>
          </a:p>
          <a:p>
            <a:pPr indent="450215" algn="ctr">
              <a:lnSpc>
                <a:spcPct val="107000"/>
              </a:lnSpc>
              <a:defRPr/>
            </a:pPr>
            <a:r>
              <a:rPr lang="ru-RU" sz="2800" dirty="0">
                <a:ea typeface="Calibri" panose="020F0502020204030204" pitchFamily="34" charset="0"/>
                <a:cs typeface="Times New Roman" panose="02020603050405020304" pitchFamily="18" charset="0"/>
              </a:rPr>
              <a:t>не была проанализирована полностью </a:t>
            </a:r>
          </a:p>
          <a:p>
            <a:pPr indent="450215" algn="ctr">
              <a:lnSpc>
                <a:spcPct val="107000"/>
              </a:lnSpc>
              <a:defRPr/>
            </a:pPr>
            <a:r>
              <a:rPr lang="ru-RU" sz="2800" dirty="0">
                <a:ea typeface="Calibri" panose="020F0502020204030204" pitchFamily="34" charset="0"/>
                <a:cs typeface="Times New Roman" panose="02020603050405020304" pitchFamily="18" charset="0"/>
              </a:rPr>
              <a:t>со всеми своими следствиями, </a:t>
            </a:r>
          </a:p>
          <a:p>
            <a:pPr indent="450215" algn="ctr">
              <a:lnSpc>
                <a:spcPct val="107000"/>
              </a:lnSpc>
              <a:defRPr/>
            </a:pPr>
            <a:r>
              <a:rPr lang="ru-RU" sz="2800" dirty="0">
                <a:ea typeface="Calibri" panose="020F0502020204030204" pitchFamily="34" charset="0"/>
                <a:cs typeface="Times New Roman" panose="02020603050405020304" pitchFamily="18" charset="0"/>
              </a:rPr>
              <a:t>ни одной концепции не были предоставлены все шансы на успех, </a:t>
            </a:r>
          </a:p>
          <a:p>
            <a:pPr indent="450215" algn="ctr">
              <a:lnSpc>
                <a:spcPct val="107000"/>
              </a:lnSpc>
              <a:defRPr/>
            </a:pPr>
            <a:r>
              <a:rPr lang="ru-RU" sz="2800" dirty="0">
                <a:ea typeface="Calibri" panose="020F0502020204030204" pitchFamily="34" charset="0"/>
                <a:cs typeface="Times New Roman" panose="02020603050405020304" pitchFamily="18" charset="0"/>
              </a:rPr>
              <a:t>которых она </a:t>
            </a:r>
            <a:r>
              <a:rPr lang="ru-RU" sz="2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заслуживает</a:t>
            </a:r>
          </a:p>
          <a:p>
            <a:pPr indent="450215" algn="ctr">
              <a:lnSpc>
                <a:spcPct val="107000"/>
              </a:lnSpc>
              <a:defRPr/>
            </a:pP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PT Sans"/>
                <a:ea typeface="Calibri" panose="020F0502020204030204" pitchFamily="34" charset="0"/>
                <a:cs typeface="Times New Roman" panose="02020603050405020304" pitchFamily="18" charset="0"/>
              </a:rPr>
              <a:t>Теории устраняются и заменяются более модными </a:t>
            </a:r>
          </a:p>
          <a:p>
            <a:pPr algn="ctr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PT Sans"/>
                <a:ea typeface="Calibri" panose="020F0502020204030204" pitchFamily="34" charset="0"/>
                <a:cs typeface="Times New Roman" panose="02020603050405020304" pitchFamily="18" charset="0"/>
              </a:rPr>
              <a:t>задолго до того,</a:t>
            </a:r>
          </a:p>
          <a:p>
            <a:pPr algn="ctr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PT Sans"/>
                <a:ea typeface="Calibri" panose="020F0502020204030204" pitchFamily="34" charset="0"/>
                <a:cs typeface="Times New Roman" panose="02020603050405020304" pitchFamily="18" charset="0"/>
              </a:rPr>
              <a:t> как им представится случай </a:t>
            </a:r>
          </a:p>
          <a:p>
            <a:pPr algn="ctr">
              <a:lnSpc>
                <a:spcPct val="107000"/>
              </a:lnSpc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PT Sans"/>
                <a:ea typeface="Calibri" panose="020F0502020204030204" pitchFamily="34" charset="0"/>
                <a:cs typeface="Times New Roman" panose="02020603050405020304" pitchFamily="18" charset="0"/>
              </a:rPr>
              <a:t>показать все свои достоинства </a:t>
            </a: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0595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F9EDF1-7955-43C8-80A5-4DDE5E11E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8" y="2133600"/>
            <a:ext cx="8513762" cy="39433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16404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4826" y="692150"/>
            <a:ext cx="8442325" cy="5384800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Задача ученого состоит не  в том, чтобы «искать истину», «систематизировать наблюдения» «прогнозировать» </a:t>
            </a:r>
          </a:p>
          <a:p>
            <a:pPr>
              <a:defRPr/>
            </a:pPr>
            <a:r>
              <a:rPr lang="ru-RU" dirty="0" smtClean="0"/>
              <a:t>Все побочные эффекты деятельности  ученого</a:t>
            </a:r>
          </a:p>
          <a:p>
            <a:pPr>
              <a:defRPr/>
            </a:pPr>
            <a:endParaRPr lang="ru-RU" dirty="0"/>
          </a:p>
          <a:p>
            <a:pPr marL="0" indent="0" algn="ctr">
              <a:buNone/>
              <a:defRPr/>
            </a:pPr>
            <a:r>
              <a:rPr lang="ru-RU" sz="3600" b="1" dirty="0"/>
              <a:t>«Делать слабое сильным»</a:t>
            </a:r>
          </a:p>
          <a:p>
            <a:pPr marL="0" indent="0">
              <a:buNone/>
              <a:defRPr/>
            </a:pPr>
            <a:r>
              <a:rPr lang="ru-RU" sz="2400" dirty="0"/>
              <a:t>мышление является «точкой опоры» в мире, неким «природным навигатором», которым нужно пользоваться для </a:t>
            </a:r>
          </a:p>
          <a:p>
            <a:pPr marL="0" indent="0">
              <a:buNone/>
              <a:defRPr/>
            </a:pPr>
            <a:r>
              <a:rPr lang="ru-RU" sz="2400" dirty="0"/>
              <a:t>соблюдение методологических правил не ведет к успеху в науке</a:t>
            </a:r>
          </a:p>
          <a:p>
            <a:pPr marL="0" indent="0">
              <a:buNone/>
              <a:defRPr/>
            </a:pPr>
            <a:r>
              <a:rPr lang="ru-RU" sz="2400" dirty="0"/>
              <a:t>прогресс в науке происходит часто тогда, когда нарушаются все принятые в науке правила. </a:t>
            </a:r>
          </a:p>
        </p:txBody>
      </p:sp>
    </p:spTree>
    <p:extLst>
      <p:ext uri="{BB962C8B-B14F-4D97-AF65-F5344CB8AC3E}">
        <p14:creationId xmlns:p14="http://schemas.microsoft.com/office/powerpoint/2010/main" val="3018014992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6576" y="260351"/>
            <a:ext cx="8893175" cy="738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ru-RU" altLang="ru-RU" sz="2800" b="1" dirty="0">
                <a:latin typeface="Times New Roman" panose="02020603050405020304" pitchFamily="18" charset="0"/>
              </a:rPr>
              <a:t/>
            </a:r>
            <a:br>
              <a:rPr lang="ru-RU" altLang="ru-RU" sz="2800" b="1" dirty="0">
                <a:latin typeface="Times New Roman" panose="02020603050405020304" pitchFamily="18" charset="0"/>
              </a:rPr>
            </a:br>
            <a:r>
              <a:rPr lang="ru-RU" altLang="ru-RU" sz="2800" b="1" dirty="0">
                <a:latin typeface="Times New Roman" panose="02020603050405020304" pitchFamily="18" charset="0"/>
              </a:rPr>
              <a:t/>
            </a:r>
            <a:br>
              <a:rPr lang="ru-RU" altLang="ru-RU" sz="2800" b="1" dirty="0">
                <a:latin typeface="Times New Roman" panose="02020603050405020304" pitchFamily="18" charset="0"/>
              </a:rPr>
            </a:br>
            <a:r>
              <a:rPr lang="ru-RU" altLang="ru-RU" sz="2800" b="1" dirty="0">
                <a:latin typeface="Times New Roman" panose="02020603050405020304" pitchFamily="18" charset="0"/>
              </a:rPr>
              <a:t>	</a:t>
            </a:r>
            <a:r>
              <a:rPr lang="ru-RU" altLang="ru-RU" sz="2800" dirty="0">
                <a:latin typeface="Times New Roman" panose="02020603050405020304" pitchFamily="18" charset="0"/>
              </a:rPr>
              <a:t>Свобода и наука </a:t>
            </a:r>
            <a:r>
              <a:rPr lang="ru-RU" altLang="ru-RU" sz="2800" dirty="0" smtClean="0">
                <a:latin typeface="Times New Roman" panose="02020603050405020304" pitchFamily="18" charset="0"/>
              </a:rPr>
              <a:t>несовместимы?</a:t>
            </a:r>
            <a:br>
              <a:rPr lang="ru-RU" altLang="ru-RU" sz="2800" dirty="0" smtClean="0">
                <a:latin typeface="Times New Roman" panose="02020603050405020304" pitchFamily="18" charset="0"/>
              </a:rPr>
            </a:br>
            <a:r>
              <a:rPr lang="ru-RU" altLang="ru-RU" sz="2800" dirty="0" smtClean="0">
                <a:latin typeface="Times New Roman" panose="02020603050405020304" pitchFamily="18" charset="0"/>
              </a:rPr>
              <a:t> </a:t>
            </a:r>
            <a:r>
              <a:rPr lang="ru-RU" altLang="ru-RU" sz="2800" dirty="0">
                <a:latin typeface="Times New Roman" panose="02020603050405020304" pitchFamily="18" charset="0"/>
              </a:rPr>
              <a:t>поскольку наука догматизирует одну традицию как «научную идеологию», попирая при этом множество традиций различных культур. 	</a:t>
            </a:r>
            <a:br>
              <a:rPr lang="ru-RU" altLang="ru-RU" sz="2800" dirty="0">
                <a:latin typeface="Times New Roman" panose="02020603050405020304" pitchFamily="18" charset="0"/>
              </a:rPr>
            </a:br>
            <a:r>
              <a:rPr lang="ru-RU" altLang="ru-RU" sz="2800" dirty="0">
                <a:latin typeface="Times New Roman" panose="02020603050405020304" pitchFamily="18" charset="0"/>
              </a:rPr>
              <a:t/>
            </a:r>
            <a:br>
              <a:rPr lang="ru-RU" altLang="ru-RU" sz="2800" dirty="0">
                <a:latin typeface="Times New Roman" panose="02020603050405020304" pitchFamily="18" charset="0"/>
              </a:rPr>
            </a:br>
            <a:r>
              <a:rPr lang="ru-RU" altLang="ru-RU" sz="2800" b="1" dirty="0">
                <a:latin typeface="Times New Roman" panose="02020603050405020304" pitchFamily="18" charset="0"/>
              </a:rPr>
              <a:t>Все традиции равноправны</a:t>
            </a:r>
            <a:br>
              <a:rPr lang="ru-RU" altLang="ru-RU" sz="2800" b="1" dirty="0">
                <a:latin typeface="Times New Roman" panose="02020603050405020304" pitchFamily="18" charset="0"/>
              </a:rPr>
            </a:br>
            <a:r>
              <a:rPr lang="ru-RU" altLang="ru-RU" sz="2800" dirty="0">
                <a:latin typeface="Times New Roman" panose="02020603050405020304" pitchFamily="18" charset="0"/>
              </a:rPr>
              <a:t>характеристика желательности или нежелательности в отношении традиции возникает из сопоставления различных традиций и субъективной оценки, выдвигающий «свою» традицию в качестве предпочтительной, мерила, эталона ценности других традиций</a:t>
            </a:r>
          </a:p>
        </p:txBody>
      </p:sp>
    </p:spTree>
    <p:extLst>
      <p:ext uri="{BB962C8B-B14F-4D97-AF65-F5344CB8AC3E}">
        <p14:creationId xmlns:p14="http://schemas.microsoft.com/office/powerpoint/2010/main" val="4031455077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b="1" smtClean="0"/>
              <a:t>Принцип пролиферации -</a:t>
            </a:r>
            <a:r>
              <a:rPr lang="ru-RU" altLang="ru-RU" smtClean="0"/>
              <a:t> нужно изобретать (размножать) и разрабатывать теории и концепции, несовместимые с существующими и признанными теориями. </a:t>
            </a:r>
          </a:p>
          <a:p>
            <a:pPr eaLnBrk="1" hangingPunct="1">
              <a:defRPr/>
            </a:pPr>
            <a:r>
              <a:rPr lang="ru-RU" altLang="ru-RU" b="1" smtClean="0"/>
              <a:t>Принцип несоизмеримости - </a:t>
            </a:r>
            <a:r>
              <a:rPr lang="ru-RU" altLang="ru-RU" smtClean="0"/>
              <a:t>теории невозможно сравнивать, </a:t>
            </a:r>
          </a:p>
          <a:p>
            <a:pPr eaLnBrk="1" hangingPunct="1">
              <a:buFontTx/>
              <a:buNone/>
              <a:defRPr/>
            </a:pPr>
            <a:r>
              <a:rPr lang="ru-RU" altLang="ru-RU" smtClean="0"/>
              <a:t>этот принцип защищает </a:t>
            </a:r>
          </a:p>
          <a:p>
            <a:pPr eaLnBrk="1" hangingPunct="1">
              <a:buFontTx/>
              <a:buNone/>
              <a:defRPr/>
            </a:pPr>
            <a:r>
              <a:rPr lang="ru-RU" altLang="ru-RU" smtClean="0"/>
              <a:t>любую концепцию от </a:t>
            </a:r>
          </a:p>
          <a:p>
            <a:pPr eaLnBrk="1" hangingPunct="1">
              <a:buFontTx/>
              <a:buNone/>
              <a:defRPr/>
            </a:pPr>
            <a:r>
              <a:rPr lang="ru-RU" altLang="ru-RU" smtClean="0"/>
              <a:t>внешней критики со стороны</a:t>
            </a:r>
          </a:p>
          <a:p>
            <a:pPr eaLnBrk="1" hangingPunct="1">
              <a:buFontTx/>
              <a:buNone/>
              <a:defRPr/>
            </a:pPr>
            <a:r>
              <a:rPr lang="ru-RU" altLang="ru-RU" smtClean="0"/>
              <a:t>других концепций. </a:t>
            </a:r>
          </a:p>
          <a:p>
            <a:pPr eaLnBrk="1" hangingPunct="1">
              <a:defRPr/>
            </a:pPr>
            <a:endParaRPr lang="ru-RU" altLang="ru-RU" smtClean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5886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9" y="404813"/>
            <a:ext cx="7850187" cy="5778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altLang="ru-RU" sz="4000" dirty="0"/>
              <a:t>                      Методологическая </a:t>
            </a:r>
            <a:br>
              <a:rPr lang="ru-RU" altLang="ru-RU" sz="4000" dirty="0"/>
            </a:br>
            <a:r>
              <a:rPr lang="ru-RU" altLang="ru-RU" sz="4000" dirty="0"/>
              <a:t>                       основа анархизма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-315913"/>
            <a:ext cx="8693150" cy="63928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  <a:defRPr/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  <a:defRPr/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  <a:defRPr/>
            </a:pPr>
            <a:endParaRPr lang="ru-RU" altLang="ru-RU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ru-RU" altLang="ru-RU" dirty="0" smtClean="0"/>
              <a:t>Соединение принципа пролиферации с принципом несоизмеримости образует методологическую основу анархизма: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u-RU" altLang="ru-RU" dirty="0" smtClean="0"/>
              <a:t>существует лишь один принцип, который можно защищать при всех обстоятельствах и на всех этапах развития человечества –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ru-RU" altLang="ru-RU" b="1" dirty="0" smtClean="0"/>
              <a:t>все допустимо и все оправдано</a:t>
            </a:r>
            <a:endParaRPr lang="ru-RU" altLang="ru-RU" dirty="0" smtClean="0"/>
          </a:p>
        </p:txBody>
      </p:sp>
      <p:pic>
        <p:nvPicPr>
          <p:cNvPr id="116740" name="Picture 6" descr="526788_html_3833f81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38" y="3429001"/>
            <a:ext cx="2855912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4180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117763" name="Прямоугольник 2"/>
          <p:cNvSpPr>
            <a:spLocks noChangeArrowheads="1"/>
          </p:cNvSpPr>
          <p:nvPr/>
        </p:nvSpPr>
        <p:spPr bwMode="auto">
          <a:xfrm>
            <a:off x="1919288" y="1125538"/>
            <a:ext cx="842486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Arial" panose="020B0604020202020204" pitchFamily="34" charset="0"/>
              </a:rPr>
              <a:t>Появление </a:t>
            </a:r>
            <a:r>
              <a:rPr lang="ru-RU" altLang="ru-RU" sz="2000" b="1">
                <a:latin typeface="Arial" panose="020B0604020202020204" pitchFamily="34" charset="0"/>
              </a:rPr>
              <a:t>постмодернизма</a:t>
            </a:r>
            <a:r>
              <a:rPr lang="ru-RU" altLang="ru-RU" sz="2000">
                <a:latin typeface="Arial" panose="020B0604020202020204" pitchFamily="34" charset="0"/>
              </a:rPr>
              <a:t> можно датировать со времен послевоенного бума в Соединенных Штатах (с конца 1940-х — начала 1950-х гг.), а во Франции — с установления Пятой республики (1958 г.).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Arial" panose="020B0604020202020204" pitchFamily="34" charset="0"/>
              </a:rPr>
              <a:t> Впервые понятие «постмодернизм» в смысле, приближенном к сегодняшнему, употребил </a:t>
            </a:r>
            <a:r>
              <a:rPr lang="ru-RU" altLang="ru-RU" sz="2000" b="1">
                <a:latin typeface="Arial" panose="020B0604020202020204" pitchFamily="34" charset="0"/>
              </a:rPr>
              <a:t>в 1946 г. Арнольд Тойнби</a:t>
            </a:r>
            <a:r>
              <a:rPr lang="ru-RU" altLang="ru-RU" sz="20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Arial" panose="020B0604020202020204" pitchFamily="34" charset="0"/>
              </a:rPr>
              <a:t> Немецкий философ Вольфганг Вельш, исследуя генеалогию этого понятия, отмечает и другие случаи его употребления: </a:t>
            </a:r>
            <a:r>
              <a:rPr lang="ru-RU" altLang="ru-RU" sz="2000" b="1">
                <a:latin typeface="Arial" panose="020B0604020202020204" pitchFamily="34" charset="0"/>
              </a:rPr>
              <a:t>в 1917 году в книге Рудольфа Паннвитца «Кризис европейской культуры», </a:t>
            </a:r>
            <a:r>
              <a:rPr lang="ru-RU" altLang="ru-RU" sz="2000">
                <a:latin typeface="Arial" panose="020B0604020202020204" pitchFamily="34" charset="0"/>
              </a:rPr>
              <a:t>где речь идет о «постмодерном человеке» ;</a:t>
            </a:r>
            <a:r>
              <a:rPr lang="ru-RU" altLang="ru-RU" sz="2000" b="1">
                <a:latin typeface="Arial" panose="020B0604020202020204" pitchFamily="34" charset="0"/>
              </a:rPr>
              <a:t>в 1934 году у испанского литературоведа Федерико де Ониса,</a:t>
            </a:r>
            <a:r>
              <a:rPr lang="ru-RU" altLang="ru-RU" sz="2000">
                <a:latin typeface="Arial" panose="020B0604020202020204" pitchFamily="34" charset="0"/>
              </a:rPr>
              <a:t> где постмодернизм рассматривается как </a:t>
            </a:r>
            <a:r>
              <a:rPr lang="ru-RU" altLang="ru-RU" sz="2000" b="1">
                <a:latin typeface="Arial" panose="020B0604020202020204" pitchFamily="34" charset="0"/>
              </a:rPr>
              <a:t>промежуточная фаза в развитии литературы </a:t>
            </a:r>
            <a:r>
              <a:rPr lang="ru-RU" altLang="ru-RU" sz="2000">
                <a:latin typeface="Arial" panose="020B0604020202020204" pitchFamily="34" charset="0"/>
              </a:rPr>
              <a:t>(1905–1914) между модернизмом и так называемым «ультрамодернизмом» </a:t>
            </a:r>
          </a:p>
        </p:txBody>
      </p:sp>
    </p:spTree>
    <p:extLst>
      <p:ext uri="{BB962C8B-B14F-4D97-AF65-F5344CB8AC3E}">
        <p14:creationId xmlns:p14="http://schemas.microsoft.com/office/powerpoint/2010/main" val="15271482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03388" y="404813"/>
            <a:ext cx="4679950" cy="590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ru-RU" altLang="ru-RU" sz="2400" b="1">
                <a:latin typeface="Times New Roman" panose="02020603050405020304" pitchFamily="18" charset="0"/>
              </a:rPr>
              <a:t>Один из столпов  современного философского постмодернизма, француз Жан Бодрийяр (1929 г. рож.) </a:t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>В эпиграфе к своей книге "Прозрачность зла" он заявляет: "Коль скоро мир движется к бредовому положению вещей, и мы должны смещаться к бредовой точке зрения.«</a:t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/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/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>"Бредовая точка зрения" состоит в том, что история и реальность закончились, уступив место «гиперреальности» моделей, кодов и «симулякров». </a:t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/>
            </a:r>
            <a:br>
              <a:rPr lang="ru-RU" altLang="ru-RU" sz="2400" b="1">
                <a:latin typeface="Times New Roman" panose="02020603050405020304" pitchFamily="18" charset="0"/>
              </a:rPr>
            </a:br>
            <a:endParaRPr lang="ru-RU" altLang="ru-RU" sz="2400" b="1">
              <a:latin typeface="Times New Roman" panose="02020603050405020304" pitchFamily="18" charset="0"/>
            </a:endParaRPr>
          </a:p>
        </p:txBody>
      </p:sp>
      <p:pic>
        <p:nvPicPr>
          <p:cNvPr id="120835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1" y="404813"/>
            <a:ext cx="388937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TextBox 2"/>
          <p:cNvSpPr txBox="1">
            <a:spLocks noChangeArrowheads="1"/>
          </p:cNvSpPr>
          <p:nvPr/>
        </p:nvSpPr>
        <p:spPr bwMode="auto">
          <a:xfrm>
            <a:off x="7248526" y="5229225"/>
            <a:ext cx="3419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Jean Baudrillard (1929 - 2007)</a:t>
            </a:r>
          </a:p>
        </p:txBody>
      </p:sp>
    </p:spTree>
    <p:extLst>
      <p:ext uri="{BB962C8B-B14F-4D97-AF65-F5344CB8AC3E}">
        <p14:creationId xmlns:p14="http://schemas.microsoft.com/office/powerpoint/2010/main" val="1822832925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825" y="692150"/>
            <a:ext cx="8497888" cy="616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ru-RU" altLang="ru-RU" sz="2800" b="1">
                <a:latin typeface="Times New Roman" panose="02020603050405020304" pitchFamily="18" charset="0"/>
              </a:rPr>
              <a:t>По Бодрийяру, "симулякр" - это объект, симулирующий реальность. </a:t>
            </a:r>
            <a:br>
              <a:rPr lang="ru-RU" altLang="ru-RU" sz="2800" b="1">
                <a:latin typeface="Times New Roman" panose="02020603050405020304" pitchFamily="18" charset="0"/>
              </a:rPr>
            </a:br>
            <a:r>
              <a:rPr lang="ru-RU" altLang="ru-RU" sz="2800" b="1">
                <a:latin typeface="Times New Roman" panose="02020603050405020304" pitchFamily="18" charset="0"/>
              </a:rPr>
              <a:t>Чаще всего таким объектом является понятие, фиксированное в слове. </a:t>
            </a:r>
            <a:br>
              <a:rPr lang="ru-RU" altLang="ru-RU" sz="2800" b="1">
                <a:latin typeface="Times New Roman" panose="02020603050405020304" pitchFamily="18" charset="0"/>
              </a:rPr>
            </a:br>
            <a:r>
              <a:rPr lang="ru-RU" altLang="ru-RU" sz="2800" b="1">
                <a:latin typeface="Times New Roman" panose="02020603050405020304" pitchFamily="18" charset="0"/>
              </a:rPr>
              <a:t>Однако симулякр – отнюдь не отражение реальности. </a:t>
            </a:r>
            <a:br>
              <a:rPr lang="ru-RU" altLang="ru-RU" sz="2800" b="1">
                <a:latin typeface="Times New Roman" panose="02020603050405020304" pitchFamily="18" charset="0"/>
              </a:rPr>
            </a:br>
            <a:r>
              <a:rPr lang="ru-RU" altLang="ru-RU" sz="2800" b="1">
                <a:latin typeface="Times New Roman" panose="02020603050405020304" pitchFamily="18" charset="0"/>
              </a:rPr>
              <a:t>Бодрийяр утверждает, что симулякры предшествуют реальности и сама реальность, выводимая из симулякров, перестает быть реальностью, а делается симуляцией симуляции.</a:t>
            </a:r>
            <a:br>
              <a:rPr lang="ru-RU" altLang="ru-RU" sz="2800" b="1">
                <a:latin typeface="Times New Roman" panose="02020603050405020304" pitchFamily="18" charset="0"/>
              </a:rPr>
            </a:br>
            <a:endParaRPr lang="ru-RU" altLang="ru-RU" sz="2800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1533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929" y="1231767"/>
            <a:ext cx="1792950" cy="23905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204" y="1231767"/>
            <a:ext cx="1785826" cy="246563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878" y="4277936"/>
            <a:ext cx="1573198" cy="2463686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727092" y="6333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безумия в классическую эпоху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(1961)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823092" y="632146"/>
            <a:ext cx="3308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клиники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(1963)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8097032" y="3851953"/>
            <a:ext cx="2432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 и вещи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(1966)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719739" y="3851953"/>
            <a:ext cx="2977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Археология знания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(1969)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063" y="4301957"/>
            <a:ext cx="1562684" cy="2439664"/>
          </a:xfrm>
          <a:prstGeom prst="rect">
            <a:avLst/>
          </a:prstGeom>
        </p:spPr>
      </p:pic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4413412" y="0"/>
            <a:ext cx="4127673" cy="67333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труды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495" y="2427066"/>
            <a:ext cx="1499746" cy="234106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9500" y="3416607"/>
            <a:ext cx="1603387" cy="23471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876" y="1397123"/>
            <a:ext cx="2564863" cy="337101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9932" y="4952494"/>
            <a:ext cx="33809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Мишель </a:t>
            </a:r>
            <a:r>
              <a:rPr lang="ru-RU" dirty="0" smtClean="0"/>
              <a:t>Фуко</a:t>
            </a:r>
          </a:p>
          <a:p>
            <a:pPr algn="just"/>
            <a:r>
              <a:rPr lang="ru-RU" dirty="0" smtClean="0"/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1926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-1984 </a:t>
            </a:r>
            <a:r>
              <a:rPr lang="ru-RU" dirty="0" smtClean="0"/>
              <a:t> 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2266428"/>
      </p:ext>
    </p:extLst>
  </p:cSld>
  <p:clrMapOvr>
    <a:masterClrMapping/>
  </p:clrMapOvr>
  <p:transition spd="slow" advTm="6000">
    <p:cover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2" y="135595"/>
            <a:ext cx="8911687" cy="728701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Философские взгляды Мишеля Фуко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414" y="772998"/>
            <a:ext cx="11429198" cy="386892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Творчество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 Фуко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строится на трёх вопросах взятых у </a:t>
            </a:r>
            <a:r>
              <a:rPr lang="ru-RU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Иммануила Канта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именно: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Что я могу знать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Что я должен делать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На что я смею надеяться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попытке ответить на данные вопросы, прослеженная история мысли 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 Фуко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распадается на три периода: 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«археология знания», 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«генеалогия власти-знания», </a:t>
            </a:r>
          </a:p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«эстетика существования».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294" y="3921550"/>
            <a:ext cx="2317038" cy="20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58832"/>
      </p:ext>
    </p:extLst>
  </p:cSld>
  <p:clrMapOvr>
    <a:masterClrMapping/>
  </p:clrMapOvr>
  <p:transition spd="slow" advTm="9000">
    <p:cover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04973" y="537328"/>
            <a:ext cx="10599639" cy="382685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Археологический подход предполагает весьма нетрадиционный взгляд на, казалось бы, привычные концептуальные и исторические реалии, на всю историю познания. Так, медицинские и, в частности, психиатрические понятия, утверждает 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 Фуко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работах этого периода, не заданы внутренним развитием соответствующих областей познания; они определяются прежде всего социальными – экономическим, политическим, мировоззренческими причинами.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97593"/>
      </p:ext>
    </p:extLst>
  </p:cSld>
  <p:clrMapOvr>
    <a:masterClrMapping/>
  </p:clrMapOvr>
  <p:transition spd="slow" advTm="14000">
    <p:cover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2488" y="904973"/>
            <a:ext cx="11052124" cy="227048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70-е годы связаны с разработкой политической теории, в рамках которой воля к истине соединяется с волей к власти. Наиболее отчётливо этот теоретический поворот появился в работах «Надзиратель: рождение тюрьмы» (1975) и «Воля к знани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(1976). Прослеживаются тенденции в исследовании власти. </a:t>
            </a:r>
          </a:p>
          <a:p>
            <a:pPr marL="0" indent="0" algn="just">
              <a:buNone/>
            </a:pPr>
            <a:r>
              <a:rPr lang="ru-RU" dirty="0" smtClean="0"/>
              <a:t>Проблему </a:t>
            </a:r>
            <a:r>
              <a:rPr lang="ru-RU" dirty="0"/>
              <a:t>власти следует формулировать не в терминах юриспруденции, а в понятиях технологии, тактики (пространственной организации людей), стратегии и микро-физики (оптики и механики)</a:t>
            </a:r>
            <a:br>
              <a:rPr lang="ru-RU" dirty="0"/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868" y="3957367"/>
            <a:ext cx="2222775" cy="266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33277"/>
      </p:ext>
    </p:extLst>
  </p:cSld>
  <p:clrMapOvr>
    <a:masterClrMapping/>
  </p:clrMapOvr>
  <p:transition spd="slow" advTm="13000">
    <p:cover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4000" y="508000"/>
            <a:ext cx="11250612" cy="345717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Конец 70-х и 80-е годы творчества появляется понятие «субъект», а вместе с ним выдвигается на рассмотрение тема сексуальности, вопросы этики, морали и свободы. </a:t>
            </a:r>
            <a:endParaRPr lang="ru-RU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 smtClean="0"/>
              <a:t>Новый </a:t>
            </a:r>
            <a:r>
              <a:rPr lang="ru-RU" dirty="0" smtClean="0"/>
              <a:t>тип власти – </a:t>
            </a:r>
            <a:r>
              <a:rPr lang="ru-RU" b="1" dirty="0" err="1" smtClean="0"/>
              <a:t>биовласть</a:t>
            </a:r>
            <a:r>
              <a:rPr lang="ru-RU" dirty="0" smtClean="0"/>
              <a:t> -тотальная </a:t>
            </a:r>
            <a:r>
              <a:rPr lang="ru-RU" dirty="0"/>
              <a:t>власть над жизнью во всех её проявлениях, свойственную западным обществам в период технической и промышленной революции Нового времени, создавших материальную базу для подобного типа власти. </a:t>
            </a:r>
            <a:endParaRPr lang="ru-RU" dirty="0" smtClean="0"/>
          </a:p>
          <a:p>
            <a:pPr marL="0" indent="0" algn="just">
              <a:buNone/>
            </a:pPr>
            <a:r>
              <a:rPr lang="ru-RU" sz="2000" dirty="0" smtClean="0"/>
              <a:t>Политическая </a:t>
            </a:r>
            <a:r>
              <a:rPr lang="ru-RU" sz="2000" dirty="0"/>
              <a:t>рациональность - это тип управления индивидами в отдельности и обществом в целом посредством истины, обнаруживаемой на пересечении власти и знания - власти как над собой так и над другими, и знания себя и других. Политическая рациональность предполагает, таким образом, познающую власть и властвующее знание: власть познаёт индивидов, субъективирует их, знание же делает возможным само господство, основывающееся на рациональности управления.</a:t>
            </a:r>
            <a:br>
              <a:rPr lang="ru-RU" sz="2000" dirty="0"/>
            </a:br>
            <a:endParaRPr lang="ru-RU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83839"/>
      </p:ext>
    </p:extLst>
  </p:cSld>
  <p:clrMapOvr>
    <a:masterClrMapping/>
  </p:clrMapOvr>
  <p:transition spd="slow" advTm="14000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C35E5ABC-F7F3-48C6-8922-A394D5FB2A3C}" vid="{95FD78CC-307C-40F4-9440-13386BF0948C}"/>
    </a:ext>
  </a:extLst>
</a:theme>
</file>

<file path=ppt/theme/theme2.xml><?xml version="1.0" encoding="utf-8"?>
<a:theme xmlns:a="http://schemas.openxmlformats.org/drawingml/2006/main" name="1_Тема1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C35E5ABC-F7F3-48C6-8922-A394D5FB2A3C}" vid="{95FD78CC-307C-40F4-9440-13386BF0948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2522</Words>
  <Application>Microsoft Office PowerPoint</Application>
  <PresentationFormat>Широкоэкранный</PresentationFormat>
  <Paragraphs>334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58</vt:i4>
      </vt:variant>
    </vt:vector>
  </HeadingPairs>
  <TitlesOfParts>
    <vt:vector size="65" baseType="lpstr">
      <vt:lpstr>Arial</vt:lpstr>
      <vt:lpstr>Calibri</vt:lpstr>
      <vt:lpstr>Calibri Light</vt:lpstr>
      <vt:lpstr>PT Sans</vt:lpstr>
      <vt:lpstr>Times New Roman</vt:lpstr>
      <vt:lpstr>Тема1</vt:lpstr>
      <vt:lpstr>1_Тема1</vt:lpstr>
      <vt:lpstr>Презентация PowerPoint</vt:lpstr>
      <vt:lpstr>4. Неопозитивистская концепция науки. .</vt:lpstr>
      <vt:lpstr>Презентация PowerPoint</vt:lpstr>
      <vt:lpstr>Презентация PowerPoint</vt:lpstr>
      <vt:lpstr>Идея «Венского кружка»  была инициирована   «Principia Mathematica» Рассела  и Уайтхеда </vt:lpstr>
      <vt:lpstr>Principia Mathematica</vt:lpstr>
      <vt:lpstr>Презентация PowerPoint</vt:lpstr>
      <vt:lpstr>Презентация PowerPoint</vt:lpstr>
      <vt:lpstr>Презентация PowerPoint</vt:lpstr>
      <vt:lpstr>Людвиг Йозеф Иоганн Витгенштейн  (1889 - 1951 ) 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Критический рационализм К. Поппера.</vt:lpstr>
      <vt:lpstr>5. Критический рационализм К. Поппера.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6 Концепция исследовательских программ И. Лакатоса.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7. Т. Кун об исторической динамике науки.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7. Эпистемологический анархизм П. Фейерабенда. </vt:lpstr>
      <vt:lpstr>Презентация PowerPoint</vt:lpstr>
      <vt:lpstr>Презентация PowerPoint</vt:lpstr>
      <vt:lpstr>Презентация PowerPoint</vt:lpstr>
      <vt:lpstr>Презентация PowerPoint</vt:lpstr>
      <vt:lpstr>   Свобода и наука несовместимы?  поскольку наука догматизирует одну традицию как «научную идеологию», попирая при этом множество традиций различных культур.    Все традиции равноправны характеристика желательности или нежелательности в отношении традиции возникает из сопоставления различных традиций и субъективной оценки, выдвигающий «свою» традицию в качестве предпочтительной, мерила, эталона ценности других традиций</vt:lpstr>
      <vt:lpstr>Презентация PowerPoint</vt:lpstr>
      <vt:lpstr>                      Методологическая                         основа анархизма</vt:lpstr>
      <vt:lpstr>Презентация PowerPoint</vt:lpstr>
      <vt:lpstr>Один из столпов  современного философского постмодернизма, француз Жан Бодрийяр (1929 г. рож.)  В эпиграфе к своей книге "Прозрачность зла" он заявляет: "Коль скоро мир движется к бредовому положению вещей, и мы должны смещаться к бредовой точке зрения.«   "Бредовая точка зрения" состоит в том, что история и реальность закончились, уступив место «гиперреальности» моделей, кодов и «симулякров».   </vt:lpstr>
      <vt:lpstr>По Бодрийяру, "симулякр" - это объект, симулирующий реальность.  Чаще всего таким объектом является понятие, фиксированное в слове.  Однако симулякр – отнюдь не отражение реальности.  Бодрийяр утверждает, что симулякры предшествуют реальности и сама реальность, выводимая из симулякров, перестает быть реальностью, а делается симуляцией симуляции. </vt:lpstr>
      <vt:lpstr>Основные труды</vt:lpstr>
      <vt:lpstr>Философские взгляды Мишеля Фуко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27</cp:revision>
  <dcterms:created xsi:type="dcterms:W3CDTF">2022-12-10T12:04:58Z</dcterms:created>
  <dcterms:modified xsi:type="dcterms:W3CDTF">2023-02-02T22:15:16Z</dcterms:modified>
</cp:coreProperties>
</file>