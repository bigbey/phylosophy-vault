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4"/>
    <p:sldId id="268" r:id="rId15"/>
    <p:sldId id="269" r:id="rId16"/>
    <p:sldId id="270" r:id="rId17"/>
    <p:sldId id="271" r:id="rId18"/>
    <p:sldId id="286" r:id="rId19"/>
    <p:sldId id="272" r:id="rId20"/>
    <p:sldId id="287" r:id="rId21"/>
    <p:sldId id="288" r:id="rId22"/>
    <p:sldId id="289" r:id="rId23"/>
    <p:sldId id="292" r:id="rId24"/>
    <p:sldId id="293" r:id="rId25"/>
    <p:sldId id="294" r:id="rId26"/>
    <p:sldId id="295" r:id="rId27"/>
    <p:sldId id="274" r:id="rId28"/>
    <p:sldId id="275" r:id="rId29"/>
    <p:sldId id="277" r:id="rId30"/>
    <p:sldId id="278" r:id="rId31"/>
    <p:sldId id="279" r:id="rId32"/>
    <p:sldId id="297" r:id="rId33"/>
    <p:sldId id="296" r:id="rId34"/>
    <p:sldId id="299" r:id="rId35"/>
    <p:sldId id="280" r:id="rId36"/>
    <p:sldId id="281" r:id="rId37"/>
    <p:sldId id="282" r:id="rId38"/>
    <p:sldId id="283" r:id="rId39"/>
    <p:sldId id="284" r:id="rId40"/>
    <p:sldId id="300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9" autoAdjust="0"/>
    <p:restoredTop sz="94660"/>
  </p:normalViewPr>
  <p:slideViewPr>
    <p:cSldViewPr snapToGrid="0">
      <p:cViewPr varScale="1">
        <p:scale>
          <a:sx n="88" d="100"/>
          <a:sy n="88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28E93-9B83-492C-AAE3-9950DEF90973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9A2D4-1B9C-4CF7-A90C-B71FE4293586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C91BA7-CA02-4A01-A9A8-D6B6CA3362E5}" type="slidenum">
              <a:rPr kumimoji="0" lang="ru-RU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ru-RU" altLang="ru-RU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531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3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15C9F6-C94A-4A1C-9837-8790E32F8A70}" type="slidenum">
              <a:rPr kumimoji="0" lang="ru-RU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</a:fld>
            <a:endParaRPr kumimoji="0" lang="ru-RU" altLang="ru-RU" sz="1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2141539"/>
            <a:ext cx="12192000" cy="24542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5"/>
            <a:ext cx="10363200" cy="165246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51139"/>
            <a:ext cx="10363200" cy="416689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/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DBB9DD5-E060-43FE-BE50-EED8A5600C48}" type="datetimeFigureOut">
              <a:rPr lang="ru-RU" smtClean="0">
                <a:solidFill>
                  <a:prstClr val="white"/>
                </a:solidFill>
              </a:rPr>
            </a:fld>
            <a:endParaRPr lang="ru-RU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944689"/>
            <a:ext cx="12192000" cy="3043237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903288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Объект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467" y="4763"/>
            <a:ext cx="10515600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Изображение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18" y="284164"/>
            <a:ext cx="25781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0" y="6413500"/>
            <a:ext cx="12192000" cy="469900"/>
          </a:xfrm>
          <a:prstGeom prst="rect">
            <a:avLst/>
          </a:prstGeom>
          <a:solidFill>
            <a:srgbClr val="21A649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rgbClr val="37B34A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rgbClr val="37B34A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9" name="Дата 16"/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365125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DE0C77-58A1-40C4-80E8-C62DA019950B}" type="datetimeFigureOut">
              <a:rPr lang="ru-RU" smtClean="0">
                <a:solidFill>
                  <a:prstClr val="white"/>
                </a:solidFill>
              </a:rPr>
            </a:fld>
            <a:endParaRPr lang="ru-RU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83400"/>
          </a:xfrm>
          <a:prstGeom prst="rect">
            <a:avLst/>
          </a:prstGeom>
          <a:solidFill>
            <a:srgbClr val="434343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914400" y="2271344"/>
            <a:ext cx="10363200" cy="1895538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bg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914400" y="4247906"/>
            <a:ext cx="10363200" cy="46299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PT Sans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6" name="Дата 16"/>
          <p:cNvSpPr>
            <a:spLocks noGrp="1"/>
          </p:cNvSpPr>
          <p:nvPr>
            <p:ph type="dt" sz="half" idx="10"/>
          </p:nvPr>
        </p:nvSpPr>
        <p:spPr>
          <a:xfrm>
            <a:off x="4724400" y="6437314"/>
            <a:ext cx="2743200" cy="420687"/>
          </a:xfrm>
        </p:spPr>
        <p:txBody>
          <a:bodyPr anchorCtr="0"/>
          <a:lstStyle>
            <a:lvl1pPr algn="ctr">
              <a:defRPr sz="1600" baseline="0">
                <a:solidFill>
                  <a:schemeClr val="bg1"/>
                </a:solidFill>
                <a:effectLst/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267A818-1D8A-491C-A8DF-5E1868AAD494}" type="datetimeFigureOut">
              <a:rPr lang="ru-RU" smtClean="0">
                <a:solidFill>
                  <a:prstClr val="white"/>
                </a:solidFill>
              </a:rPr>
            </a:fld>
            <a:endParaRPr lang="ru-RU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944689"/>
            <a:ext cx="12192000" cy="2060575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Изображение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914400" y="2201897"/>
            <a:ext cx="10363200" cy="1513577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l" fontAlgn="t">
              <a:defRPr sz="2400" b="1" i="0"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ая_страница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65" y="868102"/>
            <a:ext cx="11052751" cy="5208607"/>
          </a:xfrm>
          <a:effectLst>
            <a:outerShdw blurRad="50800" dist="50800" dir="5400000" algn="ctr" rotWithShape="0">
              <a:srgbClr val="EBEBEB"/>
            </a:outerShdw>
          </a:effectLst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3AEDE0-4A2E-4AB6-A6C8-A0CC5347AFBD}" type="slidenum">
              <a:rPr lang="ru-RU" smtClean="0">
                <a:solidFill>
                  <a:prstClr val="black"/>
                </a:solidFill>
              </a:rPr>
            </a:fld>
            <a:endParaRPr lang="ru-RU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раница_2_колонки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Изображение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537365" y="863591"/>
            <a:ext cx="5482435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863591"/>
            <a:ext cx="5417916" cy="53133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589942" y="1"/>
            <a:ext cx="9000175" cy="57794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>
              <a:defRPr sz="2000" b="1" i="0" baseline="0">
                <a:latin typeface="PT Sans" charset="-52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83351"/>
            <a:ext cx="2743200" cy="365125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6DFF2C1-5C80-43D5-A8C4-F0E4F8590B76}" type="slidenum">
              <a:rPr lang="ru-RU" smtClean="0">
                <a:solidFill>
                  <a:prstClr val="black"/>
                </a:solidFill>
              </a:rPr>
            </a:fld>
            <a:endParaRPr lang="ru-RU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18" y="179389"/>
            <a:ext cx="1418167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345878D-6B7A-4BA9-855C-FB0D06C31212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6181822-0D56-45F3-A9AC-2E262786160A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6462714"/>
            <a:ext cx="12192000" cy="3952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50800" dir="16200000" algn="ctr" rotWithShape="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5778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50800" dir="5400000" algn="ctr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Изображение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4" y="171451"/>
            <a:ext cx="1515533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2590800" y="0"/>
            <a:ext cx="9000067" cy="577850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i="0" kern="1200" baseline="0">
                <a:solidFill>
                  <a:schemeClr val="tx1"/>
                </a:solidFill>
                <a:latin typeface="PT Sans" charset="-52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T Sans" charset="-52"/>
                <a:ea typeface="+mj-ea"/>
                <a:cs typeface="+mj-cs"/>
              </a:rPr>
              <a:t>Образец заголовка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3809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" name="Дата 2"/>
          <p:cNvSpPr>
            <a:spLocks noGrp="1"/>
          </p:cNvSpPr>
          <p:nvPr>
            <p:ph type="dt" sz="half" idx="10"/>
          </p:nvPr>
        </p:nvSpPr>
        <p:spPr>
          <a:xfrm>
            <a:off x="838200" y="6483351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4A7E7C5-A301-4AE9-8445-D870C6CBE0BF}" type="datetimeFigureOut">
              <a:rPr lang="ru-RU" smtClean="0">
                <a:solidFill>
                  <a:prstClr val="black">
                    <a:lumMod val="75000"/>
                    <a:lumOff val="25000"/>
                  </a:prstClr>
                </a:solidFill>
              </a:rPr>
            </a:fld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483351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610600" y="6494464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PT Sans" charset="-52"/>
                <a:ea typeface="PT Sans" charset="-52"/>
                <a:cs typeface="PT Sans" charset="-5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EF3DAB8-E242-4B8F-A33E-25C09CDC7125}" type="slidenum">
              <a:rPr lang="ru-RU" smtClean="0">
                <a:solidFill>
                  <a:prstClr val="black">
                    <a:lumMod val="75000"/>
                    <a:lumOff val="25000"/>
                  </a:prstClr>
                </a:solidFill>
              </a:rPr>
            </a:fld>
            <a:endParaRPr lang="ru-RU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_за_внимани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0B0A08B-7456-43CB-8C05-A31EB723E5A1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B2B475F-00C5-4419-80AE-CEE6C6DA3E6E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2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47F85A6-4A28-4477-A450-C38440742DBD}" type="slidenum">
              <a:rPr lang="ru-RU" alt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ru-RU" alt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Заголовок, объект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ru-RU" altLang="ru-RU" smtClean="0"/>
              <a:t>Образец текста</a:t>
            </a:r>
            <a:endParaRPr lang="ru-RU" altLang="ru-RU" smtClean="0"/>
          </a:p>
          <a:p>
            <a:pPr lvl="1"/>
            <a:r>
              <a:rPr lang="ru-RU" altLang="ru-RU" smtClean="0"/>
              <a:t>Второй уровень</a:t>
            </a:r>
            <a:endParaRPr lang="ru-RU" altLang="ru-RU" smtClean="0"/>
          </a:p>
          <a:p>
            <a:pPr lvl="2"/>
            <a:r>
              <a:rPr lang="ru-RU" altLang="ru-RU" smtClean="0"/>
              <a:t>Третий уровень</a:t>
            </a:r>
            <a:endParaRPr lang="ru-RU" altLang="ru-RU" smtClean="0"/>
          </a:p>
          <a:p>
            <a:pPr lvl="3"/>
            <a:r>
              <a:rPr lang="ru-RU" altLang="ru-RU" smtClean="0"/>
              <a:t>Четвертый уровень</a:t>
            </a:r>
            <a:endParaRPr lang="ru-RU" altLang="ru-RU" smtClean="0"/>
          </a:p>
          <a:p>
            <a:pPr lvl="4"/>
            <a:r>
              <a:rPr lang="ru-RU" altLang="ru-RU" smtClean="0"/>
              <a:t>Пятый уровень</a:t>
            </a:r>
            <a:endParaRPr lang="en-US" alt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3F41C32-B87B-49BC-9673-8CFEB4C493F1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E3FFC6B-74C4-4C98-ACD9-8A062E456F68}" type="slidenum">
              <a:rPr lang="ru-RU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</a:fld>
            <a:endParaRPr lang="ru-RU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hyperlink" Target="http://ru.wikipedia.org/wiki/%D0%9E%D0%BF%D1%8B%D1%82%D0%BD%D0%BE%D0%B5_%D0%B7%D0%BD%D0%B0%D0%BD%D0%B8%D0%B5" TargetMode="External"/><Relationship Id="rId4" Type="http://schemas.openxmlformats.org/officeDocument/2006/relationships/hyperlink" Target="http://ru.wikipedia.org/wiki/%D0%9E%D0%B1%D1%8A%D0%B5%D0%BA%D1%82" TargetMode="External"/><Relationship Id="rId3" Type="http://schemas.openxmlformats.org/officeDocument/2006/relationships/hyperlink" Target="http://ru.wikipedia.org/wiki/%D0%9C%D0%B0%D1%82%D0%B5%D1%80%D0%B8%D1%8F_%28%D1%84%D0%B8%D0%BB%D0%BE%D1%81%D0%BE%D1%84%D0%B8%D1%8F%29" TargetMode="External"/><Relationship Id="rId2" Type="http://schemas.openxmlformats.org/officeDocument/2006/relationships/hyperlink" Target="http://ru.wikipedia.org/wiki/%D0%A1%D1%83%D0%B1%D1%8A%D0%B5%D0%BA%D1%82" TargetMode="External"/><Relationship Id="rId1" Type="http://schemas.openxmlformats.org/officeDocument/2006/relationships/hyperlink" Target="http://ru.wikipedia.org/wiki/%D0%9C%D1%8B%D1%88%D0%BB%D0%B5%D0%BD%D0%B8%D0%B5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1847850" y="2276475"/>
            <a:ext cx="7850188" cy="1277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bIns="0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"ИСТОРИЯ И ФИЛОСОФИЯ НАУКИ”</a:t>
            </a:r>
            <a:endParaRPr lang="en-US" sz="4000" b="1" dirty="0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ru-RU" dirty="0"/>
              <a:t>Наука – деятельность по выявлению объективных связей и закономерностей действительности, ее цель – получение и наращивание знаний о мире, дающих возможность его преобразования. </a:t>
            </a:r>
            <a:endParaRPr lang="ru-RU" dirty="0"/>
          </a:p>
          <a:p>
            <a:r>
              <a:rPr lang="ru-RU" dirty="0"/>
              <a:t>В этом смысле – т.е. смысле стремления к познанию устройства мира – мы сталкиваемся с наукой еще в античности, а конкретнее – в античной философии – совершенно неординарном явлении для своего времени, состоявшем в познании ради познания, без какой-либо практической пользы, и создавшем понятие теории – на тот момент в значении мистического созерцания истины, мировой гармонии. 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dirty="0"/>
              <a:t> </a:t>
            </a:r>
            <a:r>
              <a:rPr lang="ru-RU" dirty="0" smtClean="0"/>
              <a:t>Для </a:t>
            </a:r>
            <a:r>
              <a:rPr lang="ru-RU" dirty="0"/>
              <a:t>греков весь корпус теоретических знаний о мире обозначался как «философия», «любовь к мудрости», что вроде бы дает право отождествлять науку и философию, во всяком случае говорить о том, что наука «выросла» из философии. Однако в строгом смысле слова, наука появляется только в XVII веке, когда она становится институционально организованной деятельностью, со своими нормами, требованиями, определенной иерархией 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024" y="868103"/>
            <a:ext cx="8489457" cy="5208607"/>
          </a:xfrm>
        </p:spPr>
        <p:txBody>
          <a:bodyPr/>
          <a:lstStyle/>
          <a:p>
            <a:r>
              <a:rPr lang="ru-RU" dirty="0" smtClean="0"/>
              <a:t> Уже </a:t>
            </a:r>
            <a:r>
              <a:rPr lang="ru-RU" dirty="0"/>
              <a:t>древние греки четко различали эмпирическое/чувственное познание и рациональное мышление, и выдвигали доводы в пользу то одного, то другого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smtClean="0"/>
              <a:t> Тем </a:t>
            </a:r>
            <a:r>
              <a:rPr lang="ru-RU" dirty="0"/>
              <a:t>не </a:t>
            </a:r>
            <a:r>
              <a:rPr lang="ru-RU" dirty="0" smtClean="0"/>
              <a:t>менее не </a:t>
            </a:r>
            <a:r>
              <a:rPr lang="ru-RU" dirty="0"/>
              <a:t>было какого-то канона, нормирующего процесс познания, результаты которого могли бы быть признаны универсальными и общезначимыми. Каждый ученый изобретал для себя некую метафизическую систему, исходя из которой занимался естественнонаучными, либо математическими исследованиями. 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течением времени расширение круга общения между интеллектуалами, обмен знаниями, в конечном итоге потребовал рефлексии над тем, как </a:t>
            </a:r>
            <a:r>
              <a:rPr lang="ru-RU" dirty="0" smtClean="0"/>
              <a:t>человек  познает. </a:t>
            </a:r>
            <a:endParaRPr lang="ru-RU" dirty="0" smtClean="0"/>
          </a:p>
          <a:p>
            <a:r>
              <a:rPr lang="ru-RU" dirty="0" smtClean="0"/>
              <a:t>Большую </a:t>
            </a:r>
            <a:r>
              <a:rPr lang="ru-RU" dirty="0"/>
              <a:t>роль в формировании научного дискурса сыграли университеты, которые появляются в XII веке и активно распространяются по Европе, формируя новый тип людей – профессиональных теоретиков. 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Исследование науки, как особого феномена, начинается в XIX веке. </a:t>
            </a:r>
            <a:endParaRPr lang="ru-RU" dirty="0" smtClean="0"/>
          </a:p>
          <a:p>
            <a:r>
              <a:rPr lang="ru-RU" dirty="0"/>
              <a:t>Философия предлагает много разных подходов к науке: это и кантианское видение, и гегельянское, и марксистско-ленинский подход, и феноменологическая трактовка и пр., пр., пр.). </a:t>
            </a:r>
            <a:endParaRPr lang="ru-RU" dirty="0" smtClean="0"/>
          </a:p>
          <a:p>
            <a:r>
              <a:rPr lang="ru-RU" dirty="0" smtClean="0"/>
              <a:t>Однако </a:t>
            </a:r>
            <a:r>
              <a:rPr lang="ru-RU" dirty="0"/>
              <a:t>есть и направление, конкретно направленное на науку, т.е. взявшее в качестве предмета своего интереса именно ее – это т.наз. позитивистская философия. 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Позитивистская философия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/>
              <a:t>З</a:t>
            </a:r>
            <a:r>
              <a:rPr lang="ru-RU" dirty="0" smtClean="0"/>
              <a:t>ародилась в первой половине XIX века и ко второй половине ХХ успело принять 4 различных формы: </a:t>
            </a:r>
            <a:endParaRPr lang="ru-RU" dirty="0" smtClean="0"/>
          </a:p>
          <a:p>
            <a:r>
              <a:rPr lang="ru-RU" dirty="0" smtClean="0"/>
              <a:t>- первый/классический позитивизм  (первая половина XIX века); </a:t>
            </a:r>
            <a:endParaRPr lang="ru-RU" dirty="0" smtClean="0"/>
          </a:p>
          <a:p>
            <a:r>
              <a:rPr lang="ru-RU" dirty="0" smtClean="0"/>
              <a:t>- махизм/эмпириокритицизм (вторая половина XIX века; </a:t>
            </a:r>
            <a:endParaRPr lang="ru-RU" dirty="0" smtClean="0"/>
          </a:p>
          <a:p>
            <a:r>
              <a:rPr lang="ru-RU" dirty="0" smtClean="0"/>
              <a:t>- неопозитивизм ( 1920-1950е годы); 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 err="1" smtClean="0"/>
              <a:t>постпозитивизм</a:t>
            </a:r>
            <a:r>
              <a:rPr lang="ru-RU" dirty="0" smtClean="0"/>
              <a:t> (1960-1980е годы).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r>
              <a:rPr lang="ru-RU" altLang="ru-RU" smtClean="0">
                <a:solidFill>
                  <a:srgbClr val="FF0000"/>
                </a:solidFill>
                <a:latin typeface="PT Sans"/>
              </a:rPr>
              <a:t>Первый/классический позитивизм</a:t>
            </a:r>
            <a:endParaRPr lang="ru-RU" altLang="ru-RU" smtClean="0">
              <a:solidFill>
                <a:srgbClr val="FF0000"/>
              </a:solidFill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35188" y="1196976"/>
            <a:ext cx="7937500" cy="5237163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>
                <a:solidFill>
                  <a:srgbClr val="FF0000"/>
                </a:solidFill>
              </a:rPr>
              <a:t>Позитивизм</a:t>
            </a:r>
            <a:r>
              <a:rPr lang="ru-RU" sz="3600" dirty="0"/>
              <a:t> – направление, которое появляется в  30-е гг. XIX в.. сначала    во Франции, затем в Англии и других странах Западной Европы в обстановке повышенного интереса к развитию научно-технической мысли.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>
                <a:solidFill>
                  <a:srgbClr val="FF0000"/>
                </a:solidFill>
              </a:rPr>
              <a:t>Познание должно быть освобождено от всякой философской интерпретации. </a:t>
            </a:r>
            <a:endParaRPr lang="ru-RU" sz="3600" dirty="0">
              <a:solidFill>
                <a:srgbClr val="FF0000"/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Прямоугольник 2"/>
          <p:cNvSpPr>
            <a:spLocks noChangeArrowheads="1"/>
          </p:cNvSpPr>
          <p:nvPr/>
        </p:nvSpPr>
        <p:spPr bwMode="auto">
          <a:xfrm>
            <a:off x="2424114" y="-2619375"/>
            <a:ext cx="81359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0" y="620713"/>
            <a:ext cx="9251950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rgbClr val="000000"/>
                </a:solidFill>
              </a:rPr>
              <a:t>Отказаться от поисков первопричин, представляющих собой основу мира. </a:t>
            </a:r>
            <a:endParaRPr lang="ru-RU" altLang="ru-RU" sz="4000" dirty="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rgbClr val="000000"/>
                </a:solidFill>
              </a:rPr>
              <a:t>Эти поиски позитивисты объявили бесплодной «метафизикой» </a:t>
            </a:r>
            <a:endParaRPr lang="ru-RU" altLang="ru-RU" sz="4000" dirty="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rgbClr val="000000"/>
                </a:solidFill>
              </a:rPr>
              <a:t>и противопоставили им стремление к построению знания</a:t>
            </a:r>
            <a:endParaRPr lang="ru-RU" altLang="ru-RU" sz="4000" dirty="0">
              <a:solidFill>
                <a:srgbClr val="000000"/>
              </a:solidFill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4000" dirty="0">
                <a:solidFill>
                  <a:srgbClr val="000000"/>
                </a:solidFill>
              </a:rPr>
              <a:t> бесспорного и точного</a:t>
            </a:r>
            <a:r>
              <a:rPr lang="ru-RU" altLang="ru-RU" sz="36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ru-RU" altLang="ru-RU" sz="3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dirty="0">
                <a:solidFill>
                  <a:prstClr val="black"/>
                </a:solidFill>
              </a:rPr>
              <a:t>Вылечить философию от болезни абстрактной умозрительности, превратив ее в науку. </a:t>
            </a:r>
            <a:r>
              <a:rPr lang="ru-RU" altLang="ru-RU" sz="3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ru-RU" altLang="ru-RU" sz="3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4"/>
          <p:cNvSpPr txBox="1">
            <a:spLocks noChangeArrowheads="1"/>
          </p:cNvSpPr>
          <p:nvPr/>
        </p:nvSpPr>
        <p:spPr bwMode="auto">
          <a:xfrm>
            <a:off x="5519738" y="1844675"/>
            <a:ext cx="4824412" cy="444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ts val="700"/>
              </a:spcBef>
              <a:spcAft>
                <a:spcPct val="0"/>
              </a:spcAft>
              <a:buClr>
                <a:srgbClr val="8AB833"/>
              </a:buClr>
              <a:buSzPct val="60000"/>
              <a:buNone/>
            </a:pPr>
            <a:r>
              <a:rPr lang="ru-RU" altLang="ru-RU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«Курс позитивной философии» (1830—1842) </a:t>
            </a:r>
            <a:endParaRPr lang="ru-RU" altLang="ru-RU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ts val="700"/>
              </a:spcBef>
              <a:spcAft>
                <a:spcPct val="0"/>
              </a:spcAft>
              <a:buClr>
                <a:srgbClr val="8AB833"/>
              </a:buClr>
              <a:buSzPct val="60000"/>
              <a:buNone/>
            </a:pPr>
            <a:r>
              <a:rPr lang="ru-RU" altLang="ru-RU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«Система позитивной политики» (1851—1854).</a:t>
            </a:r>
            <a:endParaRPr lang="ru-RU" altLang="ru-RU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ts val="700"/>
              </a:spcBef>
              <a:spcAft>
                <a:spcPct val="0"/>
              </a:spcAft>
              <a:buClr>
                <a:srgbClr val="8AB833"/>
              </a:buClr>
              <a:buSzPct val="60000"/>
              <a:buNone/>
            </a:pPr>
            <a:r>
              <a:rPr lang="ru-RU" altLang="ru-RU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Тезис :</a:t>
            </a:r>
            <a:endParaRPr lang="ru-RU" altLang="ru-RU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ts val="700"/>
              </a:spcBef>
              <a:spcAft>
                <a:spcPct val="0"/>
              </a:spcAft>
              <a:buClr>
                <a:srgbClr val="8AB833"/>
              </a:buClr>
              <a:buSzPct val="60000"/>
              <a:buNone/>
            </a:pPr>
            <a:r>
              <a:rPr lang="ru-RU" altLang="ru-RU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наука и ее законы  призваны отвечать  не на вопрос «почему», а  на вопрос  «как». </a:t>
            </a:r>
            <a:endParaRPr lang="ru-RU" altLang="ru-RU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ts val="700"/>
              </a:spcBef>
              <a:spcAft>
                <a:spcPct val="0"/>
              </a:spcAft>
              <a:buClr>
                <a:srgbClr val="8AB833"/>
              </a:buClr>
              <a:buSzPct val="60000"/>
              <a:buNone/>
            </a:pPr>
            <a:endParaRPr lang="ru-RU" altLang="ru-RU" sz="36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507" name="Picture 6" descr="философ и социолог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26" y="1628775"/>
            <a:ext cx="27844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467100" y="0"/>
            <a:ext cx="6750050" cy="57785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dirty="0"/>
              <a:t>Исидор Мари Огюст Франсуа </a:t>
            </a:r>
            <a:r>
              <a:rPr lang="ru-RU" dirty="0" err="1"/>
              <a:t>Ксавье</a:t>
            </a:r>
            <a:r>
              <a:rPr lang="ru-RU" dirty="0"/>
              <a:t> Конт</a:t>
            </a:r>
            <a:br>
              <a:rPr lang="ru-RU" dirty="0"/>
            </a:br>
            <a:r>
              <a:rPr lang="ru-RU" dirty="0"/>
              <a:t>1798- 1857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7226" y="868364"/>
            <a:ext cx="8289925" cy="5208587"/>
          </a:xfrm>
        </p:spPr>
        <p:txBody>
          <a:bodyPr/>
          <a:lstStyle/>
          <a:p>
            <a:pPr>
              <a:defRPr/>
            </a:pP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1524000" y="69215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>
                <a:solidFill>
                  <a:srgbClr val="000000"/>
                </a:solidFill>
                <a:cs typeface="Calibri" panose="020F0502020204030204" pitchFamily="34" charset="0"/>
              </a:rPr>
              <a:t>«Метафизика»</a:t>
            </a:r>
            <a:endParaRPr lang="ru-RU" altLang="ru-RU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>
                <a:solidFill>
                  <a:srgbClr val="000000"/>
                </a:solidFill>
                <a:cs typeface="Calibri" panose="020F0502020204030204" pitchFamily="34" charset="0"/>
              </a:rPr>
              <a:t>  как учение о сущности явлений,</a:t>
            </a:r>
            <a:endParaRPr lang="ru-RU" altLang="ru-RU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>
                <a:solidFill>
                  <a:srgbClr val="000000"/>
                </a:solidFill>
                <a:cs typeface="Calibri" panose="020F0502020204030204" pitchFamily="34" charset="0"/>
              </a:rPr>
              <a:t> об их началах и причинах,</a:t>
            </a:r>
            <a:endParaRPr lang="ru-RU" altLang="ru-RU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>
                <a:solidFill>
                  <a:srgbClr val="000000"/>
                </a:solidFill>
                <a:cs typeface="Calibri" panose="020F0502020204030204" pitchFamily="34" charset="0"/>
              </a:rPr>
              <a:t> не имеет смысла. </a:t>
            </a:r>
            <a:endParaRPr lang="ru-RU" altLang="ru-RU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>
                <a:solidFill>
                  <a:srgbClr val="000000"/>
                </a:solidFill>
                <a:cs typeface="Calibri" panose="020F0502020204030204" pitchFamily="34" charset="0"/>
              </a:rPr>
              <a:t>Место метафизики должна занять позитивная философия.</a:t>
            </a:r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24579" name="Заголовок 2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pic>
        <p:nvPicPr>
          <p:cNvPr id="24580" name="Рисунок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3457576"/>
            <a:ext cx="1871663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675" y="3484564"/>
            <a:ext cx="1931988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Прямоугольник 6"/>
          <p:cNvSpPr>
            <a:spLocks noChangeArrowheads="1"/>
          </p:cNvSpPr>
          <p:nvPr/>
        </p:nvSpPr>
        <p:spPr bwMode="auto">
          <a:xfrm>
            <a:off x="6527800" y="3054350"/>
            <a:ext cx="41402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solidFill>
                  <a:prstClr val="black"/>
                </a:solidFill>
              </a:rPr>
              <a:t>философы словно «чужаки».</a:t>
            </a:r>
            <a:endParaRPr lang="ru-RU" altLang="ru-RU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solidFill>
                  <a:prstClr val="black"/>
                </a:solidFill>
              </a:rPr>
              <a:t> </a:t>
            </a:r>
            <a:r>
              <a:rPr lang="ru-RU" altLang="ru-RU" i="1">
                <a:solidFill>
                  <a:prstClr val="black"/>
                </a:solidFill>
              </a:rPr>
              <a:t>Упрек публики</a:t>
            </a:r>
            <a:r>
              <a:rPr lang="ru-RU" altLang="ru-RU">
                <a:solidFill>
                  <a:prstClr val="black"/>
                </a:solidFill>
              </a:rPr>
              <a:t>: философия занимается зряшными делами; это случай Фалеса.</a:t>
            </a:r>
            <a:endParaRPr lang="ru-RU" altLang="ru-RU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solidFill>
                  <a:prstClr val="black"/>
                </a:solidFill>
              </a:rPr>
              <a:t> </a:t>
            </a:r>
            <a:r>
              <a:rPr lang="ru-RU" altLang="ru-RU" i="1">
                <a:solidFill>
                  <a:prstClr val="black"/>
                </a:solidFill>
              </a:rPr>
              <a:t>Упрек власти: </a:t>
            </a:r>
            <a:r>
              <a:rPr lang="ru-RU" altLang="ru-RU">
                <a:solidFill>
                  <a:prstClr val="black"/>
                </a:solidFill>
              </a:rPr>
              <a:t>она как источник анархизма, критики, недовольства — разрушает общество; это случай Сократа. </a:t>
            </a:r>
            <a:endParaRPr lang="ru-RU" altLang="ru-RU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i="1">
                <a:solidFill>
                  <a:prstClr val="black"/>
                </a:solidFill>
              </a:rPr>
              <a:t>Упрек коллег-ученых</a:t>
            </a:r>
            <a:r>
              <a:rPr lang="ru-RU" altLang="ru-RU">
                <a:solidFill>
                  <a:prstClr val="black"/>
                </a:solidFill>
              </a:rPr>
              <a:t>: философия — «мутная», мешает ясному мышлению (Ньютон: «физика, бойся метафизики»).</a:t>
            </a:r>
            <a:endParaRPr lang="ru-RU" altLang="ru-RU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2279650" y="476250"/>
            <a:ext cx="7848600" cy="441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  <a:cs typeface="Calibri" panose="020F0502020204030204" pitchFamily="34" charset="0"/>
              </a:rPr>
              <a:t>Наблюдения </a:t>
            </a:r>
            <a:endParaRPr lang="ru-RU" altLang="ru-RU" sz="36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  <a:cs typeface="Calibri" panose="020F0502020204030204" pitchFamily="34" charset="0"/>
              </a:rPr>
              <a:t>Эксперимент </a:t>
            </a:r>
            <a:endParaRPr lang="ru-RU" altLang="ru-RU" sz="36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>
                <a:solidFill>
                  <a:srgbClr val="000000"/>
                </a:solidFill>
                <a:cs typeface="Calibri" panose="020F0502020204030204" pitchFamily="34" charset="0"/>
              </a:rPr>
              <a:t>и никаких других авторитетов для науки быть не должно. </a:t>
            </a:r>
            <a:endParaRPr lang="ru-RU" altLang="ru-RU" sz="36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36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eaLnBrk="0" fontAlgn="base" hangingPunct="0">
              <a:spcAft>
                <a:spcPct val="0"/>
              </a:spcAft>
              <a:buNone/>
            </a:pPr>
            <a:r>
              <a:rPr lang="ru-RU" dirty="0">
                <a:solidFill>
                  <a:prstClr val="black"/>
                </a:solidFill>
              </a:rPr>
              <a:t>Все наши умозрения, как индивидуальные, так и</a:t>
            </a:r>
            <a:endParaRPr lang="ru-RU" dirty="0">
              <a:solidFill>
                <a:prstClr val="black"/>
              </a:solidFill>
            </a:endParaRPr>
          </a:p>
          <a:p>
            <a:pPr eaLnBrk="0" fontAlgn="base" hangingPunct="0">
              <a:spcAft>
                <a:spcPct val="0"/>
              </a:spcAft>
              <a:buNone/>
            </a:pPr>
            <a:r>
              <a:rPr lang="ru-RU" dirty="0">
                <a:solidFill>
                  <a:prstClr val="black"/>
                </a:solidFill>
              </a:rPr>
              <a:t>родовые, неизбежно проходят три ступени: </a:t>
            </a:r>
            <a:endParaRPr lang="ru-RU" dirty="0">
              <a:solidFill>
                <a:prstClr val="black"/>
              </a:solidFill>
            </a:endParaRPr>
          </a:p>
          <a:p>
            <a:pPr eaLnBrk="0" fontAlgn="base" hangingPunct="0">
              <a:spcAft>
                <a:spcPct val="0"/>
              </a:spcAft>
              <a:buNone/>
            </a:pPr>
            <a:r>
              <a:rPr lang="ru-RU" dirty="0">
                <a:solidFill>
                  <a:prstClr val="black"/>
                </a:solidFill>
              </a:rPr>
              <a:t>теологическую, метафизическую и научную. </a:t>
            </a:r>
            <a:endParaRPr lang="ru-RU" altLang="ru-RU" sz="3600" dirty="0">
              <a:solidFill>
                <a:srgbClr val="000000"/>
              </a:solidFill>
            </a:endParaRPr>
          </a:p>
        </p:txBody>
      </p:sp>
      <p:sp>
        <p:nvSpPr>
          <p:cNvPr id="23555" name="Заголовок 2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19288" y="333376"/>
            <a:ext cx="8748712" cy="633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br>
              <a:rPr lang="ru-RU" altLang="ru-RU" sz="20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>Огюст Конт (1798—1857)</a:t>
            </a:r>
            <a:br>
              <a:rPr lang="ru-RU" altLang="ru-RU" sz="24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>«Курс позитивной философии»  1842 г.</a:t>
            </a:r>
            <a:br>
              <a:rPr lang="ru-RU" altLang="ru-RU" sz="2400" b="1">
                <a:latin typeface="Times New Roman" panose="02020603050405020304" pitchFamily="18" charset="0"/>
              </a:rPr>
            </a:br>
            <a:br>
              <a:rPr lang="ru-RU" altLang="ru-RU" sz="2400" b="1">
                <a:latin typeface="Times New Roman" panose="02020603050405020304" pitchFamily="18" charset="0"/>
              </a:rPr>
            </a:br>
            <a:r>
              <a:rPr lang="ru-RU" altLang="ru-RU" sz="2400" b="1">
                <a:latin typeface="Times New Roman" panose="02020603050405020304" pitchFamily="18" charset="0"/>
              </a:rPr>
              <a:t>  </a:t>
            </a:r>
            <a:r>
              <a:rPr lang="ru-RU" altLang="ru-RU" sz="2400" b="1" u="sng">
                <a:latin typeface="Times New Roman" panose="02020603050405020304" pitchFamily="18" charset="0"/>
              </a:rPr>
              <a:t>Три стадии интеллектуальной эволюции человечества: </a:t>
            </a:r>
            <a:br>
              <a:rPr lang="ru-RU" altLang="ru-RU" sz="2400" b="1" u="sng">
                <a:latin typeface="Times New Roman" panose="02020603050405020304" pitchFamily="18" charset="0"/>
              </a:rPr>
            </a:br>
            <a:br>
              <a:rPr lang="ru-RU" altLang="ru-RU" sz="2400" b="1" u="sng">
                <a:latin typeface="Times New Roman" panose="02020603050405020304" pitchFamily="18" charset="0"/>
              </a:rPr>
            </a:br>
            <a:r>
              <a:rPr lang="ru-RU" altLang="ru-RU" sz="2400" b="1" i="1">
                <a:latin typeface="Times New Roman" panose="02020603050405020304" pitchFamily="18" charset="0"/>
              </a:rPr>
              <a:t> 1. Теологическая - </a:t>
            </a:r>
            <a:r>
              <a:rPr lang="ru-RU" altLang="ru-RU" sz="2400">
                <a:latin typeface="Times New Roman" panose="02020603050405020304" pitchFamily="18" charset="0"/>
              </a:rPr>
              <a:t>все явления объясняются на основе  религиозных представлений, вера, мистическое подменяет рациональное ; </a:t>
            </a:r>
            <a:br>
              <a:rPr lang="ru-RU" altLang="ru-RU" sz="2400">
                <a:latin typeface="Times New Roman" panose="02020603050405020304" pitchFamily="18" charset="0"/>
              </a:rPr>
            </a:br>
            <a:r>
              <a:rPr lang="ru-RU" altLang="ru-RU" sz="2400" b="1" i="1">
                <a:latin typeface="Times New Roman" panose="02020603050405020304" pitchFamily="18" charset="0"/>
              </a:rPr>
              <a:t> 2. Метафизическая (философская) стадия </a:t>
            </a:r>
            <a:r>
              <a:rPr lang="ru-RU" altLang="ru-RU" sz="2400">
                <a:latin typeface="Times New Roman" panose="02020603050405020304" pitchFamily="18" charset="0"/>
              </a:rPr>
              <a:t>заменяет сверхъестественные факторы в объяснении природы сущностями, причинами, знанием о всеобщем; </a:t>
            </a:r>
            <a:br>
              <a:rPr lang="ru-RU" altLang="ru-RU" sz="2400">
                <a:latin typeface="Times New Roman" panose="02020603050405020304" pitchFamily="18" charset="0"/>
              </a:rPr>
            </a:br>
            <a:r>
              <a:rPr lang="ru-RU" altLang="ru-RU" sz="2400" b="1" i="1">
                <a:latin typeface="Times New Roman" panose="02020603050405020304" pitchFamily="18" charset="0"/>
              </a:rPr>
              <a:t> 3. Позитивная (положительная) или научная, </a:t>
            </a:r>
            <a:r>
              <a:rPr lang="ru-RU" altLang="ru-RU" sz="2400">
                <a:latin typeface="Times New Roman" panose="02020603050405020304" pitchFamily="18" charset="0"/>
              </a:rPr>
              <a:t>на которой возникает наука об обществе (социология), а все науки изучают явления в их конкретно-чувственной данности человеку, не пытаясь проникнуть в сущность, познать причины.</a:t>
            </a:r>
            <a:br>
              <a:rPr lang="ru-RU" altLang="ru-RU" sz="2400">
                <a:latin typeface="Times New Roman" panose="02020603050405020304" pitchFamily="18" charset="0"/>
              </a:rPr>
            </a:br>
            <a:br>
              <a:rPr lang="ru-RU" altLang="ru-RU" sz="2000" i="1">
                <a:latin typeface="Times New Roman" panose="02020603050405020304" pitchFamily="18" charset="0"/>
              </a:rPr>
            </a:br>
            <a:br>
              <a:rPr lang="ru-RU" altLang="ru-RU" sz="2000">
                <a:latin typeface="Times New Roman" panose="02020603050405020304" pitchFamily="18" charset="0"/>
              </a:rPr>
            </a:br>
            <a:br>
              <a:rPr lang="ru-RU" altLang="ru-RU" sz="2000">
                <a:latin typeface="Times New Roman" panose="02020603050405020304" pitchFamily="18" charset="0"/>
              </a:rPr>
            </a:br>
            <a:br>
              <a:rPr lang="ru-RU" altLang="ru-RU" sz="2000">
                <a:latin typeface="Times New Roman" panose="02020603050405020304" pitchFamily="18" charset="0"/>
              </a:rPr>
            </a:br>
            <a:endParaRPr lang="ru-RU" altLang="ru-RU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537" y="577944"/>
            <a:ext cx="8297050" cy="5498766"/>
          </a:xfrm>
        </p:spPr>
        <p:txBody>
          <a:bodyPr/>
          <a:lstStyle/>
          <a:p>
            <a:r>
              <a:rPr lang="ru-RU" dirty="0"/>
              <a:t>В продолжение темы о постепенном интеллектуальном развитии Конт разработал иерархию наук, основанную на их </a:t>
            </a:r>
            <a:r>
              <a:rPr lang="ru-RU" dirty="0">
                <a:solidFill>
                  <a:srgbClr val="FF0000"/>
                </a:solidFill>
              </a:rPr>
              <a:t>предметном содержании, логической и исторической последовательности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endParaRPr lang="ru-RU" dirty="0" smtClean="0">
              <a:solidFill>
                <a:srgbClr val="FF0000"/>
              </a:solidFill>
            </a:endParaRPr>
          </a:p>
          <a:p>
            <a:r>
              <a:rPr lang="ru-RU" dirty="0" smtClean="0"/>
              <a:t> </a:t>
            </a:r>
            <a:r>
              <a:rPr lang="ru-RU" dirty="0"/>
              <a:t>В соответствии с «убывающей общностью и независимостью» и возрастающей «сложностью» и спецификой предмета изучения он выстраивает следующую последовательность</a:t>
            </a:r>
            <a:r>
              <a:rPr lang="ru-RU" dirty="0" smtClean="0"/>
              <a:t>: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i="1" dirty="0"/>
              <a:t>математика, астрономия, физика, химия, физиология, социальная </a:t>
            </a:r>
            <a:r>
              <a:rPr lang="ru-RU" i="1" dirty="0" smtClean="0"/>
              <a:t>физика  </a:t>
            </a:r>
            <a:r>
              <a:rPr lang="ru-RU" dirty="0" smtClean="0"/>
              <a:t>(</a:t>
            </a:r>
            <a:r>
              <a:rPr lang="ru-RU" sz="2400" dirty="0"/>
              <a:t>разработка самого Конта,  </a:t>
            </a:r>
            <a:r>
              <a:rPr lang="ru-RU" sz="2400" dirty="0"/>
              <a:t>включает в себя социальную статику, изучающую структуру общественной организации (порядок), и социальную динамику, исследующую условия развития общества (прогресс). </a:t>
            </a:r>
            <a:endParaRPr lang="ru-RU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Заголовок 3"/>
          <p:cNvSpPr>
            <a:spLocks noGrp="1"/>
          </p:cNvSpPr>
          <p:nvPr>
            <p:ph type="title"/>
          </p:nvPr>
        </p:nvSpPr>
        <p:spPr bwMode="auto">
          <a:xfrm>
            <a:off x="2855914" y="-403225"/>
            <a:ext cx="8243887" cy="1368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algn="ctr" eaLnBrk="1" hangingPunct="1"/>
            <a:r>
              <a:rPr lang="ru-RU" altLang="ru-RU" sz="2800">
                <a:latin typeface="PT Sans"/>
              </a:rPr>
              <a:t>Джон Стюарт Милль  (1806 - 1873)</a:t>
            </a:r>
            <a:endParaRPr lang="ru-RU" altLang="ru-RU" sz="2800">
              <a:latin typeface="PT Sans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727576" y="1196976"/>
            <a:ext cx="5489575" cy="4879975"/>
          </a:xfrm>
        </p:spPr>
        <p:txBody>
          <a:bodyPr rtlCol="0">
            <a:normAutofit fontScale="62500" lnSpcReduction="20000"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«Система логики» (1843). 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Невозможно получение «абсолютного знания» о сущности вещей. 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Все, что люди могут знать о мире, сводится к испытываемым ими ощущениям.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 Но эти ощущения отнюдь не раскрывают внутренней природы вещей: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dirty="0" smtClean="0"/>
              <a:t> </a:t>
            </a:r>
            <a:r>
              <a:rPr lang="ru-RU" dirty="0"/>
              <a:t>«восточный ветер не похож на ощущение холода, ожог не похож на пары кипящей воды. Почему же материя должна походить на наши ощущения?».</a:t>
            </a:r>
            <a:endParaRPr lang="el-GR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Разработал индуктивную логику, которую трактовал как общую методологию наук. </a:t>
            </a:r>
            <a:endParaRPr lang="ru-RU" sz="3600" dirty="0"/>
          </a:p>
        </p:txBody>
      </p:sp>
      <p:pic>
        <p:nvPicPr>
          <p:cNvPr id="26628" name="Рисунок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731839"/>
            <a:ext cx="266065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4365626"/>
            <a:ext cx="1295400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063808" cy="4205064"/>
          </a:xfrm>
        </p:spPr>
        <p:txBody>
          <a:bodyPr>
            <a:noAutofit/>
          </a:bodyPr>
          <a:lstStyle/>
          <a:p>
            <a:r>
              <a:rPr lang="ru-RU" sz="2000" dirty="0" smtClean="0"/>
              <a:t>Милль, следуя Ф. Бэкону, разрабатывал </a:t>
            </a:r>
            <a:r>
              <a:rPr lang="ru-RU" sz="2000" b="1" dirty="0" smtClean="0"/>
              <a:t>методику исследования причинно-следственных связей</a:t>
            </a:r>
            <a:r>
              <a:rPr lang="ru-RU" sz="2000" dirty="0" smtClean="0"/>
              <a:t>. Он считал, что если тщательно провести наблюдение, а затем сопоставить взаимозависимости явлений, то всегда можно выявить причинно-следственную связь. Именно так устанавливаются научные законы. </a:t>
            </a:r>
            <a:endParaRPr lang="ru-RU" sz="2000" dirty="0" smtClean="0"/>
          </a:p>
          <a:p>
            <a:r>
              <a:rPr lang="ru-RU" sz="2000" dirty="0" smtClean="0"/>
              <a:t>Общие </a:t>
            </a:r>
            <a:r>
              <a:rPr lang="ru-RU" sz="2000" dirty="0" smtClean="0"/>
              <a:t>понятия получают благодаря </a:t>
            </a:r>
            <a:r>
              <a:rPr lang="ru-RU" sz="2000" b="1" i="1" dirty="0" smtClean="0"/>
              <a:t>абстракциям</a:t>
            </a:r>
            <a:r>
              <a:rPr lang="ru-RU" sz="2000" dirty="0" smtClean="0"/>
              <a:t>, они нужны в качестве памятных записей, в реальности им не соответствуют какие-либо сущности. </a:t>
            </a:r>
            <a:endParaRPr lang="ru-RU" sz="2000" dirty="0" smtClean="0"/>
          </a:p>
          <a:p>
            <a:r>
              <a:rPr lang="ru-RU" sz="2000" dirty="0" smtClean="0"/>
              <a:t>Все </a:t>
            </a:r>
            <a:r>
              <a:rPr lang="ru-RU" sz="2000" dirty="0" smtClean="0"/>
              <a:t>научные предложения получаются благодаря </a:t>
            </a:r>
            <a:r>
              <a:rPr lang="ru-RU" sz="2000" b="1" i="1" dirty="0" smtClean="0"/>
              <a:t>индукции</a:t>
            </a:r>
            <a:r>
              <a:rPr lang="ru-RU" sz="2000" dirty="0" smtClean="0"/>
              <a:t>. Подлинный смысл дедукции как якобы совершающегося доказательства от общего к частному на самом деле сводится к индукции, к движению от частного к частному. </a:t>
            </a:r>
            <a:endParaRPr lang="ru-RU" sz="2000" dirty="0"/>
          </a:p>
        </p:txBody>
      </p:sp>
      <p:sp>
        <p:nvSpPr>
          <p:cNvPr id="37890" name="AutoShape 2" descr="https://compuart.ru/archive/ca/2008/6/1/Ris_5_book_nebraska.jp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endParaRPr lang="ru-RU" altLang="ru-RU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4055" y="577850"/>
            <a:ext cx="10553700" cy="54991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sz="2000" dirty="0"/>
              <a:t>индукция  </a:t>
            </a:r>
            <a:r>
              <a:rPr lang="ru-RU" sz="2000" i="1" dirty="0">
                <a:solidFill>
                  <a:srgbClr val="FF0000"/>
                </a:solidFill>
              </a:rPr>
              <a:t>(Способ рассуждения от частных фактов, положений к общим выводам).</a:t>
            </a:r>
            <a:endParaRPr lang="ru-RU" sz="2000" i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ru-RU" sz="2000" dirty="0"/>
              <a:t>В рамках </a:t>
            </a:r>
            <a:r>
              <a:rPr lang="ru-RU" sz="2000" dirty="0" err="1"/>
              <a:t>индуктивистской</a:t>
            </a:r>
            <a:r>
              <a:rPr lang="ru-RU" sz="2000" dirty="0"/>
              <a:t> модели познания 4 «метода опытного исследования»:</a:t>
            </a:r>
            <a:endParaRPr lang="ru-RU" sz="2000" dirty="0"/>
          </a:p>
          <a:p>
            <a:pPr>
              <a:defRPr/>
            </a:pPr>
            <a:r>
              <a:rPr lang="ru-RU" sz="2000" b="1" dirty="0"/>
              <a:t>сходства </a:t>
            </a:r>
            <a:r>
              <a:rPr lang="ru-RU" sz="2000" dirty="0"/>
              <a:t>(«если два или более случая подлежащего исследованию явления имеют общим лишь одно обстоятельство, то это обстоятельство … есть причина (или следствие) данного явления»,</a:t>
            </a:r>
            <a:endParaRPr lang="ru-RU" sz="2000" dirty="0"/>
          </a:p>
          <a:p>
            <a:pPr>
              <a:defRPr/>
            </a:pPr>
            <a:r>
              <a:rPr lang="ru-RU" sz="2000" b="1" dirty="0"/>
              <a:t>различия</a:t>
            </a:r>
            <a:r>
              <a:rPr lang="ru-RU" sz="2000" dirty="0"/>
              <a:t> («если случай, в котором исследуемое явление наступает, и случай, в котором оно не наступает, сходны во всех обстоятельствах, кроме одного, встречающегося лишь в первом случае, то это обстоятельство … есть следствие, или причина, или необходимая часть причины явления»),</a:t>
            </a:r>
            <a:endParaRPr lang="ru-RU" sz="2000" dirty="0"/>
          </a:p>
          <a:p>
            <a:pPr>
              <a:defRPr/>
            </a:pPr>
            <a:r>
              <a:rPr lang="ru-RU" sz="2000" b="1" dirty="0"/>
              <a:t>остатков </a:t>
            </a:r>
            <a:r>
              <a:rPr lang="ru-RU" sz="2000" dirty="0"/>
              <a:t>(«если из явления вычесть ту его часть, которая, как известно из прежних индукций, есть следствие некоторых определенных предыдущих, то остаток данного явления должен быть следствием остальных предыдущих»),</a:t>
            </a:r>
            <a:endParaRPr lang="ru-RU" sz="2000" dirty="0"/>
          </a:p>
          <a:p>
            <a:pPr>
              <a:defRPr/>
            </a:pPr>
            <a:r>
              <a:rPr lang="ru-RU" sz="2000" b="1" dirty="0"/>
              <a:t>сопутствующих изменений </a:t>
            </a:r>
            <a:r>
              <a:rPr lang="ru-RU" sz="2000" dirty="0"/>
              <a:t>(«всякое явление, изменяющееся определенным образом всякий раз, когда некоторым особенным образом изменяется другое явление, есть либо причина, либо следствие этого явления, либо соединено с ним какою-либо причинною связью»).</a:t>
            </a:r>
            <a:endParaRPr lang="ru-RU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Допустим, проведено наблюдение двух явлений </a:t>
            </a:r>
            <a:r>
              <a:rPr lang="ru-RU" sz="3200" i="1" dirty="0" smtClean="0"/>
              <a:t>х</a:t>
            </a:r>
            <a:r>
              <a:rPr lang="ru-RU" sz="3200" dirty="0" smtClean="0"/>
              <a:t>1 и </a:t>
            </a:r>
            <a:r>
              <a:rPr lang="ru-RU" sz="3200" i="1" dirty="0" smtClean="0"/>
              <a:t>х</a:t>
            </a:r>
            <a:r>
              <a:rPr lang="ru-RU" sz="3200" dirty="0" smtClean="0"/>
              <a:t>2 и установлено их сходство F, т.е. найден закон </a:t>
            </a:r>
            <a:r>
              <a:rPr lang="ru-RU" sz="3200" i="1" dirty="0" smtClean="0"/>
              <a:t>F</a:t>
            </a:r>
            <a:r>
              <a:rPr lang="ru-RU" sz="3200" dirty="0" smtClean="0"/>
              <a:t> (</a:t>
            </a:r>
            <a:r>
              <a:rPr lang="ru-RU" sz="3200" i="1" dirty="0" smtClean="0"/>
              <a:t>х</a:t>
            </a:r>
            <a:r>
              <a:rPr lang="ru-RU" sz="3200" dirty="0" smtClean="0"/>
              <a:t>1, </a:t>
            </a:r>
            <a:r>
              <a:rPr lang="ru-RU" sz="3200" i="1" dirty="0" smtClean="0"/>
              <a:t>х</a:t>
            </a:r>
            <a:r>
              <a:rPr lang="ru-RU" sz="3200" dirty="0" smtClean="0"/>
              <a:t>2</a:t>
            </a:r>
            <a:r>
              <a:rPr lang="ru-RU" sz="3200" i="1" dirty="0" smtClean="0"/>
              <a:t>).</a:t>
            </a:r>
            <a:r>
              <a:rPr lang="ru-RU" sz="3200" dirty="0" smtClean="0"/>
              <a:t> Если теперь в поле зрения исследования попадает явление </a:t>
            </a:r>
            <a:r>
              <a:rPr lang="ru-RU" sz="3200" i="1" dirty="0" smtClean="0"/>
              <a:t>х</a:t>
            </a:r>
            <a:r>
              <a:rPr lang="ru-RU" sz="3200" dirty="0" smtClean="0"/>
              <a:t>3, схожее </a:t>
            </a:r>
            <a:r>
              <a:rPr lang="ru-RU" sz="3200" dirty="0" err="1" smtClean="0"/>
              <a:t>c</a:t>
            </a:r>
            <a:r>
              <a:rPr lang="ru-RU" sz="3200" dirty="0" smtClean="0"/>
              <a:t> </a:t>
            </a:r>
            <a:r>
              <a:rPr lang="ru-RU" sz="3200" i="1" dirty="0" smtClean="0"/>
              <a:t>х</a:t>
            </a:r>
            <a:r>
              <a:rPr lang="ru-RU" sz="3200" dirty="0" smtClean="0"/>
              <a:t>1 и </a:t>
            </a:r>
            <a:r>
              <a:rPr lang="ru-RU" sz="3200" i="1" dirty="0" smtClean="0"/>
              <a:t>х</a:t>
            </a:r>
            <a:r>
              <a:rPr lang="ru-RU" sz="3200" dirty="0" smtClean="0"/>
              <a:t>2, то на него распространяется закон </a:t>
            </a:r>
            <a:r>
              <a:rPr lang="ru-RU" sz="3200" i="1" dirty="0" smtClean="0"/>
              <a:t>F</a:t>
            </a:r>
            <a:r>
              <a:rPr lang="ru-RU" sz="3200" dirty="0" smtClean="0"/>
              <a:t> (</a:t>
            </a:r>
            <a:r>
              <a:rPr lang="ru-RU" sz="3200" i="1" dirty="0" smtClean="0"/>
              <a:t>х</a:t>
            </a:r>
            <a:r>
              <a:rPr lang="ru-RU" sz="3200" dirty="0" smtClean="0"/>
              <a:t>1, </a:t>
            </a:r>
            <a:r>
              <a:rPr lang="ru-RU" sz="3200" i="1" dirty="0" smtClean="0"/>
              <a:t>х</a:t>
            </a:r>
            <a:r>
              <a:rPr lang="ru-RU" sz="3200" dirty="0" smtClean="0"/>
              <a:t>2), т.е. получается закон </a:t>
            </a:r>
            <a:r>
              <a:rPr lang="ru-RU" sz="3200" i="1" dirty="0" smtClean="0"/>
              <a:t>F</a:t>
            </a:r>
            <a:r>
              <a:rPr lang="ru-RU" sz="3200" dirty="0" smtClean="0"/>
              <a:t> (</a:t>
            </a:r>
            <a:r>
              <a:rPr lang="ru-RU" sz="3200" i="1" dirty="0" smtClean="0"/>
              <a:t>х</a:t>
            </a:r>
            <a:r>
              <a:rPr lang="ru-RU" sz="3200" dirty="0" smtClean="0"/>
              <a:t>1, </a:t>
            </a:r>
            <a:r>
              <a:rPr lang="ru-RU" sz="3200" i="1" dirty="0" smtClean="0"/>
              <a:t>х</a:t>
            </a:r>
            <a:r>
              <a:rPr lang="ru-RU" sz="3200" dirty="0" smtClean="0"/>
              <a:t>2, </a:t>
            </a:r>
            <a:r>
              <a:rPr lang="ru-RU" sz="3200" i="1" dirty="0" smtClean="0"/>
              <a:t>х</a:t>
            </a:r>
            <a:r>
              <a:rPr lang="ru-RU" sz="3200" dirty="0" smtClean="0"/>
              <a:t>3). Кажется, что </a:t>
            </a:r>
            <a:r>
              <a:rPr lang="ru-RU" sz="3200" i="1" dirty="0" smtClean="0"/>
              <a:t>х</a:t>
            </a:r>
            <a:r>
              <a:rPr lang="ru-RU" sz="3200" dirty="0" smtClean="0"/>
              <a:t>3 выведено из закона </a:t>
            </a:r>
            <a:r>
              <a:rPr lang="ru-RU" sz="3200" i="1" dirty="0" smtClean="0"/>
              <a:t>F,</a:t>
            </a:r>
            <a:r>
              <a:rPr lang="ru-RU" sz="3200" dirty="0" smtClean="0"/>
              <a:t> но в действительности никакого вывода не было, просто в одну группу были объединены схожие явления. То есть имела место расширяющая индукция. Логические дедукции есть частные случаи индукции.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063808" cy="4495800"/>
          </a:xfrm>
        </p:spPr>
        <p:txBody>
          <a:bodyPr>
            <a:noAutofit/>
          </a:bodyPr>
          <a:lstStyle/>
          <a:p>
            <a:r>
              <a:rPr lang="ru-RU" sz="2800" dirty="0" smtClean="0"/>
              <a:t>Вроде бы со сведением дедукции к индукции все обстоит вполне благополучно, но в моральных науках (так выражался Милль) есть одна сложность – речь идет не о том, что </a:t>
            </a:r>
            <a:r>
              <a:rPr lang="ru-RU" sz="2800" b="1" i="1" dirty="0" smtClean="0"/>
              <a:t>есть</a:t>
            </a:r>
            <a:r>
              <a:rPr lang="ru-RU" sz="2800" dirty="0" smtClean="0"/>
              <a:t> и</a:t>
            </a:r>
            <a:r>
              <a:rPr lang="ru-RU" sz="2800" b="1" dirty="0" smtClean="0"/>
              <a:t> </a:t>
            </a:r>
            <a:r>
              <a:rPr lang="ru-RU" sz="2800" b="1" i="1" dirty="0" smtClean="0"/>
              <a:t>будет</a:t>
            </a:r>
            <a:r>
              <a:rPr lang="ru-RU" sz="2800" dirty="0" smtClean="0"/>
              <a:t>, а о том, что </a:t>
            </a:r>
            <a:r>
              <a:rPr lang="ru-RU" sz="2800" b="1" i="1" dirty="0" smtClean="0"/>
              <a:t>должно быть</a:t>
            </a:r>
            <a:r>
              <a:rPr lang="ru-RU" sz="2800" dirty="0" smtClean="0"/>
              <a:t>. </a:t>
            </a:r>
            <a:endParaRPr lang="ru-RU" sz="2800" dirty="0" smtClean="0"/>
          </a:p>
          <a:p>
            <a:r>
              <a:rPr lang="ru-RU" sz="2800" dirty="0" smtClean="0"/>
              <a:t>Перед </a:t>
            </a:r>
            <a:r>
              <a:rPr lang="ru-RU" sz="2800" dirty="0" smtClean="0"/>
              <a:t>"гильотиной Юма" приходится признать бессилие науки. Что</a:t>
            </a:r>
            <a:r>
              <a:rPr lang="ru-RU" sz="2800" b="1" dirty="0" smtClean="0"/>
              <a:t> </a:t>
            </a:r>
            <a:r>
              <a:rPr lang="ru-RU" sz="2800" b="1" i="1" dirty="0" smtClean="0"/>
              <a:t>должно быть</a:t>
            </a:r>
            <a:r>
              <a:rPr lang="ru-RU" sz="2800" dirty="0" smtClean="0"/>
              <a:t> невозможно установить научно. Поэтому все моральные науки, в том числе и политическая экономия, являются в определенном роде не только науками, но и... искусствами.</a:t>
            </a:r>
            <a:endParaRPr lang="ru-RU" sz="2800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 smtClean="0"/>
              <a:t>"</a:t>
            </a:r>
            <a:r>
              <a:rPr lang="ru-RU" sz="2400" b="1" dirty="0" smtClean="0"/>
              <a:t>Искусство</a:t>
            </a:r>
            <a:r>
              <a:rPr lang="ru-RU" sz="2400" dirty="0" smtClean="0"/>
              <a:t> ставит цель, которую нужно достичь, определяет эту цель и передает науке. Наука принимает ее, рассматривает как явление или факт, подлежащий изучению, а затем, разобрав причины и условия этого явления, отсылает его обратно искусству, с теоремою относительно того стечения обстоятельств, которым оно причинно обусловлено". </a:t>
            </a:r>
            <a:endParaRPr lang="ru-RU" sz="2400" dirty="0" smtClean="0"/>
          </a:p>
          <a:p>
            <a:r>
              <a:rPr lang="ru-RU" sz="2400" dirty="0" smtClean="0"/>
              <a:t>Что касается целей, то они устанавливаются не произвольно, а в соответствии с некоторым принципом, который получают опять же из опыта. </a:t>
            </a:r>
            <a:r>
              <a:rPr lang="ru-RU" sz="2400" b="1" dirty="0" smtClean="0"/>
              <a:t>Главный принцип методологии </a:t>
            </a:r>
            <a:r>
              <a:rPr lang="ru-RU" sz="2400" dirty="0" smtClean="0"/>
              <a:t>есть "содействие счастью человечества или, скорее, всех чувствующих существ". </a:t>
            </a:r>
            <a:endParaRPr lang="ru-RU" sz="2400" dirty="0"/>
          </a:p>
        </p:txBody>
      </p:sp>
      <p:sp>
        <p:nvSpPr>
          <p:cNvPr id="37890" name="AutoShape 2" descr="https://compuart.ru/archive/ca/2008/6/1/Ris_5_book_nebraska.jp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 dirty="0">
                <a:latin typeface="PT Sans"/>
                <a:sym typeface="+mn-ea"/>
              </a:rPr>
              <a:t>Герберт Спенсер (1820 - 1903) </a:t>
            </a:r>
            <a:endParaRPr lang="ru-RU" altLang="en-US"/>
          </a:p>
        </p:txBody>
      </p:sp>
      <p:sp>
        <p:nvSpPr>
          <p:cNvPr id="6" name="Замещающее содержимое 5"/>
          <p:cNvSpPr>
            <a:spLocks noGrp="1"/>
          </p:cNvSpPr>
          <p:nvPr>
            <p:ph idx="1"/>
          </p:nvPr>
        </p:nvSpPr>
        <p:spPr>
          <a:xfrm>
            <a:off x="4403090" y="3806825"/>
            <a:ext cx="7641590" cy="1935480"/>
          </a:xfrm>
        </p:spPr>
        <p:txBody>
          <a:bodyPr/>
          <a:p>
            <a:pPr marL="0" indent="0">
              <a:buNone/>
            </a:pPr>
            <a:r>
              <a:rPr lang="ru-RU" altLang="en-US" sz="2400"/>
              <a:t>Эволюционизм — направление в антропологии и этнографии, сторонники которого предполагали существование универсального закона общественного развития, заключающегося в эволюции культуры от низших форм к высшим, от дикости к цивилизации и т. д.</a:t>
            </a:r>
            <a:endParaRPr lang="ru-RU" altLang="en-US" sz="2400"/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537210" y="868045"/>
            <a:ext cx="3637280" cy="487426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4403090" y="867410"/>
            <a:ext cx="7526020" cy="199390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defRPr/>
            </a:pPr>
            <a:r>
              <a:rPr lang="ru-RU" altLang="en-US" b="1"/>
              <a:t>Основные труды</a:t>
            </a:r>
            <a:r>
              <a:rPr lang="en-US" altLang="ru-RU" b="1"/>
              <a:t>: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“Социальная статика” </a:t>
            </a:r>
            <a:r>
              <a:rPr lang="en-US" altLang="ru-RU"/>
              <a:t>(1851);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“Системы синтетической философии” </a:t>
            </a:r>
            <a:r>
              <a:rPr lang="en-US" altLang="ru-RU"/>
              <a:t>(1858);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“Основные начала” </a:t>
            </a:r>
            <a:r>
              <a:rPr lang="en-US" altLang="ru-RU"/>
              <a:t>(1862);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“Основания биологии” </a:t>
            </a:r>
            <a:r>
              <a:rPr lang="en-US" altLang="ru-RU"/>
              <a:t>(1864-1867);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“Основания психологии” </a:t>
            </a:r>
            <a:r>
              <a:rPr lang="en-US" altLang="ru-RU"/>
              <a:t>(1870-1872);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“Основания социологии” </a:t>
            </a:r>
            <a:r>
              <a:rPr lang="en-US" altLang="ru-RU"/>
              <a:t>(1876-1896);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“Основания этики” </a:t>
            </a:r>
            <a:r>
              <a:rPr lang="en-US" altLang="ru-RU"/>
              <a:t>(1879-1893);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r>
              <a:rPr lang="ru-RU" altLang="en-US"/>
              <a:t>“Социология как предмет изучения” </a:t>
            </a:r>
            <a:r>
              <a:rPr lang="en-US" altLang="ru-RU"/>
              <a:t>(1903).</a:t>
            </a:r>
            <a:endParaRPr lang="en-US" altLang="ru-RU"/>
          </a:p>
          <a:p>
            <a:pPr marL="257175" indent="-257175">
              <a:buFont typeface="Arial" panose="020B0604020202020204"/>
              <a:buChar char="•"/>
              <a:defRPr/>
            </a:pPr>
            <a:endParaRPr lang="en-US" alt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7752207" y="4365373"/>
            <a:ext cx="4439793" cy="2492626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242570" y="765175"/>
            <a:ext cx="8529955" cy="514286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defRPr/>
            </a:pPr>
            <a:r>
              <a:rPr lang="en-US" altLang="ru-RU"/>
              <a:t>1.</a:t>
            </a:r>
            <a:r>
              <a:rPr lang="ru-RU" altLang="en-US"/>
              <a:t> Существует универсальный закон развития человеческих культур.</a:t>
            </a:r>
            <a:endParaRPr lang="ru-RU" altLang="en-US"/>
          </a:p>
          <a:p>
            <a:pPr>
              <a:defRPr/>
            </a:pPr>
            <a:endParaRPr lang="ru-RU" altLang="en-US"/>
          </a:p>
          <a:p>
            <a:pPr>
              <a:defRPr/>
            </a:pPr>
            <a:r>
              <a:rPr lang="en-US" altLang="ru-RU"/>
              <a:t>2.</a:t>
            </a:r>
            <a:r>
              <a:rPr lang="ru-RU" altLang="en-US"/>
              <a:t> Человеческий род един, поэтому все люди имеют примерно одни и те же умственные способности и в сходных ситуациях будут принимать примерно аналогичные решения, что в свою очередь определяет единообразие культуры на сходных ступенях развития;</a:t>
            </a:r>
            <a:endParaRPr lang="ru-RU" altLang="en-US"/>
          </a:p>
          <a:p>
            <a:pPr>
              <a:defRPr/>
            </a:pPr>
            <a:endParaRPr lang="ru-RU" altLang="en-US"/>
          </a:p>
          <a:p>
            <a:pPr>
              <a:defRPr/>
            </a:pPr>
            <a:r>
              <a:rPr lang="en-US" altLang="ru-RU"/>
              <a:t>3.</a:t>
            </a:r>
            <a:r>
              <a:rPr lang="ru-RU" altLang="en-US"/>
              <a:t> В человеческом обществе имеет место непрерывное развитие, то есть прямолинейный процесс перехода от простого ко все более сложному. </a:t>
            </a:r>
            <a:endParaRPr lang="ru-RU" altLang="en-US"/>
          </a:p>
          <a:p>
            <a:pPr>
              <a:defRPr/>
            </a:pPr>
            <a:endParaRPr lang="ru-RU" altLang="en-US"/>
          </a:p>
          <a:p>
            <a:pPr>
              <a:defRPr/>
            </a:pPr>
            <a:r>
              <a:rPr lang="en-US" altLang="ru-RU"/>
              <a:t>4.</a:t>
            </a:r>
            <a:r>
              <a:rPr lang="ru-RU" altLang="en-US"/>
              <a:t> Развитие любого культурного элемента изначально предопределено, так как его более поздние формы формируются и зарождаются в более ранних. При этом развитие любой культуры многоступенчато, а ступени и стадии развития едины для всех культур в мире</a:t>
            </a:r>
            <a:r>
              <a:rPr lang="en-US" altLang="ru-RU"/>
              <a:t>.</a:t>
            </a:r>
            <a:endParaRPr lang="en-US" altLang="ru-RU"/>
          </a:p>
          <a:p>
            <a:pPr>
              <a:defRPr/>
            </a:pPr>
            <a:endParaRPr lang="ru-RU" altLang="en-US"/>
          </a:p>
          <a:p>
            <a:pPr>
              <a:defRPr/>
            </a:pPr>
            <a:r>
              <a:rPr lang="en-US" altLang="ru-RU"/>
              <a:t>5.</a:t>
            </a:r>
            <a:r>
              <a:rPr lang="ru-RU" altLang="en-US"/>
              <a:t> Культурные различия народов вызваны их различными ступенями развития, а все народы и все культуры соединены между собой в один непрерывный и прогрессивно развивающийся эволюционный ряд.</a:t>
            </a:r>
            <a:endParaRPr lang="ru-RU" altLang="en-US"/>
          </a:p>
          <a:p>
            <a:pPr>
              <a:defRPr/>
            </a:pPr>
            <a:endParaRPr lang="ru-RU" altLang="en-US"/>
          </a:p>
          <a:p>
            <a:pPr>
              <a:defRPr/>
            </a:pPr>
            <a:r>
              <a:rPr lang="en-US" altLang="ru-RU"/>
              <a:t>6.</a:t>
            </a:r>
            <a:r>
              <a:rPr lang="ru-RU" altLang="en-US"/>
              <a:t> Первобытное общество имело единые для всех народов социальные, культурные и экономические модели. </a:t>
            </a:r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9264396" y="764667"/>
            <a:ext cx="309880" cy="36830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004946" y="0"/>
            <a:ext cx="5307330" cy="460375"/>
          </a:xfrm>
          <a:prstGeom prst="rect">
            <a:avLst/>
          </a:prstGeom>
        </p:spPr>
        <p:style>
          <a:lnRef idx="2">
            <a:schemeClr val="lt1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p>
            <a:pPr>
              <a:defRPr/>
            </a:pPr>
            <a:r>
              <a:rPr lang="ru-RU" altLang="en-US" sz="2400" b="1"/>
              <a:t>СОЦИОЛОГИЧЕСКИЕ ИДЕИ Г</a:t>
            </a:r>
            <a:r>
              <a:rPr lang="en-US" altLang="ru-RU" sz="2400" b="1"/>
              <a:t>.</a:t>
            </a:r>
            <a:r>
              <a:rPr lang="ru-RU" altLang="en-US" sz="2400" b="1"/>
              <a:t>СПЕНСЕРА</a:t>
            </a:r>
            <a:endParaRPr lang="ru-RU" altLang="en-US" sz="2400" b="1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210945" y="708660"/>
            <a:ext cx="11294110" cy="21602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eaLnBrk="1" hangingPunct="1">
              <a:lnSpc>
                <a:spcPct val="80000"/>
              </a:lnSpc>
              <a:buFont typeface="Arial" panose="020B0604020202020204"/>
              <a:buNone/>
              <a:defRPr/>
            </a:pPr>
            <a:r>
              <a:rPr lang="ru-RU" altLang="ru-RU" sz="2400" b="1">
                <a:latin typeface="Calibri" panose="020F0502020204030204"/>
                <a:cs typeface="Calibri" panose="020F0502020204030204"/>
              </a:rPr>
              <a:t>Социальные организмы </a:t>
            </a:r>
            <a:r>
              <a:rPr lang="ru-RU" altLang="ru-RU" sz="2400">
                <a:latin typeface="Calibri" panose="020F0502020204030204"/>
                <a:cs typeface="Calibri" panose="020F0502020204030204"/>
              </a:rPr>
              <a:t>— это </a:t>
            </a:r>
            <a:r>
              <a:rPr lang="ru-RU" altLang="ru-RU" sz="2400" u="sng">
                <a:latin typeface="Calibri" panose="020F0502020204030204"/>
                <a:cs typeface="Calibri" panose="020F0502020204030204"/>
              </a:rPr>
              <a:t>вершина</a:t>
            </a:r>
            <a:r>
              <a:rPr lang="ru-RU" altLang="ru-RU" sz="2400">
                <a:latin typeface="Calibri" panose="020F0502020204030204"/>
                <a:cs typeface="Calibri" panose="020F0502020204030204"/>
              </a:rPr>
              <a:t> природной эволюции. В социальном организме Спенсер выделяет </a:t>
            </a:r>
            <a:r>
              <a:rPr lang="ru-RU" altLang="ru-RU" sz="2400" u="sng">
                <a:latin typeface="Calibri" panose="020F0502020204030204"/>
                <a:cs typeface="Calibri" panose="020F0502020204030204"/>
              </a:rPr>
              <a:t>внутреннюю подсистему</a:t>
            </a:r>
            <a:r>
              <a:rPr lang="ru-RU" altLang="ru-RU" sz="2400">
                <a:latin typeface="Calibri" panose="020F0502020204030204"/>
                <a:cs typeface="Calibri" panose="020F0502020204030204"/>
              </a:rPr>
              <a:t>, которая ведает сохранением организма и адаптацией к условиям окружающей среды, и </a:t>
            </a:r>
            <a:r>
              <a:rPr lang="ru-RU" altLang="ru-RU" sz="2400" u="sng">
                <a:latin typeface="Calibri" panose="020F0502020204030204"/>
                <a:cs typeface="Calibri" panose="020F0502020204030204"/>
              </a:rPr>
              <a:t>внешнюю</a:t>
            </a:r>
            <a:r>
              <a:rPr lang="ru-RU" altLang="ru-RU" sz="2400">
                <a:latin typeface="Calibri" panose="020F0502020204030204"/>
                <a:cs typeface="Calibri" panose="020F0502020204030204"/>
              </a:rPr>
              <a:t>, функциями которой являются регулирование и контроль взаимоотношений организма с внешней средой. Имеется и </a:t>
            </a:r>
            <a:r>
              <a:rPr lang="ru-RU" altLang="ru-RU" sz="2400" u="sng">
                <a:latin typeface="Calibri" panose="020F0502020204030204"/>
                <a:cs typeface="Calibri" panose="020F0502020204030204"/>
              </a:rPr>
              <a:t>промежуточная подсистема</a:t>
            </a:r>
            <a:r>
              <a:rPr lang="ru-RU" altLang="ru-RU" sz="2400">
                <a:latin typeface="Calibri" panose="020F0502020204030204"/>
                <a:cs typeface="Calibri" panose="020F0502020204030204"/>
              </a:rPr>
              <a:t>, ответственная за коммуникацию между первыми двумя. Общество в целом у Герберта носит системный характер. </a:t>
            </a:r>
            <a:endParaRPr lang="ru-RU" altLang="ru-RU" sz="2400"/>
          </a:p>
          <a:p>
            <a:pPr lvl="0">
              <a:defRPr/>
            </a:pPr>
            <a:endParaRPr lang="ru-RU" altLang="ru-RU" sz="2400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35610" y="3212465"/>
            <a:ext cx="4796790" cy="3342005"/>
          </a:xfrm>
          <a:prstGeom prst="rect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3">
            <a:schemeClr val="accent5"/>
          </a:effectRef>
          <a:fontRef idx="minor">
            <a:schemeClr val="dk1"/>
          </a:fontRef>
        </p:style>
        <p:txBody>
          <a:bodyPr wrap="square">
            <a:noAutofit/>
          </a:bodyPr>
          <a:p>
            <a:pPr marL="0" indent="0" eaLnBrk="1" hangingPunct="1">
              <a:spcAft>
                <a:spcPts val="0"/>
              </a:spcAft>
              <a:buFont typeface="Arial" panose="020B0604020202020204"/>
              <a:buNone/>
              <a:defRPr/>
            </a:pPr>
            <a:r>
              <a:rPr lang="ru-RU" sz="2400">
                <a:latin typeface="Calibri" panose="020F0502020204030204"/>
                <a:cs typeface="Calibri" panose="020F0502020204030204"/>
              </a:rPr>
              <a:t>Каждый социальный организм</a:t>
            </a:r>
            <a:r>
              <a:rPr lang="ru-RU" altLang="en-US" sz="2400">
                <a:latin typeface="Calibri" panose="020F0502020204030204"/>
                <a:cs typeface="Calibri" panose="020F0502020204030204"/>
              </a:rPr>
              <a:t> </a:t>
            </a:r>
            <a:r>
              <a:rPr lang="ru-RU" sz="2400">
                <a:latin typeface="Calibri" panose="020F0502020204030204"/>
                <a:cs typeface="Calibri" panose="020F0502020204030204"/>
              </a:rPr>
              <a:t>состоит из трех основных органов (систем): </a:t>
            </a:r>
            <a:endParaRPr lang="ru-RU" sz="2400">
              <a:latin typeface="Calibri" panose="020F0502020204030204"/>
              <a:cs typeface="Calibri" panose="020F0502020204030204"/>
            </a:endParaRPr>
          </a:p>
          <a:p>
            <a:pPr marL="0" indent="0" eaLnBrk="1" hangingPunct="1">
              <a:spcAft>
                <a:spcPts val="0"/>
              </a:spcAft>
              <a:buFont typeface="Arial" panose="020B0604020202020204"/>
              <a:buNone/>
              <a:defRPr/>
            </a:pPr>
            <a:r>
              <a:rPr lang="ru-RU" sz="2400">
                <a:latin typeface="Calibri" panose="020F0502020204030204"/>
                <a:cs typeface="Calibri" panose="020F0502020204030204"/>
              </a:rPr>
              <a:t>1) производственного (сельское хозяйство, рыболовство, ремесло); </a:t>
            </a:r>
            <a:endParaRPr lang="ru-RU" sz="2400">
              <a:latin typeface="Calibri" panose="020F0502020204030204"/>
              <a:cs typeface="Calibri" panose="020F0502020204030204"/>
            </a:endParaRPr>
          </a:p>
          <a:p>
            <a:pPr marL="0" indent="0" eaLnBrk="1" hangingPunct="1">
              <a:spcAft>
                <a:spcPts val="0"/>
              </a:spcAft>
              <a:buFont typeface="Arial" panose="020B0604020202020204"/>
              <a:buNone/>
              <a:defRPr/>
            </a:pPr>
            <a:r>
              <a:rPr lang="ru-RU" sz="2400">
                <a:latin typeface="Calibri" panose="020F0502020204030204"/>
                <a:cs typeface="Calibri" panose="020F0502020204030204"/>
              </a:rPr>
              <a:t>2) распределительного (торговля, дороги, транспорт и т. и.); </a:t>
            </a:r>
            <a:endParaRPr lang="ru-RU" sz="2400">
              <a:latin typeface="Calibri" panose="020F0502020204030204"/>
              <a:cs typeface="Calibri" panose="020F0502020204030204"/>
            </a:endParaRPr>
          </a:p>
          <a:p>
            <a:pPr marL="0" indent="0" eaLnBrk="1" hangingPunct="1">
              <a:spcAft>
                <a:spcPts val="0"/>
              </a:spcAft>
              <a:buFont typeface="Arial" panose="020B0604020202020204"/>
              <a:buNone/>
              <a:defRPr/>
            </a:pPr>
            <a:r>
              <a:rPr lang="ru-RU" sz="2400">
                <a:latin typeface="Calibri" panose="020F0502020204030204"/>
                <a:cs typeface="Calibri" panose="020F0502020204030204"/>
              </a:rPr>
              <a:t>3) управленческого (старейшины, государство, церковь и т.п.). </a:t>
            </a:r>
            <a:endParaRPr lang="ru-RU" sz="2400">
              <a:latin typeface="Calibri" panose="020F0502020204030204"/>
              <a:cs typeface="Calibri" panose="020F0502020204030204"/>
            </a:endParaRPr>
          </a:p>
          <a:p>
            <a:pPr lvl="0">
              <a:defRPr/>
            </a:pPr>
            <a:endParaRPr lang="en-US" altLang="ru-RU" sz="2400">
              <a:latin typeface="Calibri" panose="020F0502020204030204"/>
              <a:cs typeface="Calibri" panose="020F0502020204030204"/>
            </a:endParaRPr>
          </a:p>
          <a:p>
            <a:pPr lvl="0">
              <a:defRPr/>
            </a:pPr>
            <a:endParaRPr lang="ru-RU" altLang="ru-RU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663946" y="3212973"/>
            <a:ext cx="6096000" cy="224536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p>
            <a:pPr marL="0" indent="0" eaLnBrk="1" hangingPunct="1">
              <a:spcAft>
                <a:spcPts val="0"/>
              </a:spcAft>
              <a:buFont typeface="Arial" panose="020B0604020202020204"/>
              <a:buNone/>
              <a:defRPr/>
            </a:pPr>
            <a:r>
              <a:rPr lang="ru-RU" sz="2000">
                <a:latin typeface="Calibri" panose="020F0502020204030204"/>
                <a:cs typeface="Calibri" panose="020F0502020204030204"/>
              </a:rPr>
              <a:t>Большую роль в социальных организмах играет управленческая система, определяющая цели и координирующая остальные органы. Таким образом, Спенсер одним из первых дал достаточно четкую структурно-функциональную характеристику социальных организмов: стран, регионов, поселений.</a:t>
            </a:r>
            <a:endParaRPr lang="ru-RU" sz="2000">
              <a:latin typeface="Calibri" panose="020F0502020204030204"/>
              <a:cs typeface="Calibri" panose="020F0502020204030204"/>
            </a:endParaRPr>
          </a:p>
          <a:p>
            <a:pPr lvl="0">
              <a:defRPr/>
            </a:pPr>
            <a:endParaRPr lang="ru-RU" sz="2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lt1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>
              <a:defRPr/>
            </a:pPr>
            <a:r>
              <a:rPr lang="ru-RU"/>
              <a:t>Механизм социальной эволюции включает три фактора: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ru-RU" altLang="ru-RU"/>
              <a:t>люди изначально неравны по своим характерам, способностям, условиям жизни, в результате чего возникает дифференциация ролей, функций, власти, собственности, престижа;</a:t>
            </a:r>
            <a:endParaRPr lang="ru-RU" altLang="ru-RU"/>
          </a:p>
          <a:p>
            <a:pPr eaLnBrk="1" hangingPunct="1">
              <a:lnSpc>
                <a:spcPct val="90000"/>
              </a:lnSpc>
              <a:defRPr/>
            </a:pPr>
            <a:r>
              <a:rPr lang="ru-RU" altLang="ru-RU"/>
              <a:t>существует тенденция к усилению специализации ролей, росту социального неравенства (власти, достатка, образования);</a:t>
            </a:r>
            <a:endParaRPr lang="ru-RU" altLang="ru-RU"/>
          </a:p>
          <a:p>
            <a:pPr eaLnBrk="1" hangingPunct="1">
              <a:lnSpc>
                <a:spcPct val="90000"/>
              </a:lnSpc>
              <a:defRPr/>
            </a:pPr>
            <a:r>
              <a:rPr lang="ru-RU" altLang="ru-RU"/>
              <a:t>общество делится на экономические, политические, национальные, религиозные, профессиональные и т. п. классы, что вызывает его дестабилизацию и ослабление.</a:t>
            </a:r>
            <a:endParaRPr lang="ru-RU" altLang="ru-RU"/>
          </a:p>
          <a:p>
            <a:pPr lvl="0">
              <a:defRPr/>
            </a:pPr>
            <a:endParaRPr lang="ru-RU" alt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519430" y="1257300"/>
            <a:ext cx="11055985" cy="4819650"/>
          </a:xfrm>
        </p:spPr>
        <p:txBody>
          <a:bodyPr/>
          <a:lstStyle/>
          <a:p>
            <a:pPr>
              <a:defRPr/>
            </a:pPr>
            <a:r>
              <a:rPr lang="ru-RU" sz="2200" dirty="0"/>
              <a:t>Философия занимается феноменами, имеющими чувственный характер и поддающихся систематизации. Эти феномены </a:t>
            </a:r>
            <a:r>
              <a:rPr lang="ru-RU" sz="2200" dirty="0">
                <a:solidFill>
                  <a:srgbClr val="FF0000"/>
                </a:solidFill>
              </a:rPr>
              <a:t>обусловлены нашими познавательными способностями</a:t>
            </a:r>
            <a:r>
              <a:rPr lang="ru-RU" sz="2200" dirty="0"/>
              <a:t>, но они суть </a:t>
            </a:r>
            <a:r>
              <a:rPr lang="ru-RU" sz="2200" dirty="0">
                <a:solidFill>
                  <a:srgbClr val="FF0000"/>
                </a:solidFill>
              </a:rPr>
              <a:t>проявления не данного в познавательном опыте</a:t>
            </a:r>
            <a:r>
              <a:rPr lang="ru-RU" sz="2200" dirty="0"/>
              <a:t>.</a:t>
            </a:r>
            <a:endParaRPr lang="ru-RU" sz="2200" dirty="0"/>
          </a:p>
          <a:p>
            <a:pPr>
              <a:defRPr/>
            </a:pPr>
            <a:r>
              <a:rPr lang="ru-RU" sz="2200" dirty="0"/>
              <a:t> "Любая история чего-либо, — писал Спенсер, — должна включать свое появление из </a:t>
            </a:r>
            <a:r>
              <a:rPr lang="ru-RU" sz="2200" dirty="0" err="1"/>
              <a:t>невоспринимаемого</a:t>
            </a:r>
            <a:r>
              <a:rPr lang="ru-RU" sz="2200" dirty="0"/>
              <a:t> и исчезновение в </a:t>
            </a:r>
            <a:r>
              <a:rPr lang="ru-RU" sz="2200" dirty="0" err="1"/>
              <a:t>невоспринимаемое</a:t>
            </a:r>
            <a:r>
              <a:rPr lang="ru-RU" sz="2200" dirty="0"/>
              <a:t>". </a:t>
            </a:r>
            <a:endParaRPr lang="ru-RU" sz="2200" dirty="0"/>
          </a:p>
          <a:p>
            <a:pPr>
              <a:defRPr/>
            </a:pPr>
            <a:r>
              <a:rPr lang="ru-RU" sz="2200" dirty="0"/>
              <a:t>Наличие </a:t>
            </a:r>
            <a:r>
              <a:rPr lang="ru-RU" sz="2200" dirty="0">
                <a:solidFill>
                  <a:srgbClr val="FF0000"/>
                </a:solidFill>
              </a:rPr>
              <a:t>Непознаваемого </a:t>
            </a:r>
            <a:r>
              <a:rPr lang="ru-RU" sz="2200" dirty="0"/>
              <a:t>свидетельствует, что первые причины недоступны интеллекту. Разница между подходом философии и науки, по Спенсеру, чисто количественная, зависящая от степени обобщения ими феноменальных данных. </a:t>
            </a:r>
            <a:endParaRPr lang="ru-RU" sz="2200" dirty="0"/>
          </a:p>
          <a:p>
            <a:pPr>
              <a:defRPr/>
            </a:pPr>
            <a:r>
              <a:rPr lang="ru-RU" sz="2200" dirty="0"/>
              <a:t>Философия оказывается полностью объединенным знанием. Она подразделяется на общую философию и философию специальную. Первая призвана прояснять главные понятия, т.е. осуществлять концептуальный анализ. Вторая согласует эти понятия с опытными данными разных предметных областей, т.е. интерпретирует их.</a:t>
            </a:r>
            <a:endParaRPr lang="ru-RU" sz="2200" dirty="0"/>
          </a:p>
          <a:p>
            <a:pPr>
              <a:defRPr/>
            </a:pPr>
            <a:endParaRPr lang="ru-RU" sz="2200" dirty="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-610870" y="-760730"/>
            <a:ext cx="11671300" cy="3403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 noChangeArrowheads="1"/>
          </p:cNvSpPr>
          <p:nvPr>
            <p:ph type="title"/>
          </p:nvPr>
        </p:nvSpPr>
        <p:spPr bwMode="auto">
          <a:xfrm>
            <a:off x="2059305" y="0"/>
            <a:ext cx="900049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 fontScale="90000"/>
          </a:bodyPr>
          <a:lstStyle/>
          <a:p>
            <a:pPr algn="ctr" eaLnBrk="1" hangingPunct="1"/>
            <a:r>
              <a:rPr lang="ru-RU" sz="2400" dirty="0"/>
              <a:t>Второй позитивизм/махизм/эмпириокритицизм появился в  результате</a:t>
            </a:r>
            <a:endParaRPr lang="ru-RU" altLang="ru-RU" sz="2400" dirty="0">
              <a:solidFill>
                <a:srgbClr val="FF0000"/>
              </a:solidFill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75521" y="404665"/>
            <a:ext cx="8441630" cy="5672287"/>
          </a:xfrm>
        </p:spPr>
        <p:txBody>
          <a:bodyPr rtlCol="0">
            <a:normAutofit fontScale="55000" lnSpcReduction="2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br>
              <a:rPr lang="ru-RU" sz="3600" dirty="0"/>
            </a:br>
            <a:r>
              <a:rPr lang="ru-RU" sz="3600" dirty="0"/>
              <a:t> поиска путей  разрешения «кризиса в физике» в конце XIX в. </a:t>
            </a:r>
            <a:endParaRPr lang="ru-RU" sz="3600" dirty="0"/>
          </a:p>
          <a:p>
            <a:r>
              <a:rPr lang="ru-RU" dirty="0" smtClean="0"/>
              <a:t>Каскад </a:t>
            </a:r>
            <a:r>
              <a:rPr lang="ru-RU" dirty="0"/>
              <a:t>открытий в конце XIX — начале XX в. </a:t>
            </a:r>
            <a:endParaRPr lang="ru-RU" dirty="0"/>
          </a:p>
          <a:p>
            <a:r>
              <a:rPr lang="ru-RU" dirty="0"/>
              <a:t>1896 — А. Беккерель. Открытие самопроизвольного излучения энергии из урановой соли.</a:t>
            </a:r>
            <a:endParaRPr lang="ru-RU" dirty="0"/>
          </a:p>
          <a:p>
            <a:r>
              <a:rPr lang="ru-RU" dirty="0"/>
              <a:t>1898 — П. Кюри и М. Склодовская-Кюри нашли, что радий также испускает </a:t>
            </a:r>
            <a:r>
              <a:rPr lang="ru-RU" dirty="0" err="1"/>
              <a:t>беккерелевы</a:t>
            </a:r>
            <a:r>
              <a:rPr lang="ru-RU" dirty="0"/>
              <a:t> лучи. Это явление получило название радиоактивности.</a:t>
            </a:r>
            <a:endParaRPr lang="ru-RU" dirty="0"/>
          </a:p>
          <a:p>
            <a:r>
              <a:rPr lang="ru-RU" dirty="0"/>
              <a:t>1911 — Э. Резерфорд предложил планетарную модель атома.</a:t>
            </a:r>
            <a:endParaRPr lang="ru-RU" dirty="0"/>
          </a:p>
          <a:p>
            <a:r>
              <a:rPr lang="ru-RU" dirty="0"/>
              <a:t>1913 — Н. Бор разработал, квантовую теорию атома. Электрон излучает или поглощает энергию при переходе с орбиты на орбиту. Эта модель получила название «модель Резерфорда-Бора».</a:t>
            </a:r>
            <a:endParaRPr lang="ru-RU" dirty="0"/>
          </a:p>
          <a:p>
            <a:r>
              <a:rPr lang="ru-RU" dirty="0"/>
              <a:t>1905 — А. Эйнштейном создана специальная теория относительности.</a:t>
            </a:r>
            <a:endParaRPr lang="ru-RU" dirty="0"/>
          </a:p>
          <a:p>
            <a:r>
              <a:rPr lang="ru-RU" dirty="0"/>
              <a:t>1920-е гг. — создана общая теория относительности.</a:t>
            </a:r>
            <a:endParaRPr lang="ru-RU" dirty="0"/>
          </a:p>
          <a:p>
            <a:r>
              <a:rPr lang="ru-RU" dirty="0"/>
              <a:t>І924 — JI. де Бройль формулирует единый закон, согласно которому материальные образования обладают и корпускулярными, и волновыми свойствами. </a:t>
            </a:r>
            <a:r>
              <a:rPr lang="ru-RU" dirty="0" err="1"/>
              <a:t>Гйпотеза</a:t>
            </a:r>
            <a:r>
              <a:rPr lang="ru-RU" dirty="0"/>
              <a:t> Луи де Бройля составила основу квантовой механики. Объекты микромира отличаются </a:t>
            </a:r>
            <a:r>
              <a:rPr lang="ru-RU" dirty="0" err="1"/>
              <a:t>кор</a:t>
            </a:r>
            <a:r>
              <a:rPr lang="ru-RU" dirty="0"/>
              <a:t>- </a:t>
            </a:r>
            <a:r>
              <a:rPr lang="ru-RU" dirty="0" err="1"/>
              <a:t>пускулярно</a:t>
            </a:r>
            <a:r>
              <a:rPr lang="ru-RU" dirty="0"/>
              <a:t>-волновой двойственностью. Движение подчиняется законам квантовой механики.</a:t>
            </a:r>
            <a:endParaRPr lang="ru-RU" dirty="0"/>
          </a:p>
          <a:p>
            <a:r>
              <a:rPr lang="ru-RU" dirty="0"/>
              <a:t>В. Гейзенберг формулирует соотношение неопределенностей, то есть определяет меру применимости законов механики к микромиру</a:t>
            </a:r>
            <a:r>
              <a:rPr lang="ru-RU" dirty="0" smtClean="0"/>
              <a:t>.</a:t>
            </a:r>
            <a:endParaRPr lang="ru-RU" dirty="0" smtClean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4400" dirty="0"/>
          </a:p>
          <a:p>
            <a:pPr marL="0" indent="0">
              <a:buNone/>
            </a:pPr>
            <a:r>
              <a:rPr lang="ru-RU" sz="3600" dirty="0"/>
              <a:t>Требовались новые методологические основы. </a:t>
            </a:r>
            <a:endParaRPr lang="ru-RU" sz="3600" dirty="0"/>
          </a:p>
          <a:p>
            <a:endParaRPr lang="ru-RU" sz="3600" dirty="0"/>
          </a:p>
          <a:p>
            <a:endParaRPr lang="ru-RU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703512" y="692696"/>
            <a:ext cx="8964488" cy="5384014"/>
          </a:xfrm>
        </p:spPr>
        <p:txBody>
          <a:bodyPr/>
          <a:lstStyle/>
          <a:p>
            <a:r>
              <a:rPr lang="ru-RU" dirty="0"/>
              <a:t>Идейными предшественниками махизма являлись агностики XVIII века </a:t>
            </a:r>
            <a:r>
              <a:rPr lang="ru-RU" i="1" dirty="0"/>
              <a:t>Джордж </a:t>
            </a:r>
            <a:r>
              <a:rPr lang="ru-RU" i="1" dirty="0" smtClean="0"/>
              <a:t>Беркли и </a:t>
            </a:r>
            <a:r>
              <a:rPr lang="ru-RU" i="1" dirty="0"/>
              <a:t>Дэвид Юм</a:t>
            </a:r>
            <a:r>
              <a:rPr lang="ru-RU" dirty="0"/>
              <a:t>, вполне определенно высказывавшиеся на предмет невозможности определить источник наших ощущений, которые только и даны нам в процессе познания. </a:t>
            </a:r>
            <a:endParaRPr lang="ru-RU" dirty="0" smtClean="0"/>
          </a:p>
          <a:p>
            <a:r>
              <a:rPr lang="ru-RU" dirty="0"/>
              <a:t>О</a:t>
            </a:r>
            <a:r>
              <a:rPr lang="ru-RU" dirty="0" smtClean="0"/>
              <a:t>щущения </a:t>
            </a:r>
            <a:r>
              <a:rPr lang="ru-RU" dirty="0"/>
              <a:t>являются единственным источником нашего познания, </a:t>
            </a:r>
            <a:r>
              <a:rPr lang="ru-RU" dirty="0" smtClean="0"/>
              <a:t>нет </a:t>
            </a:r>
            <a:r>
              <a:rPr lang="ru-RU" dirty="0"/>
              <a:t>смысла измышлять метафизические сущности и понятия, которые гипотетически могли бы обусловливать наш эмпирический опыт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smtClean="0"/>
              <a:t>Мир </a:t>
            </a:r>
            <a:r>
              <a:rPr lang="ru-RU" dirty="0"/>
              <a:t>– множество комплексов ощущений, и задача науки состоит в том, чтобы описывать эти ощущения и фиксировать функциональные, а также логические связи между ними. 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9288" y="1724026"/>
            <a:ext cx="2728912" cy="3827463"/>
          </a:xfrm>
        </p:spPr>
      </p:pic>
      <p:sp>
        <p:nvSpPr>
          <p:cNvPr id="23556" name="AutoShape 2" descr="Картинки по запросу кант"/>
          <p:cNvSpPr>
            <a:spLocks noGrp="1" noChangeAspect="1" noChangeArrowheads="1"/>
          </p:cNvSpPr>
          <p:nvPr>
            <p:ph sz="half" idx="2"/>
          </p:nvPr>
        </p:nvSpPr>
        <p:spPr>
          <a:xfrm>
            <a:off x="5110163" y="1300164"/>
            <a:ext cx="5084762" cy="4676775"/>
          </a:xfrm>
        </p:spPr>
        <p:txBody>
          <a:bodyPr rtlCol="0">
            <a:normAutofit fontScale="9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ru-RU" sz="18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600" dirty="0"/>
              <a:t>Основные работы:</a:t>
            </a:r>
            <a:endParaRPr lang="ru-RU" sz="26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600" dirty="0"/>
              <a:t>«О цвете двойных звёзд на основании принципа Доплера» (1861)</a:t>
            </a:r>
            <a:endParaRPr lang="ru-RU" sz="26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600" dirty="0"/>
              <a:t> «Объяснение музыкальной теории Гельмгольца» 1866), </a:t>
            </a:r>
            <a:endParaRPr lang="ru-RU" sz="26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600" dirty="0"/>
              <a:t>«История и корень принципа сохранения работы» (1872)</a:t>
            </a:r>
            <a:endParaRPr lang="ru-RU" sz="26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600" dirty="0"/>
              <a:t> «Механика: Историко-критический очерк её развития» (1883)</a:t>
            </a:r>
            <a:endParaRPr lang="ru-RU" sz="26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600" dirty="0"/>
              <a:t> «Анализ ощущений» (1886).</a:t>
            </a:r>
            <a:endParaRPr lang="ru-RU" sz="26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ru-RU" sz="2600" dirty="0"/>
              <a:t> </a:t>
            </a:r>
            <a:endParaRPr lang="ru-RU" sz="2600" dirty="0"/>
          </a:p>
        </p:txBody>
      </p:sp>
      <p:sp>
        <p:nvSpPr>
          <p:cNvPr id="18435" name="Заголовок 4"/>
          <p:cNvSpPr>
            <a:spLocks noGrp="1"/>
          </p:cNvSpPr>
          <p:nvPr>
            <p:ph type="title"/>
          </p:nvPr>
        </p:nvSpPr>
        <p:spPr bwMode="auto">
          <a:xfrm>
            <a:off x="2004060" y="201930"/>
            <a:ext cx="8213090" cy="12979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r>
              <a:rPr lang="ru-RU" altLang="ru-RU" sz="2800">
                <a:latin typeface="PT Sans"/>
              </a:rPr>
              <a:t>Эрнст Мах</a:t>
            </a:r>
            <a:r>
              <a:rPr lang="ru-RU" altLang="ru-RU" sz="2800" b="0">
                <a:latin typeface="PT Sans"/>
              </a:rPr>
              <a:t> (1838 - 1916 ) </a:t>
            </a:r>
            <a:endParaRPr lang="ru-RU" altLang="ru-RU" sz="2800">
              <a:latin typeface="PT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47850" y="476250"/>
            <a:ext cx="8496300" cy="5703888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Термин «эмпириокритицизм»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 введен Р. </a:t>
            </a:r>
            <a:r>
              <a:rPr lang="ru-RU" sz="3200" dirty="0" err="1"/>
              <a:t>Авенариусом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 означает критику опыта.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Научный опыт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необходимо очистить от метафизических сущностей, абстракций,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философских категорий (причинность, субстанция, необходимость, материя и т.п.)</a:t>
            </a:r>
            <a:endParaRPr lang="ru-RU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8" name="Заголовок 16387"/>
          <p:cNvSpPr>
            <a:spLocks noGrp="1"/>
          </p:cNvSpPr>
          <p:nvPr>
            <p:ph type="title"/>
          </p:nvPr>
        </p:nvSpPr>
        <p:spPr>
          <a:xfrm>
            <a:off x="5159375" y="274638"/>
            <a:ext cx="5051425" cy="561975"/>
          </a:xfrm>
        </p:spPr>
        <p:txBody>
          <a:bodyPr anchor="ctr" anchorCtr="0"/>
          <a:p>
            <a:r>
              <a:rPr sz="4000" err="1"/>
              <a:t>Рихард</a:t>
            </a:r>
            <a:r>
              <a:rPr sz="4000"/>
              <a:t> </a:t>
            </a:r>
            <a:r>
              <a:rPr sz="4000" err="1"/>
              <a:t>Авенариус</a:t>
            </a:r>
            <a:endParaRPr sz="4000"/>
          </a:p>
        </p:txBody>
      </p:sp>
      <p:pic>
        <p:nvPicPr>
          <p:cNvPr id="16389" name="Замещающее содержимое 16388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524000" y="188913"/>
            <a:ext cx="3035300" cy="4060825"/>
          </a:xfrm>
        </p:spPr>
      </p:pic>
      <p:sp>
        <p:nvSpPr>
          <p:cNvPr id="16387" name="Замещающий текст 16386"/>
          <p:cNvSpPr>
            <a:spLocks noGrp="1"/>
          </p:cNvSpPr>
          <p:nvPr>
            <p:ph type="body" sz="half" idx="2"/>
          </p:nvPr>
        </p:nvSpPr>
        <p:spPr>
          <a:xfrm>
            <a:off x="4583113" y="1125538"/>
            <a:ext cx="6084887" cy="5543550"/>
          </a:xfrm>
        </p:spPr>
        <p:txBody>
          <a:bodyPr/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sz="2000"/>
              <a:t>Родился в Париже в </a:t>
            </a:r>
            <a:r>
              <a:rPr sz="2000" b="1"/>
              <a:t>1843</a:t>
            </a:r>
            <a:r>
              <a:rPr sz="2000"/>
              <a:t> г., </a:t>
            </a:r>
            <a:endParaRPr sz="2000"/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sz="2000"/>
              <a:t>учился в Лейпциге и Берлине. </a:t>
            </a:r>
            <a:endParaRPr sz="2000"/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sz="2000"/>
              <a:t>В 1876 г. начал издавать вместе с В. Вундтом «</a:t>
            </a:r>
            <a:r>
              <a:rPr sz="2000" err="1"/>
              <a:t>Трехмесячник</a:t>
            </a:r>
            <a:r>
              <a:rPr sz="2000"/>
              <a:t> научной философии», оказавший заметное влияние на культурную жизнь Германии. </a:t>
            </a:r>
            <a:endParaRPr sz="2000"/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sz="2000"/>
              <a:t>С 1877 г. и до самой смерти, последовавшей в </a:t>
            </a:r>
            <a:r>
              <a:rPr sz="2000" b="1"/>
              <a:t>1896 г.,</a:t>
            </a:r>
            <a:r>
              <a:rPr sz="2000"/>
              <a:t> он преподавал «индуктивную философию» в </a:t>
            </a:r>
            <a:r>
              <a:rPr sz="2000" err="1"/>
              <a:t>Цюрихском</a:t>
            </a:r>
            <a:r>
              <a:rPr sz="2000"/>
              <a:t> университете. </a:t>
            </a:r>
            <a:endParaRPr sz="2000"/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sz="2000"/>
              <a:t>В 1876 г. опубликована «Философия как мышление о мире по принципу наименьшей траты сил» и «</a:t>
            </a:r>
            <a:r>
              <a:rPr sz="2000" b="1">
                <a:solidFill>
                  <a:srgbClr val="CC3300"/>
                </a:solidFill>
              </a:rPr>
              <a:t>Критика чистого </a:t>
            </a:r>
            <a:r>
              <a:rPr sz="2000" b="1">
                <a:solidFill>
                  <a:srgbClr val="008000"/>
                </a:solidFill>
              </a:rPr>
              <a:t>опыта</a:t>
            </a:r>
            <a:r>
              <a:rPr sz="2000"/>
              <a:t>» (1888—1890), а также «Человеческое понятие о мире» (1891).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9" name="Замещающее содержимое 39938"/>
          <p:cNvSpPr>
            <a:spLocks noGrp="1"/>
          </p:cNvSpPr>
          <p:nvPr>
            <p:ph sz="half" idx="2"/>
          </p:nvPr>
        </p:nvSpPr>
        <p:spPr>
          <a:xfrm>
            <a:off x="5133975" y="1002030"/>
            <a:ext cx="6456045" cy="5175250"/>
          </a:xfrm>
        </p:spPr>
        <p:txBody>
          <a:bodyPr/>
          <a:p>
            <a:pPr>
              <a:lnSpc>
                <a:spcPct val="90000"/>
              </a:lnSpc>
            </a:pPr>
            <a:r>
              <a:rPr sz="2400"/>
              <a:t> </a:t>
            </a:r>
            <a:r>
              <a:rPr sz="2400" err="1"/>
              <a:t>Авенариус</a:t>
            </a:r>
            <a:r>
              <a:rPr sz="2400"/>
              <a:t> за отправной пункт познания принимает не </a:t>
            </a:r>
            <a:r>
              <a:rPr sz="2400">
                <a:hlinkClick r:id="rId1"/>
              </a:rPr>
              <a:t>мышление</a:t>
            </a:r>
            <a:r>
              <a:rPr sz="2400"/>
              <a:t> или </a:t>
            </a:r>
            <a:r>
              <a:rPr sz="2400">
                <a:hlinkClick r:id="rId2"/>
              </a:rPr>
              <a:t>субъект</a:t>
            </a:r>
            <a:r>
              <a:rPr sz="2400"/>
              <a:t>, не </a:t>
            </a:r>
            <a:r>
              <a:rPr sz="2400">
                <a:hlinkClick r:id="rId3"/>
              </a:rPr>
              <a:t>материю</a:t>
            </a:r>
            <a:r>
              <a:rPr sz="2400"/>
              <a:t> или </a:t>
            </a:r>
            <a:r>
              <a:rPr sz="2400">
                <a:hlinkClick r:id="rId4"/>
              </a:rPr>
              <a:t>объект</a:t>
            </a:r>
            <a:r>
              <a:rPr sz="2400"/>
              <a:t>, а </a:t>
            </a:r>
            <a:r>
              <a:rPr sz="2400">
                <a:hlinkClick r:id="rId5"/>
              </a:rPr>
              <a:t>опыт</a:t>
            </a:r>
            <a:r>
              <a:rPr sz="2400"/>
              <a:t> в том виде, в каком он непосредственно познается людьми, а потому метод </a:t>
            </a:r>
            <a:r>
              <a:rPr sz="2400" err="1"/>
              <a:t>Авенариуса</a:t>
            </a:r>
            <a:r>
              <a:rPr sz="2400"/>
              <a:t> заключается в чистом описании эмпирически данного. </a:t>
            </a:r>
            <a:endParaRPr sz="2400"/>
          </a:p>
          <a:p>
            <a:pPr>
              <a:lnSpc>
                <a:spcPct val="90000"/>
              </a:lnSpc>
            </a:pPr>
            <a:endParaRPr sz="240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2" name="Замещающее содержимое 1"/>
          <p:cNvPicPr>
            <a:picLocks noChangeAspect="1"/>
          </p:cNvPicPr>
          <p:nvPr>
            <p:ph sz="half" idx="1"/>
          </p:nvPr>
        </p:nvPicPr>
        <p:blipFill>
          <a:blip r:embed="rId6"/>
          <a:stretch>
            <a:fillRect/>
          </a:stretch>
        </p:blipFill>
        <p:spPr>
          <a:xfrm>
            <a:off x="322580" y="1002665"/>
            <a:ext cx="4930140" cy="495173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97790" y="1387475"/>
            <a:ext cx="5645150" cy="899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Заголовок 1843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490537"/>
          </a:xfrm>
        </p:spPr>
        <p:txBody>
          <a:bodyPr anchor="ctr" anchorCtr="0">
            <a:normAutofit fontScale="90000"/>
          </a:bodyPr>
          <a:p>
            <a:r>
              <a:rPr sz="4000"/>
              <a:t>Что есть опыт?</a:t>
            </a:r>
            <a:endParaRPr sz="4000"/>
          </a:p>
        </p:txBody>
      </p:sp>
      <p:sp>
        <p:nvSpPr>
          <p:cNvPr id="18435" name="Замещающий текст 18434"/>
          <p:cNvSpPr>
            <a:spLocks noGrp="1"/>
          </p:cNvSpPr>
          <p:nvPr>
            <p:ph type="body" idx="1"/>
          </p:nvPr>
        </p:nvSpPr>
        <p:spPr>
          <a:xfrm>
            <a:off x="1524000" y="836613"/>
            <a:ext cx="9144000" cy="6021387"/>
          </a:xfrm>
        </p:spPr>
        <p:txBody>
          <a:bodyPr/>
          <a:p>
            <a:pPr>
              <a:lnSpc>
                <a:spcPct val="90000"/>
              </a:lnSpc>
              <a:buNone/>
            </a:pPr>
            <a:r>
              <a:rPr sz="2400"/>
              <a:t>Опыт есть непрерывная цепь жизненных реакций организма на среду. </a:t>
            </a:r>
            <a:endParaRPr sz="2400"/>
          </a:p>
          <a:p>
            <a:pPr>
              <a:lnSpc>
                <a:spcPct val="90000"/>
              </a:lnSpc>
              <a:buNone/>
            </a:pPr>
            <a:r>
              <a:rPr sz="2400"/>
              <a:t>Реальны все виды опыта, включая сновидения и бред безумца. </a:t>
            </a:r>
            <a:endParaRPr sz="2400"/>
          </a:p>
          <a:p>
            <a:pPr>
              <a:lnSpc>
                <a:spcPct val="90000"/>
              </a:lnSpc>
              <a:buNone/>
            </a:pPr>
            <a:r>
              <a:rPr sz="2400"/>
              <a:t>Индивид и среда противоположны, но обе реальности принадлежат одному опыту. «Когда, например, говорят: "Я вижу дерево", — это значит: "</a:t>
            </a:r>
            <a:r>
              <a:rPr sz="2400" b="1">
                <a:solidFill>
                  <a:srgbClr val="CC3300"/>
                </a:solidFill>
              </a:rPr>
              <a:t>Я</a:t>
            </a:r>
            <a:r>
              <a:rPr sz="2400"/>
              <a:t> и </a:t>
            </a:r>
            <a:r>
              <a:rPr sz="2400" b="1">
                <a:solidFill>
                  <a:srgbClr val="000099"/>
                </a:solidFill>
              </a:rPr>
              <a:t>дерево</a:t>
            </a:r>
            <a:r>
              <a:rPr sz="2400"/>
              <a:t> </a:t>
            </a:r>
            <a:r>
              <a:rPr sz="2400" b="1">
                <a:solidFill>
                  <a:srgbClr val="008000"/>
                </a:solidFill>
              </a:rPr>
              <a:t>есть содержание одной и той же данности</a:t>
            </a:r>
            <a:r>
              <a:rPr sz="2400"/>
              <a:t>".</a:t>
            </a:r>
            <a:endParaRPr sz="2400"/>
          </a:p>
          <a:p>
            <a:pPr>
              <a:lnSpc>
                <a:spcPct val="90000"/>
              </a:lnSpc>
              <a:buNone/>
            </a:pPr>
            <a:r>
              <a:rPr sz="2400" b="1">
                <a:solidFill>
                  <a:srgbClr val="660066"/>
                </a:solidFill>
                <a:latin typeface="Arial Narrow" panose="020B0606020202030204" pitchFamily="34" charset="0"/>
              </a:rPr>
              <a:t>Опыт - взаимодействие среды и нервной системы индивида</a:t>
            </a:r>
            <a:r>
              <a:rPr sz="2400"/>
              <a:t>. </a:t>
            </a:r>
            <a:endParaRPr sz="2400"/>
          </a:p>
          <a:p>
            <a:pPr>
              <a:lnSpc>
                <a:spcPct val="90000"/>
              </a:lnSpc>
              <a:buNone/>
            </a:pPr>
            <a:r>
              <a:rPr sz="2400">
                <a:latin typeface="Arial Narrow" panose="020B0606020202030204" pitchFamily="34" charset="0"/>
              </a:rPr>
              <a:t>Это биологическое событие, состоящее из </a:t>
            </a:r>
            <a:r>
              <a:rPr sz="2400" b="1" u="sng">
                <a:latin typeface="Arial Narrow" panose="020B0606020202030204" pitchFamily="34" charset="0"/>
              </a:rPr>
              <a:t>элементов</a:t>
            </a:r>
            <a:r>
              <a:rPr sz="2400">
                <a:latin typeface="Arial Narrow" panose="020B0606020202030204" pitchFamily="34" charset="0"/>
              </a:rPr>
              <a:t> (например, «зеленое», «холодное», «горячее», «твердое», «мягкое» и т. д.) и </a:t>
            </a:r>
            <a:r>
              <a:rPr sz="2400" b="1" u="sng">
                <a:latin typeface="Arial Narrow" panose="020B0606020202030204" pitchFamily="34" charset="0"/>
              </a:rPr>
              <a:t>характеристик</a:t>
            </a:r>
            <a:r>
              <a:rPr sz="2400">
                <a:latin typeface="Arial Narrow" panose="020B0606020202030204" pitchFamily="34" charset="0"/>
              </a:rPr>
              <a:t> («приятное», «неприятное», «красивое», «безобразное» и т. д.).</a:t>
            </a:r>
            <a:endParaRPr sz="2400">
              <a:latin typeface="Arial Narrow" panose="020B0606020202030204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sz="2400">
                <a:latin typeface="Arial Narrow" panose="020B0606020202030204" pitchFamily="34" charset="0"/>
              </a:rPr>
              <a:t>Трактовка теоретической и практической деятельности как </a:t>
            </a:r>
            <a:r>
              <a:rPr sz="2400" b="1">
                <a:solidFill>
                  <a:srgbClr val="A50021"/>
                </a:solidFill>
                <a:latin typeface="Arial Narrow" panose="020B0606020202030204" pitchFamily="34" charset="0"/>
              </a:rPr>
              <a:t>модификаций центральной нервной системы.</a:t>
            </a:r>
            <a:r>
              <a:rPr sz="2400" b="1">
                <a:solidFill>
                  <a:srgbClr val="A50021"/>
                </a:solidFill>
              </a:rPr>
              <a:t>   </a:t>
            </a:r>
            <a:endParaRPr sz="2400" b="1">
              <a:solidFill>
                <a:srgbClr val="A5002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413" y="365125"/>
            <a:ext cx="7885112" cy="5399088"/>
          </a:xfrm>
        </p:spPr>
        <p:txBody>
          <a:bodyPr rtlCol="0">
            <a:normAutofit lnSpcReduction="10000"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Теоретические законы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должны быть,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сжатой сводкой опытных данных,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способом их упорядочивания.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Непосредственная фиксация наблюдений –о прямое описание,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 в результате него образуются опытные факты,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косвенные описания наблюдений – это теории. наблюдениями. </a:t>
            </a:r>
            <a:endParaRPr lang="ru-RU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09788" y="1027114"/>
            <a:ext cx="7886700" cy="4352925"/>
          </a:xfrm>
        </p:spPr>
        <p:txBody>
          <a:bodyPr rtlCol="0">
            <a:normAutofit lnSpcReduction="10000"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600" b="1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600" b="1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4400" dirty="0"/>
              <a:t>Не тела вызывают ощущения, </a:t>
            </a:r>
            <a:endParaRPr lang="ru-RU" sz="44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4400" dirty="0"/>
              <a:t>а совокупность ощущений образуют тела. </a:t>
            </a:r>
            <a:endParaRPr lang="ru-RU" sz="44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44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4400" dirty="0"/>
              <a:t>Задача науки – их описание.</a:t>
            </a:r>
            <a:endParaRPr lang="ru-RU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226" y="868364"/>
            <a:ext cx="8289925" cy="5208587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«Принципиальная координация» субъекта и объекта.</a:t>
            </a:r>
            <a:endParaRPr lang="ru-RU" sz="36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Не существует объекта без субъекта 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не существует субъекта без объекта. </a:t>
            </a:r>
            <a:endParaRPr lang="ru-RU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7100" y="0"/>
            <a:ext cx="6750050" cy="577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normAutofit/>
          </a:bodyPr>
          <a:lstStyle/>
          <a:p>
            <a:pPr eaLnBrk="1" hangingPunct="1"/>
            <a:endParaRPr lang="ru-RU" altLang="ru-RU" smtClean="0">
              <a:latin typeface="PT Sans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9289" y="620714"/>
            <a:ext cx="8435975" cy="5646737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Познание </a:t>
            </a:r>
            <a:r>
              <a:rPr lang="ru-RU" sz="3200" dirty="0" err="1"/>
              <a:t>Авенариус</a:t>
            </a:r>
            <a:r>
              <a:rPr lang="ru-RU" sz="3200" dirty="0"/>
              <a:t> рассматривает как особый аспект жизнедеятельности,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жизнь - процесс накопления и расходования энергии.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Выживание организмов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зависит от их способности минимизировать затраты энергии в процессе адаптации к среде, </a:t>
            </a:r>
            <a:endParaRPr lang="ru-RU" sz="32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200" dirty="0"/>
              <a:t>экономно расходовать свои энергетические запасы.</a:t>
            </a:r>
            <a:endParaRPr lang="ru-RU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Объект 2"/>
          <p:cNvSpPr>
            <a:spLocks noGrp="1"/>
          </p:cNvSpPr>
          <p:nvPr>
            <p:ph idx="1"/>
          </p:nvPr>
        </p:nvSpPr>
        <p:spPr>
          <a:xfrm>
            <a:off x="1992313" y="116633"/>
            <a:ext cx="8280151" cy="7144593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В основе жизни лежит принцип наименьшей траты сил 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Познание - аспект жизни,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 принцип наименьшей траты сил распространяется на познавательные процессы. </a:t>
            </a: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ru-RU" sz="3600" dirty="0"/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ru-RU" sz="3600" dirty="0"/>
              <a:t>В познании он выступает в форме принципа экономии мышления. </a:t>
            </a:r>
            <a:endParaRPr lang="ru-RU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9" name="Замещающий текст 19458"/>
          <p:cNvSpPr>
            <a:spLocks noGrp="1"/>
          </p:cNvSpPr>
          <p:nvPr>
            <p:ph type="body" idx="1"/>
          </p:nvPr>
        </p:nvSpPr>
        <p:spPr>
          <a:xfrm>
            <a:off x="209550" y="767080"/>
            <a:ext cx="11193780" cy="5902325"/>
          </a:xfrm>
        </p:spPr>
        <p:txBody>
          <a:bodyPr/>
          <a:p>
            <a:pPr>
              <a:buNone/>
            </a:pPr>
            <a:r>
              <a:rPr err="1"/>
              <a:t>Авенариуса</a:t>
            </a:r>
            <a:r>
              <a:t>, желавшего быть выше материализма и идеализма, критиковали позже философы почти всех направлений. </a:t>
            </a:r>
          </a:p>
          <a:p>
            <a:pPr>
              <a:buNone/>
            </a:pPr>
            <a:r>
              <a:t>В</a:t>
            </a:r>
            <a:r>
              <a:rPr lang="ru-RU"/>
              <a:t>.</a:t>
            </a:r>
            <a:r>
              <a:t> Вундт </a:t>
            </a:r>
            <a:r>
              <a:rPr lang="ru-RU"/>
              <a:t>(</a:t>
            </a:r>
            <a:r>
              <a:t>1832</a:t>
            </a:r>
            <a:r>
              <a:rPr lang="ru-RU"/>
              <a:t>-</a:t>
            </a:r>
            <a:r>
              <a:t> 1920) — </a:t>
            </a:r>
            <a:r>
              <a:rPr sz="1600"/>
              <a:t>немецкий врач, физиолог, психолог и лингвист</a:t>
            </a:r>
            <a:r>
              <a:rPr lang="ru-RU" sz="1600"/>
              <a:t>,с</a:t>
            </a:r>
            <a:r>
              <a:rPr sz="1600"/>
              <a:t>пециализировался в области экспериментальной психологии </a:t>
            </a:r>
            <a:r>
              <a:t>обвинил его в </a:t>
            </a:r>
            <a:r>
              <a:rPr b="1" u="sng"/>
              <a:t>материализме</a:t>
            </a:r>
            <a:r>
              <a:t>, </a:t>
            </a:r>
          </a:p>
          <a:p>
            <a:pPr>
              <a:buNone/>
            </a:pPr>
            <a:r>
              <a:rPr lang="ru-RU" err="1">
                <a:latin typeface="Arial Narrow" panose="020B0606020202030204" pitchFamily="34" charset="0"/>
              </a:rPr>
              <a:t>Э. Гу́серль (1859-1938) — немецкий философ, основатель феноменологии.) - </a:t>
            </a:r>
            <a:r>
              <a:rPr>
                <a:latin typeface="Arial Narrow" panose="020B0606020202030204" pitchFamily="34" charset="0"/>
              </a:rPr>
              <a:t> счел неприемлемым его </a:t>
            </a:r>
            <a:r>
              <a:rPr b="1" u="sng">
                <a:latin typeface="Arial Narrow" panose="020B0606020202030204" pitchFamily="34" charset="0"/>
              </a:rPr>
              <a:t>психологизм</a:t>
            </a:r>
            <a:r>
              <a:rPr>
                <a:latin typeface="Arial Narrow" panose="020B0606020202030204" pitchFamily="34" charset="0"/>
              </a:rPr>
              <a:t>,</a:t>
            </a:r>
            <a:r>
              <a:t>  </a:t>
            </a:r>
          </a:p>
          <a:p>
            <a:pPr>
              <a:buNone/>
            </a:pPr>
            <a:r>
              <a:rPr lang="ru-RU"/>
              <a:t>В.</a:t>
            </a:r>
            <a:r>
              <a:t>Ленин заклеймил </a:t>
            </a:r>
            <a:r>
              <a:rPr err="1"/>
              <a:t>Авенариуса</a:t>
            </a:r>
            <a:r>
              <a:t> как </a:t>
            </a:r>
            <a:r>
              <a:rPr b="1" u="sng"/>
              <a:t>идеалиста</a:t>
            </a:r>
            <a:r>
              <a:t>. </a:t>
            </a:r>
          </a:p>
          <a:p>
            <a:pPr>
              <a:buBlip>
                <a:blip r:embed="rId1"/>
              </a:buBlip>
            </a:pPr>
            <a:r>
              <a:rPr err="1">
                <a:latin typeface="Arial Narrow" panose="020B0606020202030204" pitchFamily="34" charset="0"/>
              </a:rPr>
              <a:t>Авенариус</a:t>
            </a:r>
            <a:r>
              <a:rPr>
                <a:latin typeface="Arial Narrow" panose="020B0606020202030204" pitchFamily="34" charset="0"/>
              </a:rPr>
              <a:t> предвосхитил </a:t>
            </a:r>
            <a:r>
              <a:rPr>
                <a:solidFill>
                  <a:srgbClr val="008000"/>
                </a:solidFill>
                <a:latin typeface="Arial Narrow" panose="020B0606020202030204" pitchFamily="34" charset="0"/>
              </a:rPr>
              <a:t>кибернетическую теорию моделирования</a:t>
            </a:r>
            <a:r>
              <a:rPr lang="ru-RU">
                <a:solidFill>
                  <a:srgbClr val="008000"/>
                </a:solidFill>
                <a:latin typeface="Arial Narrow" panose="020B0606020202030204" pitchFamily="34" charset="0"/>
              </a:rPr>
              <a:t> (</a:t>
            </a:r>
            <a:r>
              <a:rPr lang="ru-RU" sz="1600">
                <a:solidFill>
                  <a:srgbClr val="008000"/>
                </a:solidFill>
                <a:latin typeface="Arial Narrow" panose="020B0606020202030204" pitchFamily="34" charset="0"/>
              </a:rPr>
              <a:t>Кибернетическая модель отражает поведение объекта при различных воздействиях, то есть отражает некоторые информационные процессы управления и поведения объекта</a:t>
            </a:r>
            <a:r>
              <a:rPr lang="ru-RU">
                <a:solidFill>
                  <a:srgbClr val="008000"/>
                </a:solidFill>
                <a:latin typeface="Arial Narrow" panose="020B0606020202030204" pitchFamily="34" charset="0"/>
              </a:rPr>
              <a:t>.)</a:t>
            </a:r>
            <a:r>
              <a:rPr>
                <a:latin typeface="Arial Narrow" panose="020B0606020202030204" pitchFamily="34" charset="0"/>
              </a:rPr>
              <a:t>, </a:t>
            </a:r>
            <a:r>
              <a:rPr>
                <a:solidFill>
                  <a:srgbClr val="000099"/>
                </a:solidFill>
                <a:latin typeface="Arial Narrow" panose="020B0606020202030204" pitchFamily="34" charset="0"/>
              </a:rPr>
              <a:t>общую теорию систем</a:t>
            </a:r>
            <a:r>
              <a:rPr lang="ru-RU">
                <a:solidFill>
                  <a:srgbClr val="000099"/>
                </a:solidFill>
                <a:latin typeface="Arial Narrow" panose="020B0606020202030204" pitchFamily="34" charset="0"/>
              </a:rPr>
              <a:t> (</a:t>
            </a:r>
            <a:r>
              <a:rPr lang="ru-RU" sz="1600">
                <a:solidFill>
                  <a:srgbClr val="000099"/>
                </a:solidFill>
                <a:latin typeface="Arial Narrow" panose="020B0606020202030204" pitchFamily="34" charset="0"/>
              </a:rPr>
              <a:t>изучает различные явления, отвлекаясь от их конкретной природы, и основывается лишь на формальных взаимосвязях между различными составляющими их факторами и на характере их изменений под влиянием внешних условий</a:t>
            </a:r>
            <a:r>
              <a:rPr lang="ru-RU">
                <a:solidFill>
                  <a:srgbClr val="000099"/>
                </a:solidFill>
                <a:latin typeface="Arial Narrow" panose="020B0606020202030204" pitchFamily="34" charset="0"/>
              </a:rPr>
              <a:t>)</a:t>
            </a:r>
            <a:r>
              <a:rPr>
                <a:latin typeface="Arial Narrow" panose="020B0606020202030204" pitchFamily="34" charset="0"/>
              </a:rPr>
              <a:t> </a:t>
            </a:r>
            <a:endParaRPr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Тема1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18297</Words>
  <Application>WPS Presentation</Application>
  <PresentationFormat>Широкоэкранный</PresentationFormat>
  <Paragraphs>253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5" baseType="lpstr">
      <vt:lpstr>Arial</vt:lpstr>
      <vt:lpstr>SimSun</vt:lpstr>
      <vt:lpstr>Wingdings</vt:lpstr>
      <vt:lpstr>Calibri Light</vt:lpstr>
      <vt:lpstr>Calibri</vt:lpstr>
      <vt:lpstr>PT Sans</vt:lpstr>
      <vt:lpstr>Segoe Print</vt:lpstr>
      <vt:lpstr>PT Sans</vt:lpstr>
      <vt:lpstr>Calibri</vt:lpstr>
      <vt:lpstr>Microsoft YaHei</vt:lpstr>
      <vt:lpstr>Arial Unicode MS</vt:lpstr>
      <vt:lpstr>Times New Roman</vt:lpstr>
      <vt:lpstr>STFangsong</vt:lpstr>
      <vt:lpstr>STZhongsong</vt:lpstr>
      <vt:lpstr>Arial</vt:lpstr>
      <vt:lpstr>Arial Narrow</vt:lpstr>
      <vt:lpstr>Тема1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Позитивистская философия</vt:lpstr>
      <vt:lpstr>Позитивистская концепция науки </vt:lpstr>
      <vt:lpstr>PowerPoint 演示文稿</vt:lpstr>
      <vt:lpstr>Исидор Мари Огюст Франсуа Ксавье Конт 1798- 1857</vt:lpstr>
      <vt:lpstr>PowerPoint 演示文稿</vt:lpstr>
      <vt:lpstr>PowerPoint 演示文稿</vt:lpstr>
      <vt:lpstr> Огюст Конт (1798—1857) «Курс позитивной философии»  1842 г.    Три стадии интеллектуальной эволюции человечества:    1. Теологическая - все явления объясняются на основе  религиозных представлений, вера, мистическое подменяет рациональное ;   2. Метафизическая (философская) стадия заменяет сверхъестественные факторы в объяснении природы сущностями, причинами, знанием о всеобщем;   3. Позитивная (положительная) или научная, на которой возникает наука об обществе (социология), а все науки изучают явления в их конкретно-чувственной данности человеку, не пытаясь проникнуть в сущность, познать причины.     </vt:lpstr>
      <vt:lpstr>PowerPoint 演示文稿</vt:lpstr>
      <vt:lpstr>Джон Стюарт Милль  (1806 - 1873)</vt:lpstr>
      <vt:lpstr>PowerPoint 演示文稿</vt:lpstr>
      <vt:lpstr>PowerPoint 演示文稿</vt:lpstr>
      <vt:lpstr>PowerPoint 演示文稿</vt:lpstr>
      <vt:lpstr>PowerPoint 演示文稿</vt:lpstr>
      <vt:lpstr>Милль о роли искусства в экономике и этике</vt:lpstr>
      <vt:lpstr>PowerPoint 演示文稿</vt:lpstr>
      <vt:lpstr>PowerPoint 演示文稿</vt:lpstr>
      <vt:lpstr>PowerPoint 演示文稿</vt:lpstr>
      <vt:lpstr>Механизм социальной эволюции включает три фактора:</vt:lpstr>
      <vt:lpstr>PowerPoint 演示文稿</vt:lpstr>
      <vt:lpstr>Второй позитивизм появился в  результате</vt:lpstr>
      <vt:lpstr>PowerPoint 演示文稿</vt:lpstr>
      <vt:lpstr>Эрнст Мах (1838 - 1916 ) </vt:lpstr>
      <vt:lpstr>PowerPoint 演示文稿</vt:lpstr>
      <vt:lpstr>Рихард Авенариус</vt:lpstr>
      <vt:lpstr>PowerPoint 演示文稿</vt:lpstr>
      <vt:lpstr>Что есть опыт?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Ирина</cp:lastModifiedBy>
  <cp:revision>4</cp:revision>
  <dcterms:created xsi:type="dcterms:W3CDTF">2022-12-10T12:03:00Z</dcterms:created>
  <dcterms:modified xsi:type="dcterms:W3CDTF">2023-11-16T23:09:02Z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09C994E7E8D2458CBBA14EFC87298E0E_13</vt:lpwstr>
  </property>
  <property fmtid="{D5CDD505-2E9C-101B-9397-08002B2CF9AE}" pid="3" name="KSOProductBuildVer">
    <vt:lpwstr>1049-12.2.0.13266</vt:lpwstr>
  </property>
</Properties>
</file>