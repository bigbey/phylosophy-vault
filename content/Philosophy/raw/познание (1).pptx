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79" r:id="rId11"/>
    <p:sldId id="269" r:id="rId12"/>
    <p:sldId id="281" r:id="rId13"/>
    <p:sldId id="282" r:id="rId14"/>
    <p:sldId id="285" r:id="rId15"/>
    <p:sldId id="283" r:id="rId16"/>
    <p:sldId id="284" r:id="rId17"/>
    <p:sldId id="273" r:id="rId18"/>
    <p:sldId id="274" r:id="rId19"/>
    <p:sldId id="278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9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555E05-8402-445F-8A06-1C3BEBFD24C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903D15E-61C7-4F8C-8767-919E1D0B223F}">
      <dgm:prSet phldrT="[Текст]" custT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3200" b="1" i="1" dirty="0" smtClean="0"/>
            <a:t>Чувственное познание или живое созерцание</a:t>
          </a:r>
          <a:endParaRPr lang="ru-RU" sz="3200" b="1" dirty="0"/>
        </a:p>
      </dgm:t>
    </dgm:pt>
    <dgm:pt modelId="{48E1B0B4-6A91-4B6C-9433-E92D3C9EA807}" type="parTrans" cxnId="{87959899-5DAF-46CC-A702-02C5AACBFE0A}">
      <dgm:prSet/>
      <dgm:spPr/>
      <dgm:t>
        <a:bodyPr/>
        <a:lstStyle/>
        <a:p>
          <a:endParaRPr lang="ru-RU"/>
        </a:p>
      </dgm:t>
    </dgm:pt>
    <dgm:pt modelId="{087FBD16-29E3-4359-9A19-16AE92C26309}" type="sibTrans" cxnId="{87959899-5DAF-46CC-A702-02C5AACBFE0A}">
      <dgm:prSet/>
      <dgm:spPr/>
      <dgm:t>
        <a:bodyPr/>
        <a:lstStyle/>
        <a:p>
          <a:endParaRPr lang="ru-RU"/>
        </a:p>
      </dgm:t>
    </dgm:pt>
    <dgm:pt modelId="{F1E23666-6CB3-4D03-9072-38F4C1312447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3200" b="1" dirty="0" smtClean="0"/>
            <a:t>Ощущение</a:t>
          </a:r>
          <a:endParaRPr lang="ru-RU" sz="3200" b="1" dirty="0"/>
        </a:p>
      </dgm:t>
    </dgm:pt>
    <dgm:pt modelId="{E22368E9-3359-4954-AC29-090F7FC1900B}" type="parTrans" cxnId="{ACE907D2-74D3-40AF-A724-5CA83C773FC2}">
      <dgm:prSet/>
      <dgm:spPr/>
      <dgm:t>
        <a:bodyPr/>
        <a:lstStyle/>
        <a:p>
          <a:endParaRPr lang="ru-RU"/>
        </a:p>
      </dgm:t>
    </dgm:pt>
    <dgm:pt modelId="{39FD88EA-302D-42CA-8094-3011D6513B76}" type="sibTrans" cxnId="{ACE907D2-74D3-40AF-A724-5CA83C773FC2}">
      <dgm:prSet/>
      <dgm:spPr/>
      <dgm:t>
        <a:bodyPr/>
        <a:lstStyle/>
        <a:p>
          <a:endParaRPr lang="ru-RU"/>
        </a:p>
      </dgm:t>
    </dgm:pt>
    <dgm:pt modelId="{5919A237-F875-47DA-9DC7-3CBFEBDEC5B5}">
      <dgm:prSet phldrT="[Текст]" custT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3200" b="1" i="1" dirty="0" smtClean="0"/>
            <a:t>Рациональное познание</a:t>
          </a:r>
          <a:endParaRPr lang="ru-RU" sz="3200" b="1" dirty="0"/>
        </a:p>
      </dgm:t>
    </dgm:pt>
    <dgm:pt modelId="{7E493DDF-B17A-4B8A-BA8D-016D2C64513E}" type="parTrans" cxnId="{659C0DDC-DEA3-45FB-897E-B8411CB5703B}">
      <dgm:prSet/>
      <dgm:spPr/>
      <dgm:t>
        <a:bodyPr/>
        <a:lstStyle/>
        <a:p>
          <a:endParaRPr lang="ru-RU"/>
        </a:p>
      </dgm:t>
    </dgm:pt>
    <dgm:pt modelId="{0FEB1019-C6FE-4B46-BE19-C60BA69B5CD9}" type="sibTrans" cxnId="{659C0DDC-DEA3-45FB-897E-B8411CB5703B}">
      <dgm:prSet/>
      <dgm:spPr/>
      <dgm:t>
        <a:bodyPr/>
        <a:lstStyle/>
        <a:p>
          <a:endParaRPr lang="ru-RU"/>
        </a:p>
      </dgm:t>
    </dgm:pt>
    <dgm:pt modelId="{214EDB57-0DB0-4EAD-ABE4-744CD9BD021B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3200" b="1" dirty="0" smtClean="0"/>
            <a:t>Понятие</a:t>
          </a:r>
          <a:endParaRPr lang="ru-RU" sz="3200" b="1" dirty="0"/>
        </a:p>
      </dgm:t>
    </dgm:pt>
    <dgm:pt modelId="{422E3CFC-925C-4F88-9EC2-2E9649CB038A}" type="parTrans" cxnId="{75A76547-6CEC-4A23-86B6-0C575B1FD5F9}">
      <dgm:prSet/>
      <dgm:spPr/>
      <dgm:t>
        <a:bodyPr/>
        <a:lstStyle/>
        <a:p>
          <a:endParaRPr lang="ru-RU"/>
        </a:p>
      </dgm:t>
    </dgm:pt>
    <dgm:pt modelId="{6C206146-E268-4438-AB5E-5A41659BD8FC}" type="sibTrans" cxnId="{75A76547-6CEC-4A23-86B6-0C575B1FD5F9}">
      <dgm:prSet/>
      <dgm:spPr/>
      <dgm:t>
        <a:bodyPr/>
        <a:lstStyle/>
        <a:p>
          <a:endParaRPr lang="ru-RU"/>
        </a:p>
      </dgm:t>
    </dgm:pt>
    <dgm:pt modelId="{886E6E85-92F9-4320-BDDD-38320D3DB685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3200" b="1" dirty="0" smtClean="0"/>
            <a:t>Восприятие</a:t>
          </a:r>
          <a:endParaRPr lang="ru-RU" sz="3200" b="1" dirty="0"/>
        </a:p>
      </dgm:t>
    </dgm:pt>
    <dgm:pt modelId="{449E98BA-43B8-4FE4-84E7-C0A48FC11A8E}" type="parTrans" cxnId="{94A6F061-7CFE-42EF-A7F3-8E4721F8E396}">
      <dgm:prSet/>
      <dgm:spPr/>
      <dgm:t>
        <a:bodyPr/>
        <a:lstStyle/>
        <a:p>
          <a:endParaRPr lang="ru-RU"/>
        </a:p>
      </dgm:t>
    </dgm:pt>
    <dgm:pt modelId="{11AE8470-BEFD-4809-9CFB-346D6AAC0E08}" type="sibTrans" cxnId="{94A6F061-7CFE-42EF-A7F3-8E4721F8E396}">
      <dgm:prSet/>
      <dgm:spPr/>
      <dgm:t>
        <a:bodyPr/>
        <a:lstStyle/>
        <a:p>
          <a:endParaRPr lang="ru-RU"/>
        </a:p>
      </dgm:t>
    </dgm:pt>
    <dgm:pt modelId="{1EC570FA-9E78-4783-8F82-E5924F34DB37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3200" b="1" dirty="0" smtClean="0"/>
            <a:t>Представление</a:t>
          </a:r>
          <a:endParaRPr lang="ru-RU" sz="3200" b="1" dirty="0"/>
        </a:p>
      </dgm:t>
    </dgm:pt>
    <dgm:pt modelId="{2152B312-81C7-4365-BDE9-99C4B74FAC7A}" type="parTrans" cxnId="{B57ECC11-2699-41C3-BA68-EECC117C2450}">
      <dgm:prSet/>
      <dgm:spPr/>
      <dgm:t>
        <a:bodyPr/>
        <a:lstStyle/>
        <a:p>
          <a:endParaRPr lang="ru-RU"/>
        </a:p>
      </dgm:t>
    </dgm:pt>
    <dgm:pt modelId="{FA3089A3-8759-47F4-B6AA-D639C0F6E23E}" type="sibTrans" cxnId="{B57ECC11-2699-41C3-BA68-EECC117C2450}">
      <dgm:prSet/>
      <dgm:spPr/>
      <dgm:t>
        <a:bodyPr/>
        <a:lstStyle/>
        <a:p>
          <a:endParaRPr lang="ru-RU"/>
        </a:p>
      </dgm:t>
    </dgm:pt>
    <dgm:pt modelId="{4FCD2924-1BA4-4348-95B2-FCE5B0FB5454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3200" b="1" dirty="0" smtClean="0"/>
            <a:t>Суждение</a:t>
          </a:r>
          <a:endParaRPr lang="ru-RU" sz="3200" b="1" dirty="0"/>
        </a:p>
      </dgm:t>
    </dgm:pt>
    <dgm:pt modelId="{F628F92E-3C59-483D-BA6A-9C544AA6FF0F}" type="parTrans" cxnId="{408EC88B-80F1-46C9-89E2-FFE6A8267634}">
      <dgm:prSet/>
      <dgm:spPr/>
      <dgm:t>
        <a:bodyPr/>
        <a:lstStyle/>
        <a:p>
          <a:endParaRPr lang="ru-RU"/>
        </a:p>
      </dgm:t>
    </dgm:pt>
    <dgm:pt modelId="{47A849BA-8F61-451F-9CA7-413C55199B4C}" type="sibTrans" cxnId="{408EC88B-80F1-46C9-89E2-FFE6A8267634}">
      <dgm:prSet/>
      <dgm:spPr/>
      <dgm:t>
        <a:bodyPr/>
        <a:lstStyle/>
        <a:p>
          <a:endParaRPr lang="ru-RU"/>
        </a:p>
      </dgm:t>
    </dgm:pt>
    <dgm:pt modelId="{2E2428EA-C347-454F-BAF2-D53B9A4495FB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3200" b="1" dirty="0" smtClean="0"/>
            <a:t>Умозаключение</a:t>
          </a:r>
          <a:endParaRPr lang="ru-RU" sz="3200" b="1" dirty="0"/>
        </a:p>
      </dgm:t>
    </dgm:pt>
    <dgm:pt modelId="{BD491B81-740C-4E4F-81BD-A593A630A0D9}" type="parTrans" cxnId="{0D36B4F1-ED36-4059-9829-DC2B3F6656C2}">
      <dgm:prSet/>
      <dgm:spPr/>
      <dgm:t>
        <a:bodyPr/>
        <a:lstStyle/>
        <a:p>
          <a:endParaRPr lang="ru-RU"/>
        </a:p>
      </dgm:t>
    </dgm:pt>
    <dgm:pt modelId="{7EC30031-8841-4200-B64D-36E995B5A9A2}" type="sibTrans" cxnId="{0D36B4F1-ED36-4059-9829-DC2B3F6656C2}">
      <dgm:prSet/>
      <dgm:spPr/>
      <dgm:t>
        <a:bodyPr/>
        <a:lstStyle/>
        <a:p>
          <a:endParaRPr lang="ru-RU"/>
        </a:p>
      </dgm:t>
    </dgm:pt>
    <dgm:pt modelId="{5652B812-E549-4F7E-BD6F-D8BABEB04B04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sz="3200" b="1" dirty="0"/>
        </a:p>
      </dgm:t>
    </dgm:pt>
    <dgm:pt modelId="{E2C2DCFD-835F-4215-BCD4-6A1316116D53}" type="parTrans" cxnId="{4B683DAF-6521-4C60-BBBF-B1543C734731}">
      <dgm:prSet/>
      <dgm:spPr/>
      <dgm:t>
        <a:bodyPr/>
        <a:lstStyle/>
        <a:p>
          <a:endParaRPr lang="ru-RU"/>
        </a:p>
      </dgm:t>
    </dgm:pt>
    <dgm:pt modelId="{B728C5D7-146F-41BA-A621-9F7DEDE65DBD}" type="sibTrans" cxnId="{4B683DAF-6521-4C60-BBBF-B1543C734731}">
      <dgm:prSet/>
      <dgm:spPr/>
      <dgm:t>
        <a:bodyPr/>
        <a:lstStyle/>
        <a:p>
          <a:endParaRPr lang="ru-RU"/>
        </a:p>
      </dgm:t>
    </dgm:pt>
    <dgm:pt modelId="{A92D2832-D53F-454D-9F51-9D3043CB8A0B}" type="pres">
      <dgm:prSet presAssocID="{BF555E05-8402-445F-8A06-1C3BEBFD24C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AF3402A-0902-4313-8242-E998A76CB37A}" type="pres">
      <dgm:prSet presAssocID="{A903D15E-61C7-4F8C-8767-919E1D0B223F}" presName="composite" presStyleCnt="0"/>
      <dgm:spPr/>
    </dgm:pt>
    <dgm:pt modelId="{9C24F3CA-6B08-48B5-8612-2AFB0803BCBE}" type="pres">
      <dgm:prSet presAssocID="{A903D15E-61C7-4F8C-8767-919E1D0B223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E5919B7-E643-4CBC-BA50-19CFF7433633}" type="pres">
      <dgm:prSet presAssocID="{A903D15E-61C7-4F8C-8767-919E1D0B223F}" presName="desTx" presStyleLbl="alignAccFollowNode1" presStyleIdx="0" presStyleCnt="2" custLinFactNeighborX="2140" custLinFactNeighborY="-254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C72A66B-385C-4C51-85E7-00C9C7E99D00}" type="pres">
      <dgm:prSet presAssocID="{087FBD16-29E3-4359-9A19-16AE92C26309}" presName="space" presStyleCnt="0"/>
      <dgm:spPr/>
    </dgm:pt>
    <dgm:pt modelId="{B2EB3715-AA7D-4917-90CB-C1C29BE3E610}" type="pres">
      <dgm:prSet presAssocID="{5919A237-F875-47DA-9DC7-3CBFEBDEC5B5}" presName="composite" presStyleCnt="0"/>
      <dgm:spPr/>
    </dgm:pt>
    <dgm:pt modelId="{D9FF1802-03E9-478E-BC80-1BEE8FD6D9DA}" type="pres">
      <dgm:prSet presAssocID="{5919A237-F875-47DA-9DC7-3CBFEBDEC5B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401A11-582A-45EE-8E16-B02D8ED8073A}" type="pres">
      <dgm:prSet presAssocID="{5919A237-F875-47DA-9DC7-3CBFEBDEC5B5}" presName="desTx" presStyleLbl="alignAccFollowNode1" presStyleIdx="1" presStyleCnt="2" custLinFactNeighborX="490" custLinFactNeighborY="-41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4A6F061-7CFE-42EF-A7F3-8E4721F8E396}" srcId="{A903D15E-61C7-4F8C-8767-919E1D0B223F}" destId="{886E6E85-92F9-4320-BDDD-38320D3DB685}" srcOrd="1" destOrd="0" parTransId="{449E98BA-43B8-4FE4-84E7-C0A48FC11A8E}" sibTransId="{11AE8470-BEFD-4809-9CFB-346D6AAC0E08}"/>
    <dgm:cxn modelId="{84C0DBFE-7DBE-4FF6-903D-BE678536F680}" type="presOf" srcId="{214EDB57-0DB0-4EAD-ABE4-744CD9BD021B}" destId="{AA401A11-582A-45EE-8E16-B02D8ED8073A}" srcOrd="0" destOrd="0" presId="urn:microsoft.com/office/officeart/2005/8/layout/hList1"/>
    <dgm:cxn modelId="{B6F91476-95DE-4E0C-81D8-A7C4FF39E718}" type="presOf" srcId="{F1E23666-6CB3-4D03-9072-38F4C1312447}" destId="{EE5919B7-E643-4CBC-BA50-19CFF7433633}" srcOrd="0" destOrd="0" presId="urn:microsoft.com/office/officeart/2005/8/layout/hList1"/>
    <dgm:cxn modelId="{A590D089-35B2-4E7D-8D9E-4FAECD4EF078}" type="presOf" srcId="{5652B812-E549-4F7E-BD6F-D8BABEB04B04}" destId="{AA401A11-582A-45EE-8E16-B02D8ED8073A}" srcOrd="0" destOrd="3" presId="urn:microsoft.com/office/officeart/2005/8/layout/hList1"/>
    <dgm:cxn modelId="{659C0DDC-DEA3-45FB-897E-B8411CB5703B}" srcId="{BF555E05-8402-445F-8A06-1C3BEBFD24CE}" destId="{5919A237-F875-47DA-9DC7-3CBFEBDEC5B5}" srcOrd="1" destOrd="0" parTransId="{7E493DDF-B17A-4B8A-BA8D-016D2C64513E}" sibTransId="{0FEB1019-C6FE-4B46-BE19-C60BA69B5CD9}"/>
    <dgm:cxn modelId="{408EC88B-80F1-46C9-89E2-FFE6A8267634}" srcId="{5919A237-F875-47DA-9DC7-3CBFEBDEC5B5}" destId="{4FCD2924-1BA4-4348-95B2-FCE5B0FB5454}" srcOrd="1" destOrd="0" parTransId="{F628F92E-3C59-483D-BA6A-9C544AA6FF0F}" sibTransId="{47A849BA-8F61-451F-9CA7-413C55199B4C}"/>
    <dgm:cxn modelId="{87959899-5DAF-46CC-A702-02C5AACBFE0A}" srcId="{BF555E05-8402-445F-8A06-1C3BEBFD24CE}" destId="{A903D15E-61C7-4F8C-8767-919E1D0B223F}" srcOrd="0" destOrd="0" parTransId="{48E1B0B4-6A91-4B6C-9433-E92D3C9EA807}" sibTransId="{087FBD16-29E3-4359-9A19-16AE92C26309}"/>
    <dgm:cxn modelId="{ACE907D2-74D3-40AF-A724-5CA83C773FC2}" srcId="{A903D15E-61C7-4F8C-8767-919E1D0B223F}" destId="{F1E23666-6CB3-4D03-9072-38F4C1312447}" srcOrd="0" destOrd="0" parTransId="{E22368E9-3359-4954-AC29-090F7FC1900B}" sibTransId="{39FD88EA-302D-42CA-8094-3011D6513B76}"/>
    <dgm:cxn modelId="{9BBF9DF5-A3D2-40A0-B11D-79BD3AEE985D}" type="presOf" srcId="{BF555E05-8402-445F-8A06-1C3BEBFD24CE}" destId="{A92D2832-D53F-454D-9F51-9D3043CB8A0B}" srcOrd="0" destOrd="0" presId="urn:microsoft.com/office/officeart/2005/8/layout/hList1"/>
    <dgm:cxn modelId="{DFC49F59-6B0F-4C1C-AD96-DD7936781C75}" type="presOf" srcId="{886E6E85-92F9-4320-BDDD-38320D3DB685}" destId="{EE5919B7-E643-4CBC-BA50-19CFF7433633}" srcOrd="0" destOrd="1" presId="urn:microsoft.com/office/officeart/2005/8/layout/hList1"/>
    <dgm:cxn modelId="{131A8FEC-35C6-4808-ABAD-5E15EE7BE622}" type="presOf" srcId="{5919A237-F875-47DA-9DC7-3CBFEBDEC5B5}" destId="{D9FF1802-03E9-478E-BC80-1BEE8FD6D9DA}" srcOrd="0" destOrd="0" presId="urn:microsoft.com/office/officeart/2005/8/layout/hList1"/>
    <dgm:cxn modelId="{75A76547-6CEC-4A23-86B6-0C575B1FD5F9}" srcId="{5919A237-F875-47DA-9DC7-3CBFEBDEC5B5}" destId="{214EDB57-0DB0-4EAD-ABE4-744CD9BD021B}" srcOrd="0" destOrd="0" parTransId="{422E3CFC-925C-4F88-9EC2-2E9649CB038A}" sibTransId="{6C206146-E268-4438-AB5E-5A41659BD8FC}"/>
    <dgm:cxn modelId="{0D36B4F1-ED36-4059-9829-DC2B3F6656C2}" srcId="{5919A237-F875-47DA-9DC7-3CBFEBDEC5B5}" destId="{2E2428EA-C347-454F-BAF2-D53B9A4495FB}" srcOrd="2" destOrd="0" parTransId="{BD491B81-740C-4E4F-81BD-A593A630A0D9}" sibTransId="{7EC30031-8841-4200-B64D-36E995B5A9A2}"/>
    <dgm:cxn modelId="{28A56EAF-6A0E-4287-9575-BFA2AB581E7C}" type="presOf" srcId="{4FCD2924-1BA4-4348-95B2-FCE5B0FB5454}" destId="{AA401A11-582A-45EE-8E16-B02D8ED8073A}" srcOrd="0" destOrd="1" presId="urn:microsoft.com/office/officeart/2005/8/layout/hList1"/>
    <dgm:cxn modelId="{F36CD656-493B-40DA-91A2-6C871E8115E8}" type="presOf" srcId="{A903D15E-61C7-4F8C-8767-919E1D0B223F}" destId="{9C24F3CA-6B08-48B5-8612-2AFB0803BCBE}" srcOrd="0" destOrd="0" presId="urn:microsoft.com/office/officeart/2005/8/layout/hList1"/>
    <dgm:cxn modelId="{7189C005-D081-40D8-B9A4-6AE5AF506E2D}" type="presOf" srcId="{2E2428EA-C347-454F-BAF2-D53B9A4495FB}" destId="{AA401A11-582A-45EE-8E16-B02D8ED8073A}" srcOrd="0" destOrd="2" presId="urn:microsoft.com/office/officeart/2005/8/layout/hList1"/>
    <dgm:cxn modelId="{B57ECC11-2699-41C3-BA68-EECC117C2450}" srcId="{A903D15E-61C7-4F8C-8767-919E1D0B223F}" destId="{1EC570FA-9E78-4783-8F82-E5924F34DB37}" srcOrd="2" destOrd="0" parTransId="{2152B312-81C7-4365-BDE9-99C4B74FAC7A}" sibTransId="{FA3089A3-8759-47F4-B6AA-D639C0F6E23E}"/>
    <dgm:cxn modelId="{4B683DAF-6521-4C60-BBBF-B1543C734731}" srcId="{5919A237-F875-47DA-9DC7-3CBFEBDEC5B5}" destId="{5652B812-E549-4F7E-BD6F-D8BABEB04B04}" srcOrd="3" destOrd="0" parTransId="{E2C2DCFD-835F-4215-BCD4-6A1316116D53}" sibTransId="{B728C5D7-146F-41BA-A621-9F7DEDE65DBD}"/>
    <dgm:cxn modelId="{054B8B92-FB78-4F65-BDEF-B04F6139C599}" type="presOf" srcId="{1EC570FA-9E78-4783-8F82-E5924F34DB37}" destId="{EE5919B7-E643-4CBC-BA50-19CFF7433633}" srcOrd="0" destOrd="2" presId="urn:microsoft.com/office/officeart/2005/8/layout/hList1"/>
    <dgm:cxn modelId="{A8396D8E-7825-452E-9322-C181C3A329E2}" type="presParOf" srcId="{A92D2832-D53F-454D-9F51-9D3043CB8A0B}" destId="{CAF3402A-0902-4313-8242-E998A76CB37A}" srcOrd="0" destOrd="0" presId="urn:microsoft.com/office/officeart/2005/8/layout/hList1"/>
    <dgm:cxn modelId="{9AC722BD-4520-4869-BD4E-19EC6626166A}" type="presParOf" srcId="{CAF3402A-0902-4313-8242-E998A76CB37A}" destId="{9C24F3CA-6B08-48B5-8612-2AFB0803BCBE}" srcOrd="0" destOrd="0" presId="urn:microsoft.com/office/officeart/2005/8/layout/hList1"/>
    <dgm:cxn modelId="{F4C73733-0C38-4BCF-808E-75C31E04B178}" type="presParOf" srcId="{CAF3402A-0902-4313-8242-E998A76CB37A}" destId="{EE5919B7-E643-4CBC-BA50-19CFF7433633}" srcOrd="1" destOrd="0" presId="urn:microsoft.com/office/officeart/2005/8/layout/hList1"/>
    <dgm:cxn modelId="{23545B5A-E83F-4895-BA71-BA6C08ED2D7D}" type="presParOf" srcId="{A92D2832-D53F-454D-9F51-9D3043CB8A0B}" destId="{EC72A66B-385C-4C51-85E7-00C9C7E99D00}" srcOrd="1" destOrd="0" presId="urn:microsoft.com/office/officeart/2005/8/layout/hList1"/>
    <dgm:cxn modelId="{1E8BC301-AE5E-4534-B3D5-3691F8E00830}" type="presParOf" srcId="{A92D2832-D53F-454D-9F51-9D3043CB8A0B}" destId="{B2EB3715-AA7D-4917-90CB-C1C29BE3E610}" srcOrd="2" destOrd="0" presId="urn:microsoft.com/office/officeart/2005/8/layout/hList1"/>
    <dgm:cxn modelId="{AD5387BA-C68F-4642-A361-2E27FE48E527}" type="presParOf" srcId="{B2EB3715-AA7D-4917-90CB-C1C29BE3E610}" destId="{D9FF1802-03E9-478E-BC80-1BEE8FD6D9DA}" srcOrd="0" destOrd="0" presId="urn:microsoft.com/office/officeart/2005/8/layout/hList1"/>
    <dgm:cxn modelId="{0C52A3C8-6642-467B-93A7-5BE3ACD3060E}" type="presParOf" srcId="{B2EB3715-AA7D-4917-90CB-C1C29BE3E610}" destId="{AA401A11-582A-45EE-8E16-B02D8ED8073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495B18-9FCA-4C0E-8F74-413EE37ADA3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A26DF1-396F-4CC1-A010-72D49D57CD88}">
      <dgm:prSet phldrT="[Текст]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b="1" dirty="0" smtClean="0"/>
            <a:t>Ощущение</a:t>
          </a:r>
          <a:endParaRPr lang="ru-RU" b="1" dirty="0"/>
        </a:p>
      </dgm:t>
    </dgm:pt>
    <dgm:pt modelId="{BA771302-A1EF-400C-A80E-7EF3D1F2FC53}" type="parTrans" cxnId="{99903426-B37D-41B8-9681-0A5EA798BD07}">
      <dgm:prSet/>
      <dgm:spPr/>
      <dgm:t>
        <a:bodyPr/>
        <a:lstStyle/>
        <a:p>
          <a:endParaRPr lang="ru-RU"/>
        </a:p>
      </dgm:t>
    </dgm:pt>
    <dgm:pt modelId="{BF941765-F948-4488-BA40-3A3CC27E4E52}" type="sibTrans" cxnId="{99903426-B37D-41B8-9681-0A5EA798BD07}">
      <dgm:prSet/>
      <dgm:spPr/>
      <dgm:t>
        <a:bodyPr/>
        <a:lstStyle/>
        <a:p>
          <a:endParaRPr lang="ru-RU"/>
        </a:p>
      </dgm:t>
    </dgm:pt>
    <dgm:pt modelId="{4B557956-1733-4FA3-9888-D745A3E301DF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200" b="1" dirty="0" smtClean="0">
              <a:solidFill>
                <a:schemeClr val="tx1"/>
              </a:solidFill>
            </a:rPr>
            <a:t>это субъективный образ отдельных сторон и свойств предметов, непосредственно воздействующих на органы чувств познающего субъекта</a:t>
          </a:r>
          <a:endParaRPr lang="ru-RU" sz="2200" b="1" dirty="0">
            <a:solidFill>
              <a:schemeClr val="tx1"/>
            </a:solidFill>
          </a:endParaRPr>
        </a:p>
      </dgm:t>
    </dgm:pt>
    <dgm:pt modelId="{BE750A32-E473-46B4-95BB-F10C23AF356D}" type="parTrans" cxnId="{2A62D587-188D-408F-8662-B160017D534E}">
      <dgm:prSet/>
      <dgm:spPr/>
      <dgm:t>
        <a:bodyPr/>
        <a:lstStyle/>
        <a:p>
          <a:endParaRPr lang="ru-RU"/>
        </a:p>
      </dgm:t>
    </dgm:pt>
    <dgm:pt modelId="{1F479022-87E2-457B-B0C5-69E65324B6F6}" type="sibTrans" cxnId="{2A62D587-188D-408F-8662-B160017D534E}">
      <dgm:prSet/>
      <dgm:spPr/>
      <dgm:t>
        <a:bodyPr/>
        <a:lstStyle/>
        <a:p>
          <a:endParaRPr lang="ru-RU"/>
        </a:p>
      </dgm:t>
    </dgm:pt>
    <dgm:pt modelId="{638E6E75-F44C-44AF-BD81-DD3C26E1339A}">
      <dgm:prSet phldrT="[Текст]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b="1" dirty="0" smtClean="0"/>
            <a:t>Восприятие</a:t>
          </a:r>
          <a:endParaRPr lang="ru-RU" b="1" dirty="0"/>
        </a:p>
      </dgm:t>
    </dgm:pt>
    <dgm:pt modelId="{426A781A-9D2B-458A-A769-766638836F30}" type="parTrans" cxnId="{B273E049-F2E8-4017-A731-FB5987D7BCC9}">
      <dgm:prSet/>
      <dgm:spPr/>
      <dgm:t>
        <a:bodyPr/>
        <a:lstStyle/>
        <a:p>
          <a:endParaRPr lang="ru-RU"/>
        </a:p>
      </dgm:t>
    </dgm:pt>
    <dgm:pt modelId="{1334FA6C-B9BF-4877-B712-B6018D30DBFF}" type="sibTrans" cxnId="{B273E049-F2E8-4017-A731-FB5987D7BCC9}">
      <dgm:prSet/>
      <dgm:spPr/>
      <dgm:t>
        <a:bodyPr/>
        <a:lstStyle/>
        <a:p>
          <a:endParaRPr lang="ru-RU"/>
        </a:p>
      </dgm:t>
    </dgm:pt>
    <dgm:pt modelId="{B6D78EA4-9C6A-47A5-A437-D008ED51ECA7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200" b="1" dirty="0" smtClean="0">
              <a:solidFill>
                <a:schemeClr val="tx1"/>
              </a:solidFill>
            </a:rPr>
            <a:t>целостный образ предмета, непосредственно воздействующего на органы  чувств познающего субъекта и представляющий собой синтез различных ощущений</a:t>
          </a:r>
          <a:endParaRPr lang="ru-RU" sz="2200" b="1" dirty="0">
            <a:solidFill>
              <a:schemeClr val="tx1"/>
            </a:solidFill>
          </a:endParaRPr>
        </a:p>
      </dgm:t>
    </dgm:pt>
    <dgm:pt modelId="{81D4E018-18B7-47F6-A3FA-0D22A8F46700}" type="parTrans" cxnId="{4933DFE4-A2A3-41A2-B81A-32A03234F710}">
      <dgm:prSet/>
      <dgm:spPr/>
      <dgm:t>
        <a:bodyPr/>
        <a:lstStyle/>
        <a:p>
          <a:endParaRPr lang="ru-RU"/>
        </a:p>
      </dgm:t>
    </dgm:pt>
    <dgm:pt modelId="{3CBBE2D8-A002-4729-A8A0-7EDD828C651C}" type="sibTrans" cxnId="{4933DFE4-A2A3-41A2-B81A-32A03234F710}">
      <dgm:prSet/>
      <dgm:spPr/>
      <dgm:t>
        <a:bodyPr/>
        <a:lstStyle/>
        <a:p>
          <a:endParaRPr lang="ru-RU"/>
        </a:p>
      </dgm:t>
    </dgm:pt>
    <dgm:pt modelId="{750999F4-F509-4E45-B90F-AAAFFFBCFADC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200" b="1" dirty="0" smtClean="0"/>
            <a:t>это обобщенный чувственно-наглядный образ предмета, не воспринимаемый в данный момент времени и удерживаемый в сознании субъекта благодаря механизму памяти</a:t>
          </a:r>
          <a:endParaRPr lang="ru-RU" sz="2200" b="1" dirty="0"/>
        </a:p>
      </dgm:t>
    </dgm:pt>
    <dgm:pt modelId="{7A06D850-7D35-4248-AFF9-970A386D18D7}" type="parTrans" cxnId="{FDB65DD2-5B28-404E-AC2A-E2ED3EAA105C}">
      <dgm:prSet/>
      <dgm:spPr/>
      <dgm:t>
        <a:bodyPr/>
        <a:lstStyle/>
        <a:p>
          <a:endParaRPr lang="ru-RU"/>
        </a:p>
      </dgm:t>
    </dgm:pt>
    <dgm:pt modelId="{4FD59041-309B-4A35-9BB1-166DC7419C62}" type="sibTrans" cxnId="{FDB65DD2-5B28-404E-AC2A-E2ED3EAA105C}">
      <dgm:prSet/>
      <dgm:spPr/>
      <dgm:t>
        <a:bodyPr/>
        <a:lstStyle/>
        <a:p>
          <a:endParaRPr lang="ru-RU"/>
        </a:p>
      </dgm:t>
    </dgm:pt>
    <dgm:pt modelId="{00493240-6D6B-44B2-BA46-C4216C61D086}">
      <dgm:prSet phldrT="[Текст]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b="1" dirty="0" smtClean="0"/>
            <a:t>Представле-ние</a:t>
          </a:r>
          <a:endParaRPr lang="ru-RU" b="1" dirty="0"/>
        </a:p>
      </dgm:t>
    </dgm:pt>
    <dgm:pt modelId="{666D060C-9581-40A7-83E7-70C1C494548C}" type="parTrans" cxnId="{BBBA1D97-919C-47ED-9325-4545A7B1B297}">
      <dgm:prSet/>
      <dgm:spPr/>
      <dgm:t>
        <a:bodyPr/>
        <a:lstStyle/>
        <a:p>
          <a:endParaRPr lang="ru-RU"/>
        </a:p>
      </dgm:t>
    </dgm:pt>
    <dgm:pt modelId="{1321C345-F284-4C2B-8852-CE32FCC555DC}" type="sibTrans" cxnId="{BBBA1D97-919C-47ED-9325-4545A7B1B297}">
      <dgm:prSet/>
      <dgm:spPr/>
      <dgm:t>
        <a:bodyPr/>
        <a:lstStyle/>
        <a:p>
          <a:endParaRPr lang="ru-RU"/>
        </a:p>
      </dgm:t>
    </dgm:pt>
    <dgm:pt modelId="{A339725E-B522-478D-A6FE-806E20D149D3}" type="pres">
      <dgm:prSet presAssocID="{9B495B18-9FCA-4C0E-8F74-413EE37ADA3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5FFC02D-E589-4801-8926-BF6EC6EC180F}" type="pres">
      <dgm:prSet presAssocID="{57A26DF1-396F-4CC1-A010-72D49D57CD88}" presName="linNode" presStyleCnt="0"/>
      <dgm:spPr/>
    </dgm:pt>
    <dgm:pt modelId="{D266FF29-54F5-4A1A-8D6E-25E696E79175}" type="pres">
      <dgm:prSet presAssocID="{57A26DF1-396F-4CC1-A010-72D49D57CD88}" presName="parentText" presStyleLbl="node1" presStyleIdx="0" presStyleCnt="3" custScaleX="75696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693160-89A3-412B-A240-B769D3CC6927}" type="pres">
      <dgm:prSet presAssocID="{57A26DF1-396F-4CC1-A010-72D49D57CD88}" presName="descendantText" presStyleLbl="alignAccFollowNode1" presStyleIdx="0" presStyleCnt="3" custScaleX="122023" custScaleY="12087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055BE3-7A17-43CD-830E-81F8B969A646}" type="pres">
      <dgm:prSet presAssocID="{BF941765-F948-4488-BA40-3A3CC27E4E52}" presName="sp" presStyleCnt="0"/>
      <dgm:spPr/>
    </dgm:pt>
    <dgm:pt modelId="{80F6A62F-9500-42A9-BDF2-382C8F768FF0}" type="pres">
      <dgm:prSet presAssocID="{638E6E75-F44C-44AF-BD81-DD3C26E1339A}" presName="linNode" presStyleCnt="0"/>
      <dgm:spPr/>
    </dgm:pt>
    <dgm:pt modelId="{C2EF9404-A940-4273-AE9C-4B5B18E6B70D}" type="pres">
      <dgm:prSet presAssocID="{638E6E75-F44C-44AF-BD81-DD3C26E1339A}" presName="parentText" presStyleLbl="node1" presStyleIdx="1" presStyleCnt="3" custScaleX="94337" custScaleY="97882" custLinFactNeighborX="196" custLinFactNeighborY="-510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2AAA54-3B08-462F-83B7-0014501F72E6}" type="pres">
      <dgm:prSet presAssocID="{638E6E75-F44C-44AF-BD81-DD3C26E1339A}" presName="descendantText" presStyleLbl="alignAccFollowNode1" presStyleIdx="1" presStyleCnt="3" custScaleX="144357" custScaleY="129302" custLinFactNeighborX="-182" custLinFactNeighborY="-1387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090D65-0E6B-4581-8971-026DDE3E691D}" type="pres">
      <dgm:prSet presAssocID="{1334FA6C-B9BF-4877-B712-B6018D30DBFF}" presName="sp" presStyleCnt="0"/>
      <dgm:spPr/>
    </dgm:pt>
    <dgm:pt modelId="{881CCFC2-9ABA-4DFE-9B34-6F0BF78AF3D2}" type="pres">
      <dgm:prSet presAssocID="{00493240-6D6B-44B2-BA46-C4216C61D086}" presName="linNode" presStyleCnt="0"/>
      <dgm:spPr/>
    </dgm:pt>
    <dgm:pt modelId="{8FEC0207-6405-4CE3-9F6D-F6FCBA1F865C}" type="pres">
      <dgm:prSet presAssocID="{00493240-6D6B-44B2-BA46-C4216C61D086}" presName="parentText" presStyleLbl="node1" presStyleIdx="2" presStyleCnt="3" custScaleX="79860" custLinFactNeighborX="196" custLinFactNeighborY="-972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8C15296-4C60-4E73-ABCB-B396C73542A9}" type="pres">
      <dgm:prSet presAssocID="{00493240-6D6B-44B2-BA46-C4216C61D086}" presName="descendantText" presStyleLbl="alignAccFollowNode1" presStyleIdx="2" presStyleCnt="3" custScaleX="124556" custScaleY="115793" custLinFactNeighborX="1" custLinFactNeighborY="-117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8509D34-F135-42A9-BB51-B264AEA274E3}" type="presOf" srcId="{638E6E75-F44C-44AF-BD81-DD3C26E1339A}" destId="{C2EF9404-A940-4273-AE9C-4B5B18E6B70D}" srcOrd="0" destOrd="0" presId="urn:microsoft.com/office/officeart/2005/8/layout/vList5"/>
    <dgm:cxn modelId="{4933DFE4-A2A3-41A2-B81A-32A03234F710}" srcId="{638E6E75-F44C-44AF-BD81-DD3C26E1339A}" destId="{B6D78EA4-9C6A-47A5-A437-D008ED51ECA7}" srcOrd="0" destOrd="0" parTransId="{81D4E018-18B7-47F6-A3FA-0D22A8F46700}" sibTransId="{3CBBE2D8-A002-4729-A8A0-7EDD828C651C}"/>
    <dgm:cxn modelId="{B0864EAE-E537-48E7-8A16-24009E09CCA7}" type="presOf" srcId="{4B557956-1733-4FA3-9888-D745A3E301DF}" destId="{22693160-89A3-412B-A240-B769D3CC6927}" srcOrd="0" destOrd="0" presId="urn:microsoft.com/office/officeart/2005/8/layout/vList5"/>
    <dgm:cxn modelId="{B682934D-85C5-43A2-96C4-9C4698EC39DC}" type="presOf" srcId="{00493240-6D6B-44B2-BA46-C4216C61D086}" destId="{8FEC0207-6405-4CE3-9F6D-F6FCBA1F865C}" srcOrd="0" destOrd="0" presId="urn:microsoft.com/office/officeart/2005/8/layout/vList5"/>
    <dgm:cxn modelId="{79692EDC-FAEB-4F5C-A1BB-0BC22E51D754}" type="presOf" srcId="{57A26DF1-396F-4CC1-A010-72D49D57CD88}" destId="{D266FF29-54F5-4A1A-8D6E-25E696E79175}" srcOrd="0" destOrd="0" presId="urn:microsoft.com/office/officeart/2005/8/layout/vList5"/>
    <dgm:cxn modelId="{99903426-B37D-41B8-9681-0A5EA798BD07}" srcId="{9B495B18-9FCA-4C0E-8F74-413EE37ADA38}" destId="{57A26DF1-396F-4CC1-A010-72D49D57CD88}" srcOrd="0" destOrd="0" parTransId="{BA771302-A1EF-400C-A80E-7EF3D1F2FC53}" sibTransId="{BF941765-F948-4488-BA40-3A3CC27E4E52}"/>
    <dgm:cxn modelId="{FDB65DD2-5B28-404E-AC2A-E2ED3EAA105C}" srcId="{00493240-6D6B-44B2-BA46-C4216C61D086}" destId="{750999F4-F509-4E45-B90F-AAAFFFBCFADC}" srcOrd="0" destOrd="0" parTransId="{7A06D850-7D35-4248-AFF9-970A386D18D7}" sibTransId="{4FD59041-309B-4A35-9BB1-166DC7419C62}"/>
    <dgm:cxn modelId="{2A62D587-188D-408F-8662-B160017D534E}" srcId="{57A26DF1-396F-4CC1-A010-72D49D57CD88}" destId="{4B557956-1733-4FA3-9888-D745A3E301DF}" srcOrd="0" destOrd="0" parTransId="{BE750A32-E473-46B4-95BB-F10C23AF356D}" sibTransId="{1F479022-87E2-457B-B0C5-69E65324B6F6}"/>
    <dgm:cxn modelId="{A755516F-1C9D-4225-854C-518792947CD2}" type="presOf" srcId="{B6D78EA4-9C6A-47A5-A437-D008ED51ECA7}" destId="{B92AAA54-3B08-462F-83B7-0014501F72E6}" srcOrd="0" destOrd="0" presId="urn:microsoft.com/office/officeart/2005/8/layout/vList5"/>
    <dgm:cxn modelId="{BBBA1D97-919C-47ED-9325-4545A7B1B297}" srcId="{9B495B18-9FCA-4C0E-8F74-413EE37ADA38}" destId="{00493240-6D6B-44B2-BA46-C4216C61D086}" srcOrd="2" destOrd="0" parTransId="{666D060C-9581-40A7-83E7-70C1C494548C}" sibTransId="{1321C345-F284-4C2B-8852-CE32FCC555DC}"/>
    <dgm:cxn modelId="{E03C6CFA-CB42-44AB-9D94-0B21E9F61849}" type="presOf" srcId="{9B495B18-9FCA-4C0E-8F74-413EE37ADA38}" destId="{A339725E-B522-478D-A6FE-806E20D149D3}" srcOrd="0" destOrd="0" presId="urn:microsoft.com/office/officeart/2005/8/layout/vList5"/>
    <dgm:cxn modelId="{B273E049-F2E8-4017-A731-FB5987D7BCC9}" srcId="{9B495B18-9FCA-4C0E-8F74-413EE37ADA38}" destId="{638E6E75-F44C-44AF-BD81-DD3C26E1339A}" srcOrd="1" destOrd="0" parTransId="{426A781A-9D2B-458A-A769-766638836F30}" sibTransId="{1334FA6C-B9BF-4877-B712-B6018D30DBFF}"/>
    <dgm:cxn modelId="{245D221A-F524-459E-BFD9-2FB170CD57E6}" type="presOf" srcId="{750999F4-F509-4E45-B90F-AAAFFFBCFADC}" destId="{78C15296-4C60-4E73-ABCB-B396C73542A9}" srcOrd="0" destOrd="0" presId="urn:microsoft.com/office/officeart/2005/8/layout/vList5"/>
    <dgm:cxn modelId="{A591DFF5-1CBE-4692-812E-5572E6A3AEAD}" type="presParOf" srcId="{A339725E-B522-478D-A6FE-806E20D149D3}" destId="{75FFC02D-E589-4801-8926-BF6EC6EC180F}" srcOrd="0" destOrd="0" presId="urn:microsoft.com/office/officeart/2005/8/layout/vList5"/>
    <dgm:cxn modelId="{3944502F-18B3-4369-A816-1698906105FE}" type="presParOf" srcId="{75FFC02D-E589-4801-8926-BF6EC6EC180F}" destId="{D266FF29-54F5-4A1A-8D6E-25E696E79175}" srcOrd="0" destOrd="0" presId="urn:microsoft.com/office/officeart/2005/8/layout/vList5"/>
    <dgm:cxn modelId="{7189D8FB-F02F-434F-9403-91B4974B51B4}" type="presParOf" srcId="{75FFC02D-E589-4801-8926-BF6EC6EC180F}" destId="{22693160-89A3-412B-A240-B769D3CC6927}" srcOrd="1" destOrd="0" presId="urn:microsoft.com/office/officeart/2005/8/layout/vList5"/>
    <dgm:cxn modelId="{D2428C08-D413-4E65-BB5E-072CE205777A}" type="presParOf" srcId="{A339725E-B522-478D-A6FE-806E20D149D3}" destId="{18055BE3-7A17-43CD-830E-81F8B969A646}" srcOrd="1" destOrd="0" presId="urn:microsoft.com/office/officeart/2005/8/layout/vList5"/>
    <dgm:cxn modelId="{93CD144E-85FB-4476-AEB2-10976CC902B2}" type="presParOf" srcId="{A339725E-B522-478D-A6FE-806E20D149D3}" destId="{80F6A62F-9500-42A9-BDF2-382C8F768FF0}" srcOrd="2" destOrd="0" presId="urn:microsoft.com/office/officeart/2005/8/layout/vList5"/>
    <dgm:cxn modelId="{51B75B2E-A8AA-479A-872D-BCED2485055F}" type="presParOf" srcId="{80F6A62F-9500-42A9-BDF2-382C8F768FF0}" destId="{C2EF9404-A940-4273-AE9C-4B5B18E6B70D}" srcOrd="0" destOrd="0" presId="urn:microsoft.com/office/officeart/2005/8/layout/vList5"/>
    <dgm:cxn modelId="{6761CA4E-D454-4D4F-B616-2796D565CEFB}" type="presParOf" srcId="{80F6A62F-9500-42A9-BDF2-382C8F768FF0}" destId="{B92AAA54-3B08-462F-83B7-0014501F72E6}" srcOrd="1" destOrd="0" presId="urn:microsoft.com/office/officeart/2005/8/layout/vList5"/>
    <dgm:cxn modelId="{6E4C24A1-C5B6-460B-8C6D-E19C9EA3A9DC}" type="presParOf" srcId="{A339725E-B522-478D-A6FE-806E20D149D3}" destId="{22090D65-0E6B-4581-8971-026DDE3E691D}" srcOrd="3" destOrd="0" presId="urn:microsoft.com/office/officeart/2005/8/layout/vList5"/>
    <dgm:cxn modelId="{9C8422FB-34F3-48AC-A423-441BE31C3331}" type="presParOf" srcId="{A339725E-B522-478D-A6FE-806E20D149D3}" destId="{881CCFC2-9ABA-4DFE-9B34-6F0BF78AF3D2}" srcOrd="4" destOrd="0" presId="urn:microsoft.com/office/officeart/2005/8/layout/vList5"/>
    <dgm:cxn modelId="{202F928D-B5DF-4517-80ED-CC7E0FD16727}" type="presParOf" srcId="{881CCFC2-9ABA-4DFE-9B34-6F0BF78AF3D2}" destId="{8FEC0207-6405-4CE3-9F6D-F6FCBA1F865C}" srcOrd="0" destOrd="0" presId="urn:microsoft.com/office/officeart/2005/8/layout/vList5"/>
    <dgm:cxn modelId="{80FC0802-5BAC-4B32-9E14-E49922A2C77D}" type="presParOf" srcId="{881CCFC2-9ABA-4DFE-9B34-6F0BF78AF3D2}" destId="{78C15296-4C60-4E73-ABCB-B396C73542A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495B18-9FCA-4C0E-8F74-413EE37ADA3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A26DF1-396F-4CC1-A010-72D49D57CD88}">
      <dgm:prSet phldrT="[Текст]" custT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3200" b="1" dirty="0" smtClean="0"/>
            <a:t>Понятие</a:t>
          </a:r>
          <a:endParaRPr lang="ru-RU" sz="3200" b="1" dirty="0"/>
        </a:p>
      </dgm:t>
    </dgm:pt>
    <dgm:pt modelId="{BA771302-A1EF-400C-A80E-7EF3D1F2FC53}" type="parTrans" cxnId="{99903426-B37D-41B8-9681-0A5EA798BD07}">
      <dgm:prSet/>
      <dgm:spPr/>
      <dgm:t>
        <a:bodyPr/>
        <a:lstStyle/>
        <a:p>
          <a:endParaRPr lang="ru-RU"/>
        </a:p>
      </dgm:t>
    </dgm:pt>
    <dgm:pt modelId="{BF941765-F948-4488-BA40-3A3CC27E4E52}" type="sibTrans" cxnId="{99903426-B37D-41B8-9681-0A5EA798BD07}">
      <dgm:prSet/>
      <dgm:spPr/>
      <dgm:t>
        <a:bodyPr/>
        <a:lstStyle/>
        <a:p>
          <a:endParaRPr lang="ru-RU"/>
        </a:p>
      </dgm:t>
    </dgm:pt>
    <dgm:pt modelId="{4B557956-1733-4FA3-9888-D745A3E301DF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200" b="1" dirty="0" smtClean="0">
              <a:solidFill>
                <a:schemeClr val="tx1"/>
              </a:solidFill>
            </a:rPr>
            <a:t>это </a:t>
          </a:r>
          <a:r>
            <a:rPr lang="ru-RU" sz="2200" b="1" dirty="0" smtClean="0"/>
            <a:t>форма мышления, выраженная словом,  фиксирующая общие, закономерные связи, существенные свойства и признаки явлений</a:t>
          </a:r>
          <a:endParaRPr lang="ru-RU" sz="2200" b="1" dirty="0">
            <a:solidFill>
              <a:schemeClr val="tx1"/>
            </a:solidFill>
          </a:endParaRPr>
        </a:p>
      </dgm:t>
    </dgm:pt>
    <dgm:pt modelId="{BE750A32-E473-46B4-95BB-F10C23AF356D}" type="parTrans" cxnId="{2A62D587-188D-408F-8662-B160017D534E}">
      <dgm:prSet/>
      <dgm:spPr/>
      <dgm:t>
        <a:bodyPr/>
        <a:lstStyle/>
        <a:p>
          <a:endParaRPr lang="ru-RU"/>
        </a:p>
      </dgm:t>
    </dgm:pt>
    <dgm:pt modelId="{1F479022-87E2-457B-B0C5-69E65324B6F6}" type="sibTrans" cxnId="{2A62D587-188D-408F-8662-B160017D534E}">
      <dgm:prSet/>
      <dgm:spPr/>
      <dgm:t>
        <a:bodyPr/>
        <a:lstStyle/>
        <a:p>
          <a:endParaRPr lang="ru-RU"/>
        </a:p>
      </dgm:t>
    </dgm:pt>
    <dgm:pt modelId="{638E6E75-F44C-44AF-BD81-DD3C26E1339A}">
      <dgm:prSet phldrT="[Текст]" custT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3200" b="1" dirty="0" smtClean="0"/>
            <a:t>Суждение</a:t>
          </a:r>
          <a:endParaRPr lang="ru-RU" sz="3200" b="1" dirty="0"/>
        </a:p>
      </dgm:t>
    </dgm:pt>
    <dgm:pt modelId="{426A781A-9D2B-458A-A769-766638836F30}" type="parTrans" cxnId="{B273E049-F2E8-4017-A731-FB5987D7BCC9}">
      <dgm:prSet/>
      <dgm:spPr/>
      <dgm:t>
        <a:bodyPr/>
        <a:lstStyle/>
        <a:p>
          <a:endParaRPr lang="ru-RU"/>
        </a:p>
      </dgm:t>
    </dgm:pt>
    <dgm:pt modelId="{1334FA6C-B9BF-4877-B712-B6018D30DBFF}" type="sibTrans" cxnId="{B273E049-F2E8-4017-A731-FB5987D7BCC9}">
      <dgm:prSet/>
      <dgm:spPr/>
      <dgm:t>
        <a:bodyPr/>
        <a:lstStyle/>
        <a:p>
          <a:endParaRPr lang="ru-RU"/>
        </a:p>
      </dgm:t>
    </dgm:pt>
    <dgm:pt modelId="{B6D78EA4-9C6A-47A5-A437-D008ED51ECA7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200" b="1" dirty="0" smtClean="0"/>
            <a:t>форма мышления, выраженная предложением (высказыванием), в котором фиксируется оценка определенного предмета, явления,   события</a:t>
          </a:r>
          <a:endParaRPr lang="ru-RU" sz="2200" b="1" dirty="0">
            <a:solidFill>
              <a:schemeClr val="tx1"/>
            </a:solidFill>
          </a:endParaRPr>
        </a:p>
      </dgm:t>
    </dgm:pt>
    <dgm:pt modelId="{81D4E018-18B7-47F6-A3FA-0D22A8F46700}" type="parTrans" cxnId="{4933DFE4-A2A3-41A2-B81A-32A03234F710}">
      <dgm:prSet/>
      <dgm:spPr/>
      <dgm:t>
        <a:bodyPr/>
        <a:lstStyle/>
        <a:p>
          <a:endParaRPr lang="ru-RU"/>
        </a:p>
      </dgm:t>
    </dgm:pt>
    <dgm:pt modelId="{3CBBE2D8-A002-4729-A8A0-7EDD828C651C}" type="sibTrans" cxnId="{4933DFE4-A2A3-41A2-B81A-32A03234F710}">
      <dgm:prSet/>
      <dgm:spPr/>
      <dgm:t>
        <a:bodyPr/>
        <a:lstStyle/>
        <a:p>
          <a:endParaRPr lang="ru-RU"/>
        </a:p>
      </dgm:t>
    </dgm:pt>
    <dgm:pt modelId="{750999F4-F509-4E45-B90F-AAAFFFBCFADC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200" b="1" dirty="0" smtClean="0"/>
            <a:t>форма мышления, посредством которой на основе одного или нескольких принятых суждений выводится новое</a:t>
          </a:r>
          <a:endParaRPr lang="ru-RU" sz="2200" b="1" dirty="0"/>
        </a:p>
      </dgm:t>
    </dgm:pt>
    <dgm:pt modelId="{7A06D850-7D35-4248-AFF9-970A386D18D7}" type="parTrans" cxnId="{FDB65DD2-5B28-404E-AC2A-E2ED3EAA105C}">
      <dgm:prSet/>
      <dgm:spPr/>
      <dgm:t>
        <a:bodyPr/>
        <a:lstStyle/>
        <a:p>
          <a:endParaRPr lang="ru-RU"/>
        </a:p>
      </dgm:t>
    </dgm:pt>
    <dgm:pt modelId="{4FD59041-309B-4A35-9BB1-166DC7419C62}" type="sibTrans" cxnId="{FDB65DD2-5B28-404E-AC2A-E2ED3EAA105C}">
      <dgm:prSet/>
      <dgm:spPr/>
      <dgm:t>
        <a:bodyPr/>
        <a:lstStyle/>
        <a:p>
          <a:endParaRPr lang="ru-RU"/>
        </a:p>
      </dgm:t>
    </dgm:pt>
    <dgm:pt modelId="{00493240-6D6B-44B2-BA46-C4216C61D086}">
      <dgm:prSet phldrT="[Текст]" custT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3200" b="1" dirty="0" smtClean="0"/>
            <a:t>Умозаклю-чение</a:t>
          </a:r>
          <a:endParaRPr lang="ru-RU" sz="3200" b="1" dirty="0"/>
        </a:p>
      </dgm:t>
    </dgm:pt>
    <dgm:pt modelId="{666D060C-9581-40A7-83E7-70C1C494548C}" type="parTrans" cxnId="{BBBA1D97-919C-47ED-9325-4545A7B1B297}">
      <dgm:prSet/>
      <dgm:spPr/>
      <dgm:t>
        <a:bodyPr/>
        <a:lstStyle/>
        <a:p>
          <a:endParaRPr lang="ru-RU"/>
        </a:p>
      </dgm:t>
    </dgm:pt>
    <dgm:pt modelId="{1321C345-F284-4C2B-8852-CE32FCC555DC}" type="sibTrans" cxnId="{BBBA1D97-919C-47ED-9325-4545A7B1B297}">
      <dgm:prSet/>
      <dgm:spPr/>
      <dgm:t>
        <a:bodyPr/>
        <a:lstStyle/>
        <a:p>
          <a:endParaRPr lang="ru-RU"/>
        </a:p>
      </dgm:t>
    </dgm:pt>
    <dgm:pt modelId="{A339725E-B522-478D-A6FE-806E20D149D3}" type="pres">
      <dgm:prSet presAssocID="{9B495B18-9FCA-4C0E-8F74-413EE37ADA3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5FFC02D-E589-4801-8926-BF6EC6EC180F}" type="pres">
      <dgm:prSet presAssocID="{57A26DF1-396F-4CC1-A010-72D49D57CD88}" presName="linNode" presStyleCnt="0"/>
      <dgm:spPr/>
    </dgm:pt>
    <dgm:pt modelId="{D266FF29-54F5-4A1A-8D6E-25E696E79175}" type="pres">
      <dgm:prSet presAssocID="{57A26DF1-396F-4CC1-A010-72D49D57CD88}" presName="parentText" presStyleLbl="node1" presStyleIdx="0" presStyleCnt="3" custScaleX="75696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693160-89A3-412B-A240-B769D3CC6927}" type="pres">
      <dgm:prSet presAssocID="{57A26DF1-396F-4CC1-A010-72D49D57CD88}" presName="descendantText" presStyleLbl="alignAccFollowNode1" presStyleIdx="0" presStyleCnt="3" custScaleX="109378" custScaleY="989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055BE3-7A17-43CD-830E-81F8B969A646}" type="pres">
      <dgm:prSet presAssocID="{BF941765-F948-4488-BA40-3A3CC27E4E52}" presName="sp" presStyleCnt="0"/>
      <dgm:spPr/>
    </dgm:pt>
    <dgm:pt modelId="{80F6A62F-9500-42A9-BDF2-382C8F768FF0}" type="pres">
      <dgm:prSet presAssocID="{638E6E75-F44C-44AF-BD81-DD3C26E1339A}" presName="linNode" presStyleCnt="0"/>
      <dgm:spPr/>
    </dgm:pt>
    <dgm:pt modelId="{C2EF9404-A940-4273-AE9C-4B5B18E6B70D}" type="pres">
      <dgm:prSet presAssocID="{638E6E75-F44C-44AF-BD81-DD3C26E1339A}" presName="parentText" presStyleLbl="node1" presStyleIdx="1" presStyleCnt="3" custScaleX="80731" custScaleY="97882" custLinFactNeighborX="196" custLinFactNeighborY="-510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2AAA54-3B08-462F-83B7-0014501F72E6}" type="pres">
      <dgm:prSet presAssocID="{638E6E75-F44C-44AF-BD81-DD3C26E1339A}" presName="descendantText" presStyleLbl="alignAccFollowNode1" presStyleIdx="1" presStyleCnt="3" custScaleX="121401" custScaleY="129302" custLinFactNeighborX="1" custLinFactNeighborY="-854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090D65-0E6B-4581-8971-026DDE3E691D}" type="pres">
      <dgm:prSet presAssocID="{1334FA6C-B9BF-4877-B712-B6018D30DBFF}" presName="sp" presStyleCnt="0"/>
      <dgm:spPr/>
    </dgm:pt>
    <dgm:pt modelId="{881CCFC2-9ABA-4DFE-9B34-6F0BF78AF3D2}" type="pres">
      <dgm:prSet presAssocID="{00493240-6D6B-44B2-BA46-C4216C61D086}" presName="linNode" presStyleCnt="0"/>
      <dgm:spPr/>
    </dgm:pt>
    <dgm:pt modelId="{8FEC0207-6405-4CE3-9F6D-F6FCBA1F865C}" type="pres">
      <dgm:prSet presAssocID="{00493240-6D6B-44B2-BA46-C4216C61D086}" presName="parentText" presStyleLbl="node1" presStyleIdx="2" presStyleCnt="3" custScaleX="79860" custLinFactNeighborX="196" custLinFactNeighborY="-972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8C15296-4C60-4E73-ABCB-B396C73542A9}" type="pres">
      <dgm:prSet presAssocID="{00493240-6D6B-44B2-BA46-C4216C61D086}" presName="descendantText" presStyleLbl="alignAccFollowNode1" presStyleIdx="2" presStyleCnt="3" custScaleX="110175" custScaleY="115793" custLinFactNeighborX="1" custLinFactNeighborY="-117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31A30E3-17B4-4FE2-8D29-83C5AE31525A}" type="presOf" srcId="{4B557956-1733-4FA3-9888-D745A3E301DF}" destId="{22693160-89A3-412B-A240-B769D3CC6927}" srcOrd="0" destOrd="0" presId="urn:microsoft.com/office/officeart/2005/8/layout/vList5"/>
    <dgm:cxn modelId="{4933DFE4-A2A3-41A2-B81A-32A03234F710}" srcId="{638E6E75-F44C-44AF-BD81-DD3C26E1339A}" destId="{B6D78EA4-9C6A-47A5-A437-D008ED51ECA7}" srcOrd="0" destOrd="0" parTransId="{81D4E018-18B7-47F6-A3FA-0D22A8F46700}" sibTransId="{3CBBE2D8-A002-4729-A8A0-7EDD828C651C}"/>
    <dgm:cxn modelId="{8760693D-2B42-447B-B22F-E39544DF0C0C}" type="presOf" srcId="{9B495B18-9FCA-4C0E-8F74-413EE37ADA38}" destId="{A339725E-B522-478D-A6FE-806E20D149D3}" srcOrd="0" destOrd="0" presId="urn:microsoft.com/office/officeart/2005/8/layout/vList5"/>
    <dgm:cxn modelId="{ADDEC380-96D5-4179-B5BC-6DC50FAB7F61}" type="presOf" srcId="{57A26DF1-396F-4CC1-A010-72D49D57CD88}" destId="{D266FF29-54F5-4A1A-8D6E-25E696E79175}" srcOrd="0" destOrd="0" presId="urn:microsoft.com/office/officeart/2005/8/layout/vList5"/>
    <dgm:cxn modelId="{99903426-B37D-41B8-9681-0A5EA798BD07}" srcId="{9B495B18-9FCA-4C0E-8F74-413EE37ADA38}" destId="{57A26DF1-396F-4CC1-A010-72D49D57CD88}" srcOrd="0" destOrd="0" parTransId="{BA771302-A1EF-400C-A80E-7EF3D1F2FC53}" sibTransId="{BF941765-F948-4488-BA40-3A3CC27E4E52}"/>
    <dgm:cxn modelId="{FDB65DD2-5B28-404E-AC2A-E2ED3EAA105C}" srcId="{00493240-6D6B-44B2-BA46-C4216C61D086}" destId="{750999F4-F509-4E45-B90F-AAAFFFBCFADC}" srcOrd="0" destOrd="0" parTransId="{7A06D850-7D35-4248-AFF9-970A386D18D7}" sibTransId="{4FD59041-309B-4A35-9BB1-166DC7419C62}"/>
    <dgm:cxn modelId="{F9C8214C-53EC-40D5-A6D6-07AC89D1FBED}" type="presOf" srcId="{B6D78EA4-9C6A-47A5-A437-D008ED51ECA7}" destId="{B92AAA54-3B08-462F-83B7-0014501F72E6}" srcOrd="0" destOrd="0" presId="urn:microsoft.com/office/officeart/2005/8/layout/vList5"/>
    <dgm:cxn modelId="{6460A1F4-F647-439F-8B0A-ED28E66A6996}" type="presOf" srcId="{638E6E75-F44C-44AF-BD81-DD3C26E1339A}" destId="{C2EF9404-A940-4273-AE9C-4B5B18E6B70D}" srcOrd="0" destOrd="0" presId="urn:microsoft.com/office/officeart/2005/8/layout/vList5"/>
    <dgm:cxn modelId="{2A62D587-188D-408F-8662-B160017D534E}" srcId="{57A26DF1-396F-4CC1-A010-72D49D57CD88}" destId="{4B557956-1733-4FA3-9888-D745A3E301DF}" srcOrd="0" destOrd="0" parTransId="{BE750A32-E473-46B4-95BB-F10C23AF356D}" sibTransId="{1F479022-87E2-457B-B0C5-69E65324B6F6}"/>
    <dgm:cxn modelId="{BBBA1D97-919C-47ED-9325-4545A7B1B297}" srcId="{9B495B18-9FCA-4C0E-8F74-413EE37ADA38}" destId="{00493240-6D6B-44B2-BA46-C4216C61D086}" srcOrd="2" destOrd="0" parTransId="{666D060C-9581-40A7-83E7-70C1C494548C}" sibTransId="{1321C345-F284-4C2B-8852-CE32FCC555DC}"/>
    <dgm:cxn modelId="{DD53E651-C362-4E5A-8D09-03F4D0FF00AC}" type="presOf" srcId="{00493240-6D6B-44B2-BA46-C4216C61D086}" destId="{8FEC0207-6405-4CE3-9F6D-F6FCBA1F865C}" srcOrd="0" destOrd="0" presId="urn:microsoft.com/office/officeart/2005/8/layout/vList5"/>
    <dgm:cxn modelId="{B0D9A706-41BE-4666-9988-009F7AD12F0C}" type="presOf" srcId="{750999F4-F509-4E45-B90F-AAAFFFBCFADC}" destId="{78C15296-4C60-4E73-ABCB-B396C73542A9}" srcOrd="0" destOrd="0" presId="urn:microsoft.com/office/officeart/2005/8/layout/vList5"/>
    <dgm:cxn modelId="{B273E049-F2E8-4017-A731-FB5987D7BCC9}" srcId="{9B495B18-9FCA-4C0E-8F74-413EE37ADA38}" destId="{638E6E75-F44C-44AF-BD81-DD3C26E1339A}" srcOrd="1" destOrd="0" parTransId="{426A781A-9D2B-458A-A769-766638836F30}" sibTransId="{1334FA6C-B9BF-4877-B712-B6018D30DBFF}"/>
    <dgm:cxn modelId="{E2F97508-1206-4B0C-BBFE-8F36404C0001}" type="presParOf" srcId="{A339725E-B522-478D-A6FE-806E20D149D3}" destId="{75FFC02D-E589-4801-8926-BF6EC6EC180F}" srcOrd="0" destOrd="0" presId="urn:microsoft.com/office/officeart/2005/8/layout/vList5"/>
    <dgm:cxn modelId="{F033EE5F-2A43-4DAF-B4DA-3F4A8E55FB94}" type="presParOf" srcId="{75FFC02D-E589-4801-8926-BF6EC6EC180F}" destId="{D266FF29-54F5-4A1A-8D6E-25E696E79175}" srcOrd="0" destOrd="0" presId="urn:microsoft.com/office/officeart/2005/8/layout/vList5"/>
    <dgm:cxn modelId="{4FE1F71E-49F6-49C9-804C-072FA0E91DA7}" type="presParOf" srcId="{75FFC02D-E589-4801-8926-BF6EC6EC180F}" destId="{22693160-89A3-412B-A240-B769D3CC6927}" srcOrd="1" destOrd="0" presId="urn:microsoft.com/office/officeart/2005/8/layout/vList5"/>
    <dgm:cxn modelId="{FB88DA5E-F838-4A91-A79D-CDE9BDEE9DF6}" type="presParOf" srcId="{A339725E-B522-478D-A6FE-806E20D149D3}" destId="{18055BE3-7A17-43CD-830E-81F8B969A646}" srcOrd="1" destOrd="0" presId="urn:microsoft.com/office/officeart/2005/8/layout/vList5"/>
    <dgm:cxn modelId="{2FF9C624-0C7B-49FE-9A69-A9D117F53AA1}" type="presParOf" srcId="{A339725E-B522-478D-A6FE-806E20D149D3}" destId="{80F6A62F-9500-42A9-BDF2-382C8F768FF0}" srcOrd="2" destOrd="0" presId="urn:microsoft.com/office/officeart/2005/8/layout/vList5"/>
    <dgm:cxn modelId="{26FAA30A-DFEE-4DEA-B28B-3518EB2C7F50}" type="presParOf" srcId="{80F6A62F-9500-42A9-BDF2-382C8F768FF0}" destId="{C2EF9404-A940-4273-AE9C-4B5B18E6B70D}" srcOrd="0" destOrd="0" presId="urn:microsoft.com/office/officeart/2005/8/layout/vList5"/>
    <dgm:cxn modelId="{8FEB6391-563B-4A98-8A25-FF57D022ED35}" type="presParOf" srcId="{80F6A62F-9500-42A9-BDF2-382C8F768FF0}" destId="{B92AAA54-3B08-462F-83B7-0014501F72E6}" srcOrd="1" destOrd="0" presId="urn:microsoft.com/office/officeart/2005/8/layout/vList5"/>
    <dgm:cxn modelId="{82D5F0AD-F396-4B2F-8850-09C06DCC7CBF}" type="presParOf" srcId="{A339725E-B522-478D-A6FE-806E20D149D3}" destId="{22090D65-0E6B-4581-8971-026DDE3E691D}" srcOrd="3" destOrd="0" presId="urn:microsoft.com/office/officeart/2005/8/layout/vList5"/>
    <dgm:cxn modelId="{822B9B3C-F57F-49C5-8D4D-A11A90A294EB}" type="presParOf" srcId="{A339725E-B522-478D-A6FE-806E20D149D3}" destId="{881CCFC2-9ABA-4DFE-9B34-6F0BF78AF3D2}" srcOrd="4" destOrd="0" presId="urn:microsoft.com/office/officeart/2005/8/layout/vList5"/>
    <dgm:cxn modelId="{B6D469A8-534A-4907-8FBA-CA18999D48A4}" type="presParOf" srcId="{881CCFC2-9ABA-4DFE-9B34-6F0BF78AF3D2}" destId="{8FEC0207-6405-4CE3-9F6D-F6FCBA1F865C}" srcOrd="0" destOrd="0" presId="urn:microsoft.com/office/officeart/2005/8/layout/vList5"/>
    <dgm:cxn modelId="{723F3437-5A9A-433C-A9B9-415FC1D4DA84}" type="presParOf" srcId="{881CCFC2-9ABA-4DFE-9B34-6F0BF78AF3D2}" destId="{78C15296-4C60-4E73-ABCB-B396C73542A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4F3CA-6B08-48B5-8612-2AFB0803BCBE}">
      <dsp:nvSpPr>
        <dsp:cNvPr id="0" name=""/>
        <dsp:cNvSpPr/>
      </dsp:nvSpPr>
      <dsp:spPr>
        <a:xfrm>
          <a:off x="40" y="88427"/>
          <a:ext cx="3845569" cy="1538227"/>
        </a:xfrm>
        <a:prstGeom prst="rect">
          <a:avLst/>
        </a:prstGeom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i="1" kern="1200" dirty="0" smtClean="0"/>
            <a:t>Чувственное познание или живое созерцание</a:t>
          </a:r>
          <a:endParaRPr lang="ru-RU" sz="3200" b="1" kern="1200" dirty="0"/>
        </a:p>
      </dsp:txBody>
      <dsp:txXfrm>
        <a:off x="40" y="88427"/>
        <a:ext cx="3845569" cy="1538227"/>
      </dsp:txXfrm>
    </dsp:sp>
    <dsp:sp modelId="{EE5919B7-E643-4CBC-BA50-19CFF7433633}">
      <dsp:nvSpPr>
        <dsp:cNvPr id="0" name=""/>
        <dsp:cNvSpPr/>
      </dsp:nvSpPr>
      <dsp:spPr>
        <a:xfrm>
          <a:off x="82335" y="1555090"/>
          <a:ext cx="3845569" cy="2810880"/>
        </a:xfrm>
        <a:prstGeom prst="rect">
          <a:avLst/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1" kern="1200" dirty="0" smtClean="0"/>
            <a:t>Ощущение</a:t>
          </a:r>
          <a:endParaRPr lang="ru-RU" sz="3200" b="1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1" kern="1200" dirty="0" smtClean="0"/>
            <a:t>Восприятие</a:t>
          </a:r>
          <a:endParaRPr lang="ru-RU" sz="3200" b="1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1" kern="1200" dirty="0" smtClean="0"/>
            <a:t>Представление</a:t>
          </a:r>
          <a:endParaRPr lang="ru-RU" sz="3200" b="1" kern="1200" dirty="0"/>
        </a:p>
      </dsp:txBody>
      <dsp:txXfrm>
        <a:off x="82335" y="1555090"/>
        <a:ext cx="3845569" cy="2810880"/>
      </dsp:txXfrm>
    </dsp:sp>
    <dsp:sp modelId="{D9FF1802-03E9-478E-BC80-1BEE8FD6D9DA}">
      <dsp:nvSpPr>
        <dsp:cNvPr id="0" name=""/>
        <dsp:cNvSpPr/>
      </dsp:nvSpPr>
      <dsp:spPr>
        <a:xfrm>
          <a:off x="4383989" y="88427"/>
          <a:ext cx="3845569" cy="1538227"/>
        </a:xfrm>
        <a:prstGeom prst="rect">
          <a:avLst/>
        </a:prstGeom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i="1" kern="1200" dirty="0" smtClean="0"/>
            <a:t>Рациональное познание</a:t>
          </a:r>
          <a:endParaRPr lang="ru-RU" sz="3200" b="1" kern="1200" dirty="0"/>
        </a:p>
      </dsp:txBody>
      <dsp:txXfrm>
        <a:off x="4383989" y="88427"/>
        <a:ext cx="3845569" cy="1538227"/>
      </dsp:txXfrm>
    </dsp:sp>
    <dsp:sp modelId="{AA401A11-582A-45EE-8E16-B02D8ED8073A}">
      <dsp:nvSpPr>
        <dsp:cNvPr id="0" name=""/>
        <dsp:cNvSpPr/>
      </dsp:nvSpPr>
      <dsp:spPr>
        <a:xfrm>
          <a:off x="4384030" y="1615018"/>
          <a:ext cx="3845569" cy="2810880"/>
        </a:xfrm>
        <a:prstGeom prst="rect">
          <a:avLst/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1" kern="1200" dirty="0" smtClean="0"/>
            <a:t>Понятие</a:t>
          </a:r>
          <a:endParaRPr lang="ru-RU" sz="3200" b="1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1" kern="1200" dirty="0" smtClean="0"/>
            <a:t>Суждение</a:t>
          </a:r>
          <a:endParaRPr lang="ru-RU" sz="3200" b="1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1" kern="1200" dirty="0" smtClean="0"/>
            <a:t>Умозаключение</a:t>
          </a:r>
          <a:endParaRPr lang="ru-RU" sz="3200" b="1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3200" b="1" kern="1200" dirty="0"/>
        </a:p>
      </dsp:txBody>
      <dsp:txXfrm>
        <a:off x="4384030" y="1615018"/>
        <a:ext cx="3845569" cy="2810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93160-89A3-412B-A240-B769D3CC6927}">
      <dsp:nvSpPr>
        <dsp:cNvPr id="0" name=""/>
        <dsp:cNvSpPr/>
      </dsp:nvSpPr>
      <dsp:spPr>
        <a:xfrm rot="5400000">
          <a:off x="4386600" y="-2229094"/>
          <a:ext cx="1585127" cy="6100517"/>
        </a:xfrm>
        <a:prstGeom prst="round2SameRect">
          <a:avLst/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200" b="1" kern="1200" dirty="0" smtClean="0">
              <a:solidFill>
                <a:schemeClr val="tx1"/>
              </a:solidFill>
            </a:rPr>
            <a:t>это субъективный образ отдельных сторон и свойств предметов, непосредственно воздействующих на органы чувств познающего субъекта</a:t>
          </a:r>
          <a:endParaRPr lang="ru-RU" sz="2200" b="1" kern="1200" dirty="0">
            <a:solidFill>
              <a:schemeClr val="tx1"/>
            </a:solidFill>
          </a:endParaRPr>
        </a:p>
      </dsp:txBody>
      <dsp:txXfrm rot="-5400000">
        <a:off x="2128905" y="105981"/>
        <a:ext cx="6023137" cy="1430367"/>
      </dsp:txXfrm>
    </dsp:sp>
    <dsp:sp modelId="{D266FF29-54F5-4A1A-8D6E-25E696E79175}">
      <dsp:nvSpPr>
        <dsp:cNvPr id="0" name=""/>
        <dsp:cNvSpPr/>
      </dsp:nvSpPr>
      <dsp:spPr>
        <a:xfrm>
          <a:off x="176" y="1539"/>
          <a:ext cx="2128729" cy="1639249"/>
        </a:xfrm>
        <a:prstGeom prst="roundRect">
          <a:avLst/>
        </a:prstGeom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b="1" kern="1200" dirty="0" smtClean="0"/>
            <a:t>Ощущение</a:t>
          </a:r>
          <a:endParaRPr lang="ru-RU" sz="2600" b="1" kern="1200" dirty="0"/>
        </a:p>
      </dsp:txBody>
      <dsp:txXfrm>
        <a:off x="80198" y="81561"/>
        <a:ext cx="1968685" cy="1479205"/>
      </dsp:txXfrm>
    </dsp:sp>
    <dsp:sp modelId="{B92AAA54-3B08-462F-83B7-0014501F72E6}">
      <dsp:nvSpPr>
        <dsp:cNvPr id="0" name=""/>
        <dsp:cNvSpPr/>
      </dsp:nvSpPr>
      <dsp:spPr>
        <a:xfrm rot="5400000">
          <a:off x="4360907" y="-615588"/>
          <a:ext cx="1695665" cy="6008378"/>
        </a:xfrm>
        <a:prstGeom prst="round2SameRect">
          <a:avLst/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200" b="1" kern="1200" dirty="0" smtClean="0">
              <a:solidFill>
                <a:schemeClr val="tx1"/>
              </a:solidFill>
            </a:rPr>
            <a:t>целостный образ предмета, непосредственно воздействующего на органы  чувств познающего субъекта и представляющий собой синтез различных ощущений</a:t>
          </a:r>
          <a:endParaRPr lang="ru-RU" sz="2200" b="1" kern="1200" dirty="0">
            <a:solidFill>
              <a:schemeClr val="tx1"/>
            </a:solidFill>
          </a:endParaRPr>
        </a:p>
      </dsp:txBody>
      <dsp:txXfrm rot="-5400000">
        <a:off x="2204551" y="1623544"/>
        <a:ext cx="5925602" cy="1530113"/>
      </dsp:txXfrm>
    </dsp:sp>
    <dsp:sp modelId="{C2EF9404-A940-4273-AE9C-4B5B18E6B70D}">
      <dsp:nvSpPr>
        <dsp:cNvPr id="0" name=""/>
        <dsp:cNvSpPr/>
      </dsp:nvSpPr>
      <dsp:spPr>
        <a:xfrm>
          <a:off x="8334" y="1684684"/>
          <a:ext cx="2208635" cy="1604530"/>
        </a:xfrm>
        <a:prstGeom prst="roundRect">
          <a:avLst/>
        </a:prstGeom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b="1" kern="1200" dirty="0" smtClean="0"/>
            <a:t>Восприятие</a:t>
          </a:r>
          <a:endParaRPr lang="ru-RU" sz="2600" b="1" kern="1200" dirty="0"/>
        </a:p>
      </dsp:txBody>
      <dsp:txXfrm>
        <a:off x="86661" y="1763011"/>
        <a:ext cx="2051981" cy="1447876"/>
      </dsp:txXfrm>
    </dsp:sp>
    <dsp:sp modelId="{78C15296-4C60-4E73-ABCB-B396C73542A9}">
      <dsp:nvSpPr>
        <dsp:cNvPr id="0" name=""/>
        <dsp:cNvSpPr/>
      </dsp:nvSpPr>
      <dsp:spPr>
        <a:xfrm rot="5400000">
          <a:off x="4445970" y="1142002"/>
          <a:ext cx="1518508" cy="6047771"/>
        </a:xfrm>
        <a:prstGeom prst="round2SameRect">
          <a:avLst/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200" b="1" kern="1200" dirty="0" smtClean="0"/>
            <a:t>это обобщенный чувственно-наглядный образ предмета, не воспринимаемый в данный момент времени и удерживаемый в сознании субъекта благодаря механизму памяти</a:t>
          </a:r>
          <a:endParaRPr lang="ru-RU" sz="2200" b="1" kern="1200" dirty="0"/>
        </a:p>
      </dsp:txBody>
      <dsp:txXfrm rot="-5400000">
        <a:off x="2181339" y="3480761"/>
        <a:ext cx="5973644" cy="1370254"/>
      </dsp:txXfrm>
    </dsp:sp>
    <dsp:sp modelId="{8FEC0207-6405-4CE3-9F6D-F6FCBA1F865C}">
      <dsp:nvSpPr>
        <dsp:cNvPr id="0" name=""/>
        <dsp:cNvSpPr/>
      </dsp:nvSpPr>
      <dsp:spPr>
        <a:xfrm>
          <a:off x="9693" y="3340962"/>
          <a:ext cx="2181135" cy="1639249"/>
        </a:xfrm>
        <a:prstGeom prst="roundRect">
          <a:avLst/>
        </a:prstGeom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b="1" kern="1200" dirty="0" smtClean="0"/>
            <a:t>Представле-ние</a:t>
          </a:r>
          <a:endParaRPr lang="ru-RU" sz="2600" b="1" kern="1200" dirty="0"/>
        </a:p>
      </dsp:txBody>
      <dsp:txXfrm>
        <a:off x="89715" y="3420984"/>
        <a:ext cx="2021091" cy="14792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93160-89A3-412B-A240-B769D3CC6927}">
      <dsp:nvSpPr>
        <dsp:cNvPr id="0" name=""/>
        <dsp:cNvSpPr/>
      </dsp:nvSpPr>
      <dsp:spPr>
        <a:xfrm rot="5400000">
          <a:off x="4475202" y="-2059275"/>
          <a:ext cx="1297092" cy="5760878"/>
        </a:xfrm>
        <a:prstGeom prst="round2SameRect">
          <a:avLst/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200" b="1" kern="1200" dirty="0" smtClean="0">
              <a:solidFill>
                <a:schemeClr val="tx1"/>
              </a:solidFill>
            </a:rPr>
            <a:t>это </a:t>
          </a:r>
          <a:r>
            <a:rPr lang="ru-RU" sz="2200" b="1" kern="1200" dirty="0" smtClean="0"/>
            <a:t>форма мышления, выраженная словом,  фиксирующая общие, закономерные связи, существенные свойства и признаки явлений</a:t>
          </a:r>
          <a:endParaRPr lang="ru-RU" sz="2200" b="1" kern="1200" dirty="0">
            <a:solidFill>
              <a:schemeClr val="tx1"/>
            </a:solidFill>
          </a:endParaRPr>
        </a:p>
      </dsp:txBody>
      <dsp:txXfrm rot="-5400000">
        <a:off x="2243310" y="235936"/>
        <a:ext cx="5697559" cy="1170454"/>
      </dsp:txXfrm>
    </dsp:sp>
    <dsp:sp modelId="{D266FF29-54F5-4A1A-8D6E-25E696E79175}">
      <dsp:nvSpPr>
        <dsp:cNvPr id="0" name=""/>
        <dsp:cNvSpPr/>
      </dsp:nvSpPr>
      <dsp:spPr>
        <a:xfrm>
          <a:off x="697" y="1539"/>
          <a:ext cx="2242612" cy="1639249"/>
        </a:xfrm>
        <a:prstGeom prst="roundRect">
          <a:avLst/>
        </a:prstGeom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kern="1200" dirty="0" smtClean="0"/>
            <a:t>Понятие</a:t>
          </a:r>
          <a:endParaRPr lang="ru-RU" sz="3200" b="1" kern="1200" dirty="0"/>
        </a:p>
      </dsp:txBody>
      <dsp:txXfrm>
        <a:off x="80719" y="81561"/>
        <a:ext cx="2082568" cy="1479205"/>
      </dsp:txXfrm>
    </dsp:sp>
    <dsp:sp modelId="{B92AAA54-3B08-462F-83B7-0014501F72E6}">
      <dsp:nvSpPr>
        <dsp:cNvPr id="0" name=""/>
        <dsp:cNvSpPr/>
      </dsp:nvSpPr>
      <dsp:spPr>
        <a:xfrm rot="5400000">
          <a:off x="4386974" y="-535571"/>
          <a:ext cx="1695665" cy="5988245"/>
        </a:xfrm>
        <a:prstGeom prst="round2SameRect">
          <a:avLst/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200" b="1" kern="1200" dirty="0" smtClean="0"/>
            <a:t>форма мышления, выраженная предложением (высказыванием), в котором фиксируется оценка определенного предмета, явления,   события</a:t>
          </a:r>
          <a:endParaRPr lang="ru-RU" sz="2200" b="1" kern="1200" dirty="0">
            <a:solidFill>
              <a:schemeClr val="tx1"/>
            </a:solidFill>
          </a:endParaRPr>
        </a:p>
      </dsp:txBody>
      <dsp:txXfrm rot="-5400000">
        <a:off x="2240684" y="1693495"/>
        <a:ext cx="5905469" cy="1530113"/>
      </dsp:txXfrm>
    </dsp:sp>
    <dsp:sp modelId="{C2EF9404-A940-4273-AE9C-4B5B18E6B70D}">
      <dsp:nvSpPr>
        <dsp:cNvPr id="0" name=""/>
        <dsp:cNvSpPr/>
      </dsp:nvSpPr>
      <dsp:spPr>
        <a:xfrm>
          <a:off x="10365" y="1684684"/>
          <a:ext cx="2239959" cy="1604530"/>
        </a:xfrm>
        <a:prstGeom prst="roundRect">
          <a:avLst/>
        </a:prstGeom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kern="1200" dirty="0" smtClean="0"/>
            <a:t>Суждение</a:t>
          </a:r>
          <a:endParaRPr lang="ru-RU" sz="3200" b="1" kern="1200" dirty="0"/>
        </a:p>
      </dsp:txBody>
      <dsp:txXfrm>
        <a:off x="88692" y="1763011"/>
        <a:ext cx="2083305" cy="1447876"/>
      </dsp:txXfrm>
    </dsp:sp>
    <dsp:sp modelId="{78C15296-4C60-4E73-ABCB-B396C73542A9}">
      <dsp:nvSpPr>
        <dsp:cNvPr id="0" name=""/>
        <dsp:cNvSpPr/>
      </dsp:nvSpPr>
      <dsp:spPr>
        <a:xfrm rot="5400000">
          <a:off x="4508877" y="1264460"/>
          <a:ext cx="1518508" cy="5802855"/>
        </a:xfrm>
        <a:prstGeom prst="round2SameRect">
          <a:avLst/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200" b="1" kern="1200" dirty="0" smtClean="0"/>
            <a:t>форма мышления, посредством которой на основе одного или нескольких принятых суждений выводится новое</a:t>
          </a:r>
          <a:endParaRPr lang="ru-RU" sz="2200" b="1" kern="1200" dirty="0"/>
        </a:p>
      </dsp:txBody>
      <dsp:txXfrm rot="-5400000">
        <a:off x="2366704" y="3480761"/>
        <a:ext cx="5728728" cy="1370254"/>
      </dsp:txXfrm>
    </dsp:sp>
    <dsp:sp modelId="{8FEC0207-6405-4CE3-9F6D-F6FCBA1F865C}">
      <dsp:nvSpPr>
        <dsp:cNvPr id="0" name=""/>
        <dsp:cNvSpPr/>
      </dsp:nvSpPr>
      <dsp:spPr>
        <a:xfrm>
          <a:off x="11020" y="3340962"/>
          <a:ext cx="2365977" cy="1639249"/>
        </a:xfrm>
        <a:prstGeom prst="roundRect">
          <a:avLst/>
        </a:prstGeom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kern="1200" dirty="0" smtClean="0"/>
            <a:t>Умозаклю-чение</a:t>
          </a:r>
          <a:endParaRPr lang="ru-RU" sz="3200" b="1" kern="1200" dirty="0"/>
        </a:p>
      </dsp:txBody>
      <dsp:txXfrm>
        <a:off x="91042" y="3420984"/>
        <a:ext cx="2205933" cy="1479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8469C-2903-47E2-89ED-853C599FD620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0FEFA-08AC-4A00-AE8C-4EEB720F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70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1638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3A97C-CF7A-45C5-AA58-D924E12E0E8A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23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174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938810-DCDB-417B-A8C8-A796AC506BE2}" type="slidenum">
              <a:rPr lang="ru-RU" altLang="ru-RU" smtClean="0"/>
              <a:pPr/>
              <a:t>11</a:t>
            </a:fld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10947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CB062C-13E6-449D-9018-F06662A19F0C}"/>
              </a:ext>
            </a:extLst>
          </p:cNvPr>
          <p:cNvSpPr/>
          <p:nvPr/>
        </p:nvSpPr>
        <p:spPr>
          <a:xfrm>
            <a:off x="0" y="2141539"/>
            <a:ext cx="12192000" cy="24542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E5E729-A8D2-4886-BC09-5F56F83BCEC5}"/>
              </a:ext>
            </a:extLst>
          </p:cNvPr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9618D3-DA30-42C2-82C9-5A413B9DD752}"/>
              </a:ext>
            </a:extLst>
          </p:cNvPr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5"/>
            <a:ext cx="10363200" cy="165246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51139"/>
            <a:ext cx="10363200" cy="416689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>
            <a:extLst>
              <a:ext uri="{FF2B5EF4-FFF2-40B4-BE49-F238E27FC236}">
                <a16:creationId xmlns:a16="http://schemas.microsoft.com/office/drawing/2014/main" id="{4388834D-2B3E-4352-A8D3-559F8014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BB9DD5-E060-43FE-BE50-EED8A5600C48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11.03.2023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4184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36C6F1-0EFB-4DBC-9BFC-A671DB5F9BA9}"/>
              </a:ext>
            </a:extLst>
          </p:cNvPr>
          <p:cNvSpPr/>
          <p:nvPr/>
        </p:nvSpPr>
        <p:spPr>
          <a:xfrm>
            <a:off x="0" y="1944689"/>
            <a:ext cx="12192000" cy="3043237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47CC4E-39FB-4334-AB03-E97208934C4D}"/>
              </a:ext>
            </a:extLst>
          </p:cNvPr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2EF4E28-5DEC-48F7-9801-D4AB1A3F3C79}"/>
              </a:ext>
            </a:extLst>
          </p:cNvPr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>
            <a:extLst>
              <a:ext uri="{FF2B5EF4-FFF2-40B4-BE49-F238E27FC236}">
                <a16:creationId xmlns:a16="http://schemas.microsoft.com/office/drawing/2014/main" id="{D6E5D49B-F4A0-4FB1-A797-BAA34C87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DE0C77-58A1-40C4-80E8-C62DA019950B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11.03.2023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51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BBA068-14F0-4ED4-B358-14755FE5F79E}"/>
              </a:ext>
            </a:extLst>
          </p:cNvPr>
          <p:cNvSpPr/>
          <p:nvPr/>
        </p:nvSpPr>
        <p:spPr>
          <a:xfrm>
            <a:off x="0" y="0"/>
            <a:ext cx="12192000" cy="6883400"/>
          </a:xfrm>
          <a:prstGeom prst="rect">
            <a:avLst/>
          </a:prstGeom>
          <a:solidFill>
            <a:srgbClr val="434343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bg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6" name="Дата 16">
            <a:extLst>
              <a:ext uri="{FF2B5EF4-FFF2-40B4-BE49-F238E27FC236}">
                <a16:creationId xmlns:a16="http://schemas.microsoft.com/office/drawing/2014/main" id="{CE25519A-B45A-4176-BFDA-B238A740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420687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67A818-1D8A-491C-A8DF-5E1868AAD494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11.03.2023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487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ED3FD0-A536-4834-A941-B3339922FFA9}"/>
              </a:ext>
            </a:extLst>
          </p:cNvPr>
          <p:cNvSpPr/>
          <p:nvPr/>
        </p:nvSpPr>
        <p:spPr>
          <a:xfrm>
            <a:off x="0" y="1944689"/>
            <a:ext cx="12192000" cy="20605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Изображение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914400" y="2201897"/>
            <a:ext cx="10363200" cy="151357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8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Обычная_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6300A1-F4E2-41C5-A225-3A5A6E2214DC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BC5E4D-CB6D-4FC1-AE0C-414CDBDB90A9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65" y="868102"/>
            <a:ext cx="11052751" cy="5208607"/>
          </a:xfrm>
          <a:effectLst>
            <a:outerShdw blurRad="50800" dist="50800" dir="5400000" algn="ctr" rotWithShape="0">
              <a:srgbClr val="EBEBEB"/>
            </a:outerShdw>
          </a:effectLst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A3A4ED-190A-44E9-A4A4-342F333C8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3AEDE0-4A2E-4AB6-A6C8-A0CC5347AFBD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962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Страница_2_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696633F-EC78-404C-832B-B286F3C9C113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73CC2A-DBEB-4E18-A45A-A83E107224A2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537365" y="863591"/>
            <a:ext cx="5482435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863591"/>
            <a:ext cx="5417916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91E618-6E43-4DA5-8F36-00C05E40B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DFF2C1-5C80-43D5-A8C4-F0E4F8590B7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4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B6A7BB9-942F-4CB4-AE2A-2A2D80AE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45878D-6B7A-4BA9-855C-FB0D06C31212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11.03.2023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086C020-346B-4CF5-B50B-A9E35402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96730A-7B0C-4A68-B246-D639779D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181822-0D56-45F3-A9AC-2E262786160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8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F84B75-A89E-476D-93B8-E99F05B9D3B4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E6300E-4459-4EBF-A1BC-46505DABD780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60358E-C106-4B76-9348-06BD63D79B96}"/>
              </a:ext>
            </a:extLst>
          </p:cNvPr>
          <p:cNvSpPr txBox="1">
            <a:spLocks/>
          </p:cNvSpPr>
          <p:nvPr/>
        </p:nvSpPr>
        <p:spPr>
          <a:xfrm>
            <a:off x="2590800" y="0"/>
            <a:ext cx="9000067" cy="577850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 baseline="0">
                <a:solidFill>
                  <a:schemeClr val="tx1"/>
                </a:solidFill>
                <a:latin typeface="PT Sans" charset="-52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j-ea"/>
                <a:cs typeface="+mj-cs"/>
              </a:rPr>
              <a:t>Образец заголовка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3809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Дата 2">
            <a:extLst>
              <a:ext uri="{FF2B5EF4-FFF2-40B4-BE49-F238E27FC236}">
                <a16:creationId xmlns:a16="http://schemas.microsoft.com/office/drawing/2014/main" id="{6034537D-4356-4884-A86A-5E61A8A9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33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A7E7C5-A301-4AE9-8445-D870C6CBE0BF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T Sans" charset="-52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11.03.2023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T Sans" charset="-52"/>
            </a:endParaRPr>
          </a:p>
        </p:txBody>
      </p:sp>
      <p:sp>
        <p:nvSpPr>
          <p:cNvPr id="8" name="Нижний колонтитул 3">
            <a:extLst>
              <a:ext uri="{FF2B5EF4-FFF2-40B4-BE49-F238E27FC236}">
                <a16:creationId xmlns:a16="http://schemas.microsoft.com/office/drawing/2014/main" id="{BE4CF04A-80F1-460D-9944-8F021CB9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351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T Sans" charset="-52"/>
            </a:endParaRPr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5511C22D-B867-40BD-B5F6-ED16B82C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4464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F3DAB8-E242-4B8F-A33E-25C09CDC712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T Sans" charset="-52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T Sans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8326837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Спасибо_за_вним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052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61430D-E335-472C-9FEB-21364E6A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B0A08B-7456-43CB-8C05-A31EB723E5A1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11.03.2023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C29C47-6BD6-479D-B89C-5FCAAAC9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DB51AC-B1EE-4361-B8C0-F2FEC5AF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2B475F-00C5-4419-80AE-CEE6C6DA3E6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5185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6D333B69-277C-4BD7-A955-DE3F4C3FF1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524E6994-490E-426F-AC40-84AC72F218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DE39970E-1E84-4A60-BF7B-B171915018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E56578-050F-451D-B248-973105786DC5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0835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>
  <p:cSld name="Заголовок, клип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Место для изображения из Интернета 2"/>
          <p:cNvSpPr>
            <a:spLocks noGrp="1"/>
          </p:cNvSpPr>
          <p:nvPr>
            <p:ph type="clipArt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6347A2-9AAB-43FC-A9AC-78E4B232FA6D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743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hartAndTx">
  <p:cSld name="Заголовок, диаграмма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иаграмма 2"/>
          <p:cNvSpPr>
            <a:spLocks noGrp="1"/>
          </p:cNvSpPr>
          <p:nvPr>
            <p:ph type="chart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15134-9CEE-4A35-9FEC-55F656B75EDC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038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" type="tx">
  <p:cSld name="Title and text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"/>
          <p:cNvSpPr txBox="1"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25" name="Google Shape;325;p3"/>
          <p:cNvSpPr txBox="1">
            <a:spLocks noGrp="1"/>
          </p:cNvSpPr>
          <p:nvPr>
            <p:ph type="body" idx="1"/>
          </p:nvPr>
        </p:nvSpPr>
        <p:spPr>
          <a:xfrm>
            <a:off x="402167" y="1600200"/>
            <a:ext cx="11387667" cy="449897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/>
          <a:lstStyle>
            <a:lvl1pPr marL="457200" marR="0" lvl="0" indent="-39116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Arial"/>
              <a:buChar char="►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Arial"/>
              <a:buChar char="►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326;p3"/>
          <p:cNvSpPr txBox="1">
            <a:spLocks noGrp="1"/>
          </p:cNvSpPr>
          <p:nvPr>
            <p:ph type="dt" idx="10"/>
          </p:nvPr>
        </p:nvSpPr>
        <p:spPr>
          <a:xfrm>
            <a:off x="402167" y="6245225"/>
            <a:ext cx="3052233" cy="476250"/>
          </a:xfrm>
        </p:spPr>
        <p:txBody>
          <a:bodyPr spcFirstLastPara="1" lIns="91425" tIns="45700" rIns="91425" bIns="45700" anchor="t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327;p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</p:spPr>
        <p:txBody>
          <a:bodyPr spcFirstLastPara="1" lIns="91425" tIns="45700" rIns="91425" bIns="45700" anchor="t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Google Shape;328;p3"/>
          <p:cNvSpPr txBox="1">
            <a:spLocks noGrp="1"/>
          </p:cNvSpPr>
          <p:nvPr>
            <p:ph type="sldNum" idx="12"/>
          </p:nvPr>
        </p:nvSpPr>
        <p:spPr>
          <a:xfrm>
            <a:off x="8737601" y="6245225"/>
            <a:ext cx="3052233" cy="476250"/>
          </a:xfrm>
        </p:spPr>
        <p:txBody>
          <a:bodyPr spcFirstLastPara="1" lIns="91425" tIns="45700" rIns="91425" bIns="45700" anchor="t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CC2EB7-8F21-4403-9D52-A7705D223789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4779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ext on left, text on right" type="twoColTx">
  <p:cSld name="Title, text on left, text on right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0;p4"/>
          <p:cNvSpPr txBox="1">
            <a:spLocks noGrp="1"/>
          </p:cNvSpPr>
          <p:nvPr>
            <p:ph type="dt" idx="10"/>
          </p:nvPr>
        </p:nvSpPr>
        <p:spPr>
          <a:xfrm>
            <a:off x="402167" y="6245225"/>
            <a:ext cx="3052233" cy="476250"/>
          </a:xfrm>
        </p:spPr>
        <p:txBody>
          <a:bodyPr spcFirstLastPara="1" lIns="91425" tIns="45700" rIns="91425" bIns="45700" anchor="t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331;p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</p:spPr>
        <p:txBody>
          <a:bodyPr spcFirstLastPara="1" lIns="91425" tIns="45700" rIns="91425" bIns="45700" anchor="t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332;p4"/>
          <p:cNvSpPr txBox="1">
            <a:spLocks noGrp="1"/>
          </p:cNvSpPr>
          <p:nvPr>
            <p:ph type="sldNum" idx="12"/>
          </p:nvPr>
        </p:nvSpPr>
        <p:spPr>
          <a:xfrm>
            <a:off x="8737601" y="6245225"/>
            <a:ext cx="3052233" cy="476250"/>
          </a:xfrm>
        </p:spPr>
        <p:txBody>
          <a:bodyPr spcFirstLastPara="1" lIns="91425" tIns="45700" rIns="91425" bIns="45700" anchor="t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B0700-B70E-4183-8B55-FFD233934D2F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1515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wo objects on left, text on right" type="twoObjAndTx">
  <p:cSld name="Title, two objects on left, text on right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8;p6"/>
          <p:cNvSpPr txBox="1">
            <a:spLocks noGrp="1"/>
          </p:cNvSpPr>
          <p:nvPr>
            <p:ph type="dt" idx="10"/>
          </p:nvPr>
        </p:nvSpPr>
        <p:spPr>
          <a:xfrm>
            <a:off x="402167" y="6245225"/>
            <a:ext cx="3052233" cy="476250"/>
          </a:xfrm>
        </p:spPr>
        <p:txBody>
          <a:bodyPr spcFirstLastPara="1" lIns="91425" tIns="45700" rIns="91425" bIns="45700" anchor="t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339;p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</p:spPr>
        <p:txBody>
          <a:bodyPr spcFirstLastPara="1" lIns="91425" tIns="45700" rIns="91425" bIns="45700" anchor="t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340;p6"/>
          <p:cNvSpPr txBox="1">
            <a:spLocks noGrp="1"/>
          </p:cNvSpPr>
          <p:nvPr>
            <p:ph type="sldNum" idx="12"/>
          </p:nvPr>
        </p:nvSpPr>
        <p:spPr>
          <a:xfrm>
            <a:off x="8737601" y="6245225"/>
            <a:ext cx="3052233" cy="476250"/>
          </a:xfrm>
        </p:spPr>
        <p:txBody>
          <a:bodyPr spcFirstLastPara="1" lIns="91425" tIns="45700" rIns="91425" bIns="45700" anchor="t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E39125-986D-4544-B0E9-3D94D6F507B1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9867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  only" type="objOnly">
  <p:cSld name="Object  only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2;p7"/>
          <p:cNvSpPr txBox="1">
            <a:spLocks noGrp="1"/>
          </p:cNvSpPr>
          <p:nvPr>
            <p:ph type="dt" idx="10"/>
          </p:nvPr>
        </p:nvSpPr>
        <p:spPr>
          <a:xfrm>
            <a:off x="402167" y="6245225"/>
            <a:ext cx="3052233" cy="476250"/>
          </a:xfrm>
        </p:spPr>
        <p:txBody>
          <a:bodyPr spcFirstLastPara="1" lIns="91425" tIns="45700" rIns="91425" bIns="45700" anchor="t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343;p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</p:spPr>
        <p:txBody>
          <a:bodyPr spcFirstLastPara="1" lIns="91425" tIns="45700" rIns="91425" bIns="45700" anchor="t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737601" y="6245225"/>
            <a:ext cx="3052233" cy="476250"/>
          </a:xfrm>
        </p:spPr>
        <p:txBody>
          <a:bodyPr spcFirstLastPara="1" lIns="91425" tIns="45700" rIns="91425" bIns="45700" anchor="t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B313-2D16-4CEA-B7FA-B1699333B037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6762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361A8-B89C-43C2-82C0-923CCC6621DF}" type="datetimeFigureOut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11.03.2023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A73F5-3975-43C3-A122-BB2B99E39C9E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74551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1430D-E335-472C-9FEB-21364E6AB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F41C32-B87B-49BC-9673-8CFEB4C493F1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11.03.2023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29C47-6BD6-479D-B89C-5FCAAAC9B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B51AC-B1EE-4361-B8C0-F2FEC5AFC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3FFC6B-74C4-4C98-ACD9-8A062E456F68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9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67840" y="1062356"/>
            <a:ext cx="9144000" cy="5013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ru-RU" b="1" u="sng" dirty="0" smtClean="0">
                <a:solidFill>
                  <a:schemeClr val="tx1"/>
                </a:solidFill>
              </a:rPr>
              <a:t>Познание</a:t>
            </a:r>
            <a:r>
              <a:rPr lang="ru-RU" b="1" dirty="0" smtClean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- </a:t>
            </a:r>
            <a:r>
              <a:rPr lang="ru-RU" b="1" dirty="0" smtClean="0">
                <a:solidFill>
                  <a:schemeClr val="tx1"/>
                </a:solidFill>
              </a:rPr>
              <a:t>деятельность </a:t>
            </a:r>
            <a:r>
              <a:rPr lang="ru-RU" b="1" dirty="0">
                <a:solidFill>
                  <a:schemeClr val="tx1"/>
                </a:solidFill>
              </a:rPr>
              <a:t>человека, направленная на </a:t>
            </a:r>
            <a:r>
              <a:rPr lang="ru-RU" b="1" dirty="0" smtClean="0">
                <a:solidFill>
                  <a:schemeClr val="tx1"/>
                </a:solidFill>
              </a:rPr>
              <a:t>получение достоверных </a:t>
            </a:r>
            <a:r>
              <a:rPr lang="ru-RU" b="1" dirty="0">
                <a:solidFill>
                  <a:schemeClr val="tx1"/>
                </a:solidFill>
              </a:rPr>
              <a:t>знаний о действительности.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ru-RU" b="1" u="sng" dirty="0" smtClean="0">
                <a:solidFill>
                  <a:schemeClr val="tx1"/>
                </a:solidFill>
              </a:rPr>
              <a:t>Субъект </a:t>
            </a:r>
            <a:r>
              <a:rPr lang="ru-RU" b="1" u="sng" dirty="0">
                <a:solidFill>
                  <a:schemeClr val="tx1"/>
                </a:solidFill>
              </a:rPr>
              <a:t>познания </a:t>
            </a:r>
            <a:r>
              <a:rPr lang="en-US" b="1" dirty="0" smtClean="0">
                <a:solidFill>
                  <a:schemeClr val="tx1"/>
                </a:solidFill>
              </a:rPr>
              <a:t>(S) - </a:t>
            </a:r>
            <a:r>
              <a:rPr lang="ru-RU" b="1" dirty="0" smtClean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человек как носитель сознания, </a:t>
            </a:r>
            <a:r>
              <a:rPr lang="ru-RU" b="1" dirty="0" smtClean="0">
                <a:solidFill>
                  <a:schemeClr val="tx1"/>
                </a:solidFill>
              </a:rPr>
              <a:t>обладающий определенными познавательными способностями (рассудок,  </a:t>
            </a:r>
            <a:r>
              <a:rPr lang="ru-RU" b="1" dirty="0">
                <a:solidFill>
                  <a:schemeClr val="tx1"/>
                </a:solidFill>
              </a:rPr>
              <a:t>воля, память, воображение, интуиция и др.)</a:t>
            </a:r>
            <a:r>
              <a:rPr lang="ru-RU" b="1" dirty="0" smtClean="0">
                <a:solidFill>
                  <a:schemeClr val="tx1"/>
                </a:solidFill>
              </a:rPr>
              <a:t>.</a:t>
            </a:r>
            <a:endParaRPr lang="en-US" b="1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  <a:defRPr/>
            </a:pPr>
            <a:r>
              <a:rPr lang="ru-RU" b="1" u="sng" dirty="0">
                <a:solidFill>
                  <a:schemeClr val="tx1"/>
                </a:solidFill>
              </a:rPr>
              <a:t>Объект </a:t>
            </a:r>
            <a:r>
              <a:rPr lang="ru-RU" b="1" u="sng" dirty="0" smtClean="0">
                <a:solidFill>
                  <a:schemeClr val="tx1"/>
                </a:solidFill>
              </a:rPr>
              <a:t>познания</a:t>
            </a:r>
            <a:r>
              <a:rPr lang="en-US" b="1" u="sng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ru-RU" b="1" dirty="0">
                <a:solidFill>
                  <a:schemeClr val="tx1"/>
                </a:solidFill>
              </a:rPr>
              <a:t>О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r>
              <a:rPr lang="ru-RU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-  </a:t>
            </a:r>
            <a:r>
              <a:rPr lang="ru-RU" b="1" dirty="0" smtClean="0">
                <a:solidFill>
                  <a:schemeClr val="tx1"/>
                </a:solidFill>
              </a:rPr>
              <a:t>фрагмент </a:t>
            </a:r>
            <a:r>
              <a:rPr lang="ru-RU" b="1" dirty="0">
                <a:solidFill>
                  <a:schemeClr val="tx1"/>
                </a:solidFill>
              </a:rPr>
              <a:t>реальности, на </a:t>
            </a:r>
            <a:r>
              <a:rPr lang="ru-RU" b="1" dirty="0" smtClean="0">
                <a:solidFill>
                  <a:schemeClr val="tx1"/>
                </a:solidFill>
              </a:rPr>
              <a:t>который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ru-RU" b="1" dirty="0" smtClean="0">
                <a:solidFill>
                  <a:schemeClr val="tx1"/>
                </a:solidFill>
              </a:rPr>
              <a:t>направлена </a:t>
            </a:r>
            <a:r>
              <a:rPr lang="ru-RU" b="1" dirty="0">
                <a:solidFill>
                  <a:schemeClr val="tx1"/>
                </a:solidFill>
              </a:rPr>
              <a:t>познавательная активность субъекта. </a:t>
            </a:r>
          </a:p>
        </p:txBody>
      </p:sp>
    </p:spTree>
    <p:extLst>
      <p:ext uri="{BB962C8B-B14F-4D97-AF65-F5344CB8AC3E}">
        <p14:creationId xmlns:p14="http://schemas.microsoft.com/office/powerpoint/2010/main" val="1445702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01040" y="822961"/>
            <a:ext cx="10749280" cy="1676399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ОСНОВНЫЕ ТОЧКИ ЗРЕНИЯ НА ПРОБЛЕМУ ПОЗНАВАЕМОСТИ МИРА</a:t>
            </a:r>
            <a:r>
              <a:rPr lang="ru-RU" b="1" dirty="0"/>
              <a:t/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9280" y="2367280"/>
            <a:ext cx="10982960" cy="44907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tx1"/>
                </a:solidFill>
              </a:rPr>
              <a:t>     </a:t>
            </a:r>
            <a:r>
              <a:rPr lang="ru-RU" b="1" dirty="0" smtClean="0">
                <a:solidFill>
                  <a:srgbClr val="FF0000"/>
                </a:solidFill>
              </a:rPr>
              <a:t>Гносеологический оптимизм </a:t>
            </a:r>
            <a:r>
              <a:rPr lang="ru-RU" b="1" dirty="0">
                <a:solidFill>
                  <a:schemeClr val="tx1"/>
                </a:solidFill>
              </a:rPr>
              <a:t>– </a:t>
            </a:r>
            <a:r>
              <a:rPr lang="ru-RU" b="1" dirty="0" smtClean="0">
                <a:solidFill>
                  <a:schemeClr val="tx1"/>
                </a:solidFill>
              </a:rPr>
              <a:t>философская точка зрения, согласно которой человек способен познать вещи такими, какими они являются на самом деле, и границ познанию не существует (Аристотель,  просветители, Гегель, марксизм).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tx1"/>
                </a:solidFill>
              </a:rPr>
              <a:t>    </a:t>
            </a:r>
            <a:r>
              <a:rPr lang="ru-RU" b="1" dirty="0" smtClean="0">
                <a:solidFill>
                  <a:srgbClr val="FF0000"/>
                </a:solidFill>
              </a:rPr>
              <a:t>Скептицизм </a:t>
            </a:r>
            <a:r>
              <a:rPr lang="ru-RU" b="1" dirty="0" smtClean="0">
                <a:solidFill>
                  <a:schemeClr val="tx1"/>
                </a:solidFill>
              </a:rPr>
              <a:t>– сомнение в познавательных способностях человека (</a:t>
            </a:r>
            <a:r>
              <a:rPr lang="ru-RU" b="1" dirty="0" err="1" smtClean="0">
                <a:solidFill>
                  <a:schemeClr val="tx1"/>
                </a:solidFill>
              </a:rPr>
              <a:t>М.Монтень</a:t>
            </a:r>
            <a:r>
              <a:rPr lang="ru-RU" b="1" dirty="0" smtClean="0">
                <a:solidFill>
                  <a:schemeClr val="tx1"/>
                </a:solidFill>
              </a:rPr>
              <a:t> и др.). </a:t>
            </a:r>
            <a:endParaRPr lang="ru-RU" b="1" dirty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tx1"/>
                </a:solidFill>
              </a:rPr>
              <a:t>   </a:t>
            </a:r>
            <a:r>
              <a:rPr lang="ru-RU" b="1" dirty="0" smtClean="0">
                <a:solidFill>
                  <a:srgbClr val="FF0000"/>
                </a:solidFill>
              </a:rPr>
              <a:t>  Агностицизм  </a:t>
            </a:r>
            <a:r>
              <a:rPr lang="ru-RU" b="1" dirty="0" smtClean="0">
                <a:solidFill>
                  <a:schemeClr val="tx1"/>
                </a:solidFill>
              </a:rPr>
              <a:t>(дословно – от греч.  непознаваемый) – философское учение, отрицающее познаваемость мира и объективность истины (</a:t>
            </a:r>
            <a:r>
              <a:rPr lang="ru-RU" b="1" dirty="0" err="1" smtClean="0">
                <a:solidFill>
                  <a:schemeClr val="tx1"/>
                </a:solidFill>
              </a:rPr>
              <a:t>И.Кант</a:t>
            </a:r>
            <a:r>
              <a:rPr lang="ru-RU" b="1" dirty="0" smtClean="0">
                <a:solidFill>
                  <a:schemeClr val="tx1"/>
                </a:solidFill>
              </a:rPr>
              <a:t> и др.).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2781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15440" y="558800"/>
            <a:ext cx="9479280" cy="996634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ИСТИНА</a:t>
            </a:r>
            <a:br>
              <a:rPr lang="ru-RU" b="1" dirty="0" smtClean="0"/>
            </a:br>
            <a:r>
              <a:rPr lang="ru-RU" b="1" dirty="0" smtClean="0"/>
              <a:t>(классическая концепция)</a:t>
            </a:r>
            <a:br>
              <a:rPr lang="ru-RU" b="1" dirty="0" smtClean="0"/>
            </a:b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060576"/>
            <a:ext cx="9144000" cy="4797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rgbClr val="FF0000"/>
                </a:solidFill>
              </a:rPr>
              <a:t>       Истина</a:t>
            </a:r>
            <a:r>
              <a:rPr lang="ru-RU" b="1" dirty="0" smtClean="0">
                <a:solidFill>
                  <a:schemeClr val="tx1"/>
                </a:solidFill>
              </a:rPr>
              <a:t> – знание, представляющее собой адекватное отражение реальности. Её черты:</a:t>
            </a:r>
          </a:p>
          <a:p>
            <a:pPr marL="514350" indent="-514350" algn="just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b="1" dirty="0" smtClean="0">
                <a:solidFill>
                  <a:schemeClr val="tx1"/>
                </a:solidFill>
              </a:rPr>
              <a:t>Объективность (субъективна по форме, объективна по содержанию);</a:t>
            </a:r>
          </a:p>
          <a:p>
            <a:pPr marL="514350" indent="-514350" algn="just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b="1" dirty="0" smtClean="0">
                <a:solidFill>
                  <a:schemeClr val="tx1"/>
                </a:solidFill>
              </a:rPr>
              <a:t>Конкретность;</a:t>
            </a:r>
          </a:p>
          <a:p>
            <a:pPr marL="514350" indent="-514350" algn="just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b="1" dirty="0" smtClean="0">
                <a:solidFill>
                  <a:schemeClr val="tx1"/>
                </a:solidFill>
              </a:rPr>
              <a:t>Абсолютность и относительность: выделяют истины абсолютные (полное исчерпывающее знание об объекте) и  относительные (неполное, приблизительно верное знание).</a:t>
            </a:r>
          </a:p>
          <a:p>
            <a:pPr marL="514350" indent="-514350" algn="just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ru-RU" b="1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  <a:defRPr/>
            </a:pP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1360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097280"/>
            <a:ext cx="9144000" cy="963296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ИСТИНА</a:t>
            </a:r>
            <a:br>
              <a:rPr lang="ru-RU" b="1" dirty="0" smtClean="0"/>
            </a:br>
            <a:r>
              <a:rPr lang="ru-RU" b="1" dirty="0" smtClean="0"/>
              <a:t>(неклассические концепции)</a:t>
            </a:r>
            <a:br>
              <a:rPr lang="ru-RU" b="1" dirty="0" smtClean="0"/>
            </a:b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060576"/>
            <a:ext cx="9144000" cy="4537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algn="just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b="1" dirty="0">
                <a:solidFill>
                  <a:srgbClr val="FF0000"/>
                </a:solidFill>
              </a:rPr>
              <a:t>Когерентная</a:t>
            </a:r>
            <a:r>
              <a:rPr lang="ru-RU" b="1" dirty="0">
                <a:solidFill>
                  <a:schemeClr val="tx1"/>
                </a:solidFill>
              </a:rPr>
              <a:t> (лат. </a:t>
            </a:r>
            <a:r>
              <a:rPr lang="ru-RU" b="1" dirty="0" err="1">
                <a:solidFill>
                  <a:schemeClr val="tx1"/>
                </a:solidFill>
              </a:rPr>
              <a:t>cohaerentia</a:t>
            </a:r>
            <a:r>
              <a:rPr lang="ru-RU" b="1" dirty="0">
                <a:solidFill>
                  <a:schemeClr val="tx1"/>
                </a:solidFill>
              </a:rPr>
              <a:t> – связь, сцепление) </a:t>
            </a:r>
            <a:r>
              <a:rPr lang="ru-RU" b="1" dirty="0" smtClean="0">
                <a:solidFill>
                  <a:schemeClr val="tx1"/>
                </a:solidFill>
              </a:rPr>
              <a:t>Истина понимается как свойство согласованности </a:t>
            </a:r>
            <a:r>
              <a:rPr lang="ru-RU" b="1" dirty="0">
                <a:solidFill>
                  <a:schemeClr val="tx1"/>
                </a:solidFill>
              </a:rPr>
              <a:t>и логической непротиворечивости </a:t>
            </a:r>
            <a:r>
              <a:rPr lang="ru-RU" b="1" dirty="0" smtClean="0">
                <a:solidFill>
                  <a:schemeClr val="tx1"/>
                </a:solidFill>
              </a:rPr>
              <a:t>знаний </a:t>
            </a:r>
            <a:r>
              <a:rPr lang="ru-RU" b="1" dirty="0">
                <a:solidFill>
                  <a:schemeClr val="tx1"/>
                </a:solidFill>
              </a:rPr>
              <a:t>(О. </a:t>
            </a:r>
            <a:r>
              <a:rPr lang="ru-RU" b="1" dirty="0" err="1">
                <a:solidFill>
                  <a:schemeClr val="tx1"/>
                </a:solidFill>
              </a:rPr>
              <a:t>Нейрат</a:t>
            </a:r>
            <a:r>
              <a:rPr lang="ru-RU" b="1" dirty="0">
                <a:solidFill>
                  <a:schemeClr val="tx1"/>
                </a:solidFill>
              </a:rPr>
              <a:t>, Р. Карнап, </a:t>
            </a:r>
            <a:r>
              <a:rPr lang="ru-RU" b="1" dirty="0" smtClean="0">
                <a:solidFill>
                  <a:schemeClr val="tx1"/>
                </a:solidFill>
              </a:rPr>
              <a:t>и </a:t>
            </a:r>
            <a:r>
              <a:rPr lang="ru-RU" b="1" dirty="0">
                <a:solidFill>
                  <a:schemeClr val="tx1"/>
                </a:solidFill>
              </a:rPr>
              <a:t>другие). </a:t>
            </a:r>
            <a:endParaRPr lang="ru-RU" b="1" dirty="0" smtClean="0">
              <a:solidFill>
                <a:schemeClr val="tx1"/>
              </a:solidFill>
            </a:endParaRPr>
          </a:p>
          <a:p>
            <a:pPr marL="514350" indent="-514350" algn="just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b="1" dirty="0" smtClean="0">
                <a:solidFill>
                  <a:srgbClr val="FF0000"/>
                </a:solidFill>
              </a:rPr>
              <a:t>Прагматическая</a:t>
            </a:r>
            <a:r>
              <a:rPr lang="ru-RU" b="1" dirty="0" smtClean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(греч. </a:t>
            </a:r>
            <a:r>
              <a:rPr lang="ru-RU" b="1" dirty="0" err="1">
                <a:solidFill>
                  <a:schemeClr val="tx1"/>
                </a:solidFill>
              </a:rPr>
              <a:t>pragma</a:t>
            </a:r>
            <a:r>
              <a:rPr lang="ru-RU" b="1" dirty="0">
                <a:solidFill>
                  <a:schemeClr val="tx1"/>
                </a:solidFill>
              </a:rPr>
              <a:t> – дело, действие) </a:t>
            </a:r>
            <a:r>
              <a:rPr lang="ru-RU" b="1" dirty="0" smtClean="0">
                <a:solidFill>
                  <a:schemeClr val="tx1"/>
                </a:solidFill>
              </a:rPr>
              <a:t>Истина </a:t>
            </a:r>
            <a:r>
              <a:rPr lang="ru-RU" b="1" dirty="0">
                <a:solidFill>
                  <a:schemeClr val="tx1"/>
                </a:solidFill>
              </a:rPr>
              <a:t>понимается как </a:t>
            </a:r>
            <a:r>
              <a:rPr lang="ru-RU" b="1" dirty="0" smtClean="0">
                <a:solidFill>
                  <a:schemeClr val="tx1"/>
                </a:solidFill>
              </a:rPr>
              <a:t>полезность </a:t>
            </a:r>
            <a:r>
              <a:rPr lang="ru-RU" b="1" dirty="0">
                <a:solidFill>
                  <a:schemeClr val="tx1"/>
                </a:solidFill>
              </a:rPr>
              <a:t>знания, </a:t>
            </a:r>
            <a:r>
              <a:rPr lang="ru-RU" b="1" dirty="0" smtClean="0">
                <a:solidFill>
                  <a:schemeClr val="tx1"/>
                </a:solidFill>
              </a:rPr>
              <a:t>как инструмент для эффективного решения познавательных проблем (</a:t>
            </a:r>
            <a:r>
              <a:rPr lang="ru-RU" b="1" dirty="0">
                <a:solidFill>
                  <a:schemeClr val="tx1"/>
                </a:solidFill>
              </a:rPr>
              <a:t>Ч. Пирс, У. </a:t>
            </a:r>
            <a:r>
              <a:rPr lang="ru-RU" b="1" dirty="0" err="1">
                <a:solidFill>
                  <a:schemeClr val="tx1"/>
                </a:solidFill>
              </a:rPr>
              <a:t>Джемси</a:t>
            </a:r>
            <a:r>
              <a:rPr lang="ru-RU" b="1" dirty="0">
                <a:solidFill>
                  <a:schemeClr val="tx1"/>
                </a:solidFill>
              </a:rPr>
              <a:t> др.). </a:t>
            </a:r>
          </a:p>
          <a:p>
            <a:pPr marL="514350" indent="-514350" algn="just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b="1" dirty="0" err="1">
                <a:solidFill>
                  <a:srgbClr val="FF0000"/>
                </a:solidFill>
              </a:rPr>
              <a:t>Конвенционалистская</a:t>
            </a:r>
            <a:r>
              <a:rPr lang="ru-RU" b="1" dirty="0">
                <a:solidFill>
                  <a:schemeClr val="tx1"/>
                </a:solidFill>
              </a:rPr>
              <a:t> (лат. </a:t>
            </a:r>
            <a:r>
              <a:rPr lang="ru-RU" b="1" dirty="0" err="1">
                <a:solidFill>
                  <a:schemeClr val="tx1"/>
                </a:solidFill>
              </a:rPr>
              <a:t>conventio</a:t>
            </a:r>
            <a:r>
              <a:rPr lang="ru-RU" b="1" dirty="0">
                <a:solidFill>
                  <a:schemeClr val="tx1"/>
                </a:solidFill>
              </a:rPr>
              <a:t> – соглашение</a:t>
            </a:r>
            <a:r>
              <a:rPr lang="ru-RU" b="1" dirty="0" smtClean="0">
                <a:solidFill>
                  <a:schemeClr val="tx1"/>
                </a:solidFill>
              </a:rPr>
              <a:t>). Истина понимается </a:t>
            </a:r>
            <a:r>
              <a:rPr lang="ru-RU" b="1" dirty="0">
                <a:solidFill>
                  <a:schemeClr val="tx1"/>
                </a:solidFill>
              </a:rPr>
              <a:t>как продукт </a:t>
            </a:r>
            <a:r>
              <a:rPr lang="ru-RU" b="1" dirty="0" smtClean="0">
                <a:solidFill>
                  <a:schemeClr val="tx1"/>
                </a:solidFill>
              </a:rPr>
              <a:t>соглашения, договоренности людей (А</a:t>
            </a:r>
            <a:r>
              <a:rPr lang="ru-RU" b="1" dirty="0">
                <a:solidFill>
                  <a:schemeClr val="tx1"/>
                </a:solidFill>
              </a:rPr>
              <a:t>. </a:t>
            </a:r>
            <a:r>
              <a:rPr lang="ru-RU" b="1" dirty="0" smtClean="0">
                <a:solidFill>
                  <a:schemeClr val="tx1"/>
                </a:solidFill>
              </a:rPr>
              <a:t>Пуанкаре </a:t>
            </a:r>
            <a:r>
              <a:rPr lang="ru-RU" b="1" dirty="0">
                <a:solidFill>
                  <a:schemeClr val="tx1"/>
                </a:solidFill>
              </a:rPr>
              <a:t>и </a:t>
            </a:r>
            <a:r>
              <a:rPr lang="ru-RU" b="1" dirty="0" smtClean="0">
                <a:solidFill>
                  <a:schemeClr val="tx1"/>
                </a:solidFill>
              </a:rPr>
              <a:t>др.).</a:t>
            </a:r>
            <a:endParaRPr lang="ru-RU" b="1" dirty="0">
              <a:solidFill>
                <a:schemeClr val="tx1"/>
              </a:solidFill>
            </a:endParaRPr>
          </a:p>
          <a:p>
            <a:pPr marL="514350" indent="-514350" algn="just" fontAlgn="auto">
              <a:spcAft>
                <a:spcPts val="0"/>
              </a:spcAft>
              <a:buFont typeface="+mj-lt"/>
              <a:buAutoNum type="arabicPeriod"/>
              <a:defRPr/>
            </a:pP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4895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15440" y="751841"/>
            <a:ext cx="9144000" cy="741679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b="1" dirty="0" smtClean="0"/>
              <a:t>КРИТЕРИИ ИСТИНЫ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628776"/>
            <a:ext cx="9144000" cy="5229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smtClean="0">
                <a:solidFill>
                  <a:srgbClr val="FF0000"/>
                </a:solidFill>
              </a:rPr>
              <a:t>Критерий </a:t>
            </a:r>
            <a:r>
              <a:rPr lang="ru-RU" b="1" dirty="0">
                <a:solidFill>
                  <a:schemeClr val="tx1"/>
                </a:solidFill>
              </a:rPr>
              <a:t>– признак, на основании которого происходит оценка или классификация </a:t>
            </a:r>
            <a:r>
              <a:rPr lang="ru-RU" b="1" dirty="0" smtClean="0">
                <a:solidFill>
                  <a:schemeClr val="tx1"/>
                </a:solidFill>
              </a:rPr>
              <a:t>чего-либо. Критерий истины  это то, что позволяет отличать истину от </a:t>
            </a:r>
            <a:r>
              <a:rPr lang="ru-RU" b="1" dirty="0" err="1" smtClean="0">
                <a:solidFill>
                  <a:schemeClr val="tx1"/>
                </a:solidFill>
              </a:rPr>
              <a:t>неистины</a:t>
            </a:r>
            <a:r>
              <a:rPr lang="ru-RU" b="1" dirty="0" smtClean="0">
                <a:solidFill>
                  <a:schemeClr val="tx1"/>
                </a:solidFill>
              </a:rPr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tx1"/>
                </a:solidFill>
              </a:rPr>
              <a:t>Критериев истины известно много. В качестве основного разные философы берут что-то свое: очевидность, </a:t>
            </a:r>
            <a:r>
              <a:rPr lang="ru-RU" b="1" dirty="0" err="1" smtClean="0">
                <a:solidFill>
                  <a:schemeClr val="tx1"/>
                </a:solidFill>
              </a:rPr>
              <a:t>общезначимость</a:t>
            </a:r>
            <a:r>
              <a:rPr lang="ru-RU" b="1" dirty="0" smtClean="0">
                <a:solidFill>
                  <a:schemeClr val="tx1"/>
                </a:solidFill>
              </a:rPr>
              <a:t>, непротиворечивость и т.д. (смотри определения истины).  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	</a:t>
            </a:r>
            <a:r>
              <a:rPr lang="ru-RU" b="1" dirty="0" smtClean="0">
                <a:solidFill>
                  <a:schemeClr val="tx1"/>
                </a:solidFill>
              </a:rPr>
              <a:t>Одним из наиболее известных критериев истины является </a:t>
            </a:r>
            <a:r>
              <a:rPr lang="ru-RU" b="1" dirty="0" smtClean="0">
                <a:solidFill>
                  <a:srgbClr val="FF0000"/>
                </a:solidFill>
              </a:rPr>
              <a:t>практика</a:t>
            </a:r>
            <a:r>
              <a:rPr lang="ru-RU" b="1" dirty="0" smtClean="0">
                <a:solidFill>
                  <a:schemeClr val="tx1"/>
                </a:solidFill>
              </a:rPr>
              <a:t> (ввел </a:t>
            </a:r>
            <a:r>
              <a:rPr lang="ru-RU" b="1" dirty="0" err="1" smtClean="0">
                <a:solidFill>
                  <a:schemeClr val="tx1"/>
                </a:solidFill>
              </a:rPr>
              <a:t>К.Маркс</a:t>
            </a:r>
            <a:r>
              <a:rPr lang="ru-RU" b="1" dirty="0" smtClean="0">
                <a:solidFill>
                  <a:schemeClr val="tx1"/>
                </a:solidFill>
              </a:rPr>
              <a:t>)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0334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17040" y="1036320"/>
            <a:ext cx="8950960" cy="447994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b="1" dirty="0" smtClean="0"/>
              <a:t>ПРАКТИКА, ЕЕ ВИДЫ И  РОЛЬ В ПОЗНАНИИ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700214"/>
            <a:ext cx="9144000" cy="5157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rgbClr val="FF0000"/>
                </a:solidFill>
              </a:rPr>
              <a:t>      Практика</a:t>
            </a:r>
            <a:r>
              <a:rPr lang="ru-RU" b="1" dirty="0" smtClean="0">
                <a:solidFill>
                  <a:schemeClr val="tx1"/>
                </a:solidFill>
              </a:rPr>
              <a:t> – это деятельность людей, направленная на изменение окружающего мира.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tx1"/>
                </a:solidFill>
              </a:rPr>
              <a:t>Виды практики:</a:t>
            </a:r>
          </a:p>
          <a:p>
            <a:pPr marL="514350" indent="-514350" algn="just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b="1" dirty="0" smtClean="0">
                <a:solidFill>
                  <a:schemeClr val="tx1"/>
                </a:solidFill>
              </a:rPr>
              <a:t>Деятельность по изменению природы: материальное производство.</a:t>
            </a:r>
          </a:p>
          <a:p>
            <a:pPr marL="514350" indent="-514350" algn="just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b="1" dirty="0" smtClean="0">
                <a:solidFill>
                  <a:schemeClr val="tx1"/>
                </a:solidFill>
              </a:rPr>
              <a:t>Деятельность по изменению общества: общественно-политическая практика.</a:t>
            </a:r>
          </a:p>
          <a:p>
            <a:pPr marL="514350" indent="-514350" algn="just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b="1" dirty="0" smtClean="0">
                <a:solidFill>
                  <a:schemeClr val="tx1"/>
                </a:solidFill>
              </a:rPr>
              <a:t>Научный эксперимент. </a:t>
            </a:r>
          </a:p>
          <a:p>
            <a:pPr algn="just" fontAlgn="auto">
              <a:spcAft>
                <a:spcPts val="0"/>
              </a:spcAft>
              <a:defRPr/>
            </a:pP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86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bg1"/>
                </a:solidFill>
              </a:rPr>
              <a:t>УРОВНИ И ФОРМЫ ПОЗНАНИЯ</a:t>
            </a:r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584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Заголовок 27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bg1"/>
                </a:solidFill>
              </a:rPr>
              <a:t>ФОРМЫ ЧУВСТВЕННОГО ПОЗНАНИЯ</a:t>
            </a:r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5141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590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Заголовок 27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bg1"/>
                </a:solidFill>
              </a:rPr>
              <a:t>ФОРМЫ РАЦИОНАЛЬНОГО ПОЗНАНИЯ</a:t>
            </a:r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5141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042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-4343400"/>
            <a:ext cx="7772400" cy="6324600"/>
          </a:xfrm>
        </p:spPr>
        <p:txBody>
          <a:bodyPr/>
          <a:lstStyle/>
          <a:p>
            <a:pPr algn="ctr" eaLnBrk="1" hangingPunct="1"/>
            <a:r>
              <a:rPr lang="ru-RU" altLang="ru-RU" smtClean="0"/>
              <a:t>Виды познания </a:t>
            </a:r>
            <a:br>
              <a:rPr lang="ru-RU" altLang="ru-RU" smtClean="0"/>
            </a:br>
            <a:r>
              <a:rPr lang="ru-RU" altLang="ru-RU" smtClean="0"/>
              <a:t/>
            </a:r>
            <a:br>
              <a:rPr lang="ru-RU" altLang="ru-RU" smtClean="0"/>
            </a:br>
            <a:endParaRPr lang="ru-RU" altLang="ru-RU" smtClean="0"/>
          </a:p>
        </p:txBody>
      </p:sp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2590800" y="914400"/>
            <a:ext cx="1900238" cy="19002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Обыденно-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практическое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8001000" y="914400"/>
            <a:ext cx="1900238" cy="19002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Научное</a:t>
            </a: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5334000" y="1828800"/>
            <a:ext cx="1900238" cy="19002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Художест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венное</a:t>
            </a: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3429000" y="3124200"/>
            <a:ext cx="1900238" cy="19002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Мифологи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ческое</a:t>
            </a: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7315200" y="3200400"/>
            <a:ext cx="1900238" cy="19002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Религиозное</a:t>
            </a:r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 flipH="1">
            <a:off x="4038600" y="533400"/>
            <a:ext cx="1905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7162800" y="533400"/>
            <a:ext cx="1143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 flipH="1">
            <a:off x="4800600" y="457200"/>
            <a:ext cx="121920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6705600" y="457200"/>
            <a:ext cx="160020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22540" name="Line 13"/>
          <p:cNvSpPr>
            <a:spLocks noChangeShapeType="1"/>
          </p:cNvSpPr>
          <p:nvPr/>
        </p:nvSpPr>
        <p:spPr bwMode="auto">
          <a:xfrm>
            <a:off x="6324600" y="3810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22541" name="Rectangle 14"/>
          <p:cNvSpPr>
            <a:spLocks noChangeArrowheads="1"/>
          </p:cNvSpPr>
          <p:nvPr/>
        </p:nvSpPr>
        <p:spPr bwMode="auto">
          <a:xfrm>
            <a:off x="3962401" y="5486401"/>
            <a:ext cx="4652963" cy="9112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Научное познание – высший вид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/>
              <a:t>познавательной деятельности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/>
          </a:p>
        </p:txBody>
      </p:sp>
      <p:sp>
        <p:nvSpPr>
          <p:cNvPr id="2" name="Прямоугольник 1"/>
          <p:cNvSpPr/>
          <p:nvPr/>
        </p:nvSpPr>
        <p:spPr>
          <a:xfrm>
            <a:off x="4378960" y="-80962"/>
            <a:ext cx="55222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/>
              <a:t>Виды познания 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57067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200">
                <a:latin typeface="PT Sans"/>
              </a:rPr>
              <a:t>Основная задача науки 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74826" y="577850"/>
            <a:ext cx="8893175" cy="549910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 smtClean="0"/>
              <a:t>обнаружение </a:t>
            </a:r>
            <a:r>
              <a:rPr lang="ru-RU" dirty="0"/>
              <a:t>объективных законов действительности — природных, социальных, законов </a:t>
            </a:r>
            <a:r>
              <a:rPr lang="ru-RU" dirty="0" smtClean="0"/>
              <a:t>самого </a:t>
            </a:r>
            <a:r>
              <a:rPr lang="ru-RU" dirty="0"/>
              <a:t>познания, мышления и </a:t>
            </a:r>
            <a:r>
              <a:rPr lang="ru-RU" dirty="0" smtClean="0"/>
              <a:t>др.</a:t>
            </a:r>
          </a:p>
          <a:p>
            <a:pPr eaLnBrk="1" hangingPunct="1">
              <a:defRPr/>
            </a:pPr>
            <a:endParaRPr lang="ru-RU" b="1" dirty="0" smtClean="0"/>
          </a:p>
          <a:p>
            <a:pPr eaLnBrk="1" hangingPunct="1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 smtClean="0"/>
              <a:t>ориентация исследования </a:t>
            </a:r>
            <a:r>
              <a:rPr lang="ru-RU" dirty="0"/>
              <a:t>главным образом</a:t>
            </a:r>
            <a:r>
              <a:rPr lang="ru-RU" b="1" dirty="0"/>
              <a:t> </a:t>
            </a:r>
            <a:endParaRPr lang="ru-RU" b="1" dirty="0" smtClean="0"/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b="1" dirty="0"/>
              <a:t>	</a:t>
            </a:r>
            <a:r>
              <a:rPr lang="ru-RU" b="1" dirty="0" smtClean="0"/>
              <a:t>на </a:t>
            </a:r>
            <a:r>
              <a:rPr lang="ru-RU" b="1" dirty="0"/>
              <a:t>общие, существенные свойства предмета, его </a:t>
            </a:r>
            <a:r>
              <a:rPr lang="ru-RU" b="1" dirty="0" smtClean="0"/>
              <a:t>	необходимые </a:t>
            </a:r>
            <a:r>
              <a:rPr lang="ru-RU" b="1" dirty="0"/>
              <a:t>характеристики и их выражение в </a:t>
            </a:r>
            <a:r>
              <a:rPr lang="ru-RU" b="1" dirty="0" smtClean="0"/>
              <a:t>	системе </a:t>
            </a:r>
            <a:r>
              <a:rPr lang="ru-RU" b="1" dirty="0"/>
              <a:t>абстракции, в форме идеализированных </a:t>
            </a:r>
            <a:r>
              <a:rPr lang="ru-RU" b="1" dirty="0" smtClean="0"/>
              <a:t>	объектов.</a:t>
            </a:r>
          </a:p>
          <a:p>
            <a:pPr eaLnBrk="1" hangingPunct="1">
              <a:defRPr/>
            </a:pPr>
            <a:r>
              <a:rPr lang="ru-RU" dirty="0" smtClean="0"/>
              <a:t> </a:t>
            </a:r>
            <a:r>
              <a:rPr lang="ru-RU" dirty="0"/>
              <a:t>Если этого нет, то нет и науки, ибо само понятие научности предполагает </a:t>
            </a:r>
            <a:r>
              <a:rPr lang="ru-RU" b="1" dirty="0"/>
              <a:t>открытие законов</a:t>
            </a:r>
            <a:r>
              <a:rPr lang="ru-RU" dirty="0"/>
              <a:t>, углубление в сущность изучаемых явлений</a:t>
            </a:r>
            <a:r>
              <a:rPr lang="ru-RU" dirty="0" smtClean="0"/>
              <a:t>.</a:t>
            </a:r>
          </a:p>
          <a:p>
            <a:pPr eaLnBrk="1" hangingPunct="1">
              <a:defRPr/>
            </a:pPr>
            <a:r>
              <a:rPr lang="ru-RU" b="1" dirty="0" smtClean="0"/>
              <a:t>.</a:t>
            </a:r>
            <a:endParaRPr lang="ru-RU" b="1" dirty="0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5829300" y="3910966"/>
            <a:ext cx="0" cy="5762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 flipH="1">
            <a:off x="3648075" y="1773238"/>
            <a:ext cx="71438" cy="576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Стрелка вниз 7"/>
          <p:cNvSpPr/>
          <p:nvPr/>
        </p:nvSpPr>
        <p:spPr>
          <a:xfrm>
            <a:off x="3575051" y="1916113"/>
            <a:ext cx="144463" cy="3603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57464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Прямоугольник 2"/>
          <p:cNvSpPr>
            <a:spLocks noChangeArrowheads="1"/>
          </p:cNvSpPr>
          <p:nvPr/>
        </p:nvSpPr>
        <p:spPr bwMode="auto">
          <a:xfrm>
            <a:off x="2042160" y="0"/>
            <a:ext cx="9357360" cy="65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71550" indent="-5143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4287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343150" indent="-5143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00350" indent="-5143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57550" indent="-5143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714750" indent="-5143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171950" indent="-5143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600"/>
              </a:spcBef>
              <a:buNone/>
            </a:pPr>
            <a:r>
              <a:rPr lang="ru-RU" altLang="ru-RU" sz="2400" b="1" dirty="0">
                <a:latin typeface="Arial" panose="020B0604020202020204" pitchFamily="34" charset="0"/>
              </a:rPr>
              <a:t>          </a:t>
            </a:r>
            <a:r>
              <a:rPr lang="ru-RU" altLang="ru-RU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Специфические признаки научного </a:t>
            </a:r>
            <a:r>
              <a:rPr lang="ru-RU" altLang="ru-RU" sz="28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познания</a:t>
            </a:r>
            <a:endParaRPr lang="ru-RU" altLang="ru-RU" sz="2800" b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b="1" dirty="0">
                <a:latin typeface="Arial" panose="020B0604020202020204" pitchFamily="34" charset="0"/>
              </a:rPr>
              <a:t>Универсализм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b="1" dirty="0">
                <a:latin typeface="Arial" panose="020B0604020202020204" pitchFamily="34" charset="0"/>
              </a:rPr>
              <a:t>Нацеленность на познание сущности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b="1" dirty="0">
                <a:latin typeface="Arial" panose="020B0604020202020204" pitchFamily="34" charset="0"/>
              </a:rPr>
              <a:t>Выход за узкопрактические интересы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b="1" dirty="0" err="1">
                <a:latin typeface="Arial" panose="020B0604020202020204" pitchFamily="34" charset="0"/>
              </a:rPr>
              <a:t>Специализированность</a:t>
            </a:r>
            <a:endParaRPr lang="ru-RU" altLang="ru-RU" b="1" dirty="0">
              <a:latin typeface="Arial" panose="020B0604020202020204" pitchFamily="34" charset="0"/>
            </a:endParaRPr>
          </a:p>
          <a:p>
            <a:pPr lvl="2" algn="just" eaLnBrk="1" hangingPunct="1">
              <a:spcBef>
                <a:spcPct val="0"/>
              </a:spcBef>
              <a:buFontTx/>
              <a:buChar char="•"/>
            </a:pPr>
            <a:r>
              <a:rPr lang="ru-RU" altLang="ru-RU" sz="2800" b="1" dirty="0">
                <a:latin typeface="Arial" panose="020B0604020202020204" pitchFamily="34" charset="0"/>
              </a:rPr>
              <a:t>терминология</a:t>
            </a:r>
          </a:p>
          <a:p>
            <a:pPr lvl="2" algn="just" eaLnBrk="1" hangingPunct="1">
              <a:spcBef>
                <a:spcPct val="0"/>
              </a:spcBef>
              <a:buFontTx/>
              <a:buChar char="•"/>
            </a:pPr>
            <a:r>
              <a:rPr lang="ru-RU" altLang="ru-RU" sz="2800" b="1" dirty="0">
                <a:latin typeface="Arial" panose="020B0604020202020204" pitchFamily="34" charset="0"/>
              </a:rPr>
              <a:t>методы	</a:t>
            </a:r>
          </a:p>
          <a:p>
            <a:pPr lvl="2" algn="just" eaLnBrk="1" hangingPunct="1">
              <a:spcBef>
                <a:spcPct val="0"/>
              </a:spcBef>
              <a:buFontTx/>
              <a:buChar char="•"/>
            </a:pPr>
            <a:r>
              <a:rPr lang="ru-RU" altLang="ru-RU" sz="2800" b="1" dirty="0">
                <a:latin typeface="Arial" panose="020B0604020202020204" pitchFamily="34" charset="0"/>
              </a:rPr>
              <a:t>инструменты (приборы)</a:t>
            </a:r>
          </a:p>
          <a:p>
            <a:pPr lvl="2" algn="just" eaLnBrk="1" hangingPunct="1">
              <a:spcBef>
                <a:spcPct val="0"/>
              </a:spcBef>
              <a:buFontTx/>
              <a:buChar char="•"/>
            </a:pPr>
            <a:r>
              <a:rPr lang="ru-RU" altLang="ru-RU" sz="2800" b="1" dirty="0">
                <a:latin typeface="Arial" panose="020B0604020202020204" pitchFamily="34" charset="0"/>
              </a:rPr>
              <a:t>дисциплинарная организация</a:t>
            </a:r>
          </a:p>
          <a:p>
            <a:pPr lvl="2" algn="just" eaLnBrk="1" hangingPunct="1">
              <a:spcBef>
                <a:spcPct val="0"/>
              </a:spcBef>
              <a:buFontTx/>
              <a:buChar char="•"/>
            </a:pPr>
            <a:r>
              <a:rPr lang="ru-RU" altLang="ru-RU" sz="2800" b="1" dirty="0">
                <a:latin typeface="Arial" panose="020B0604020202020204" pitchFamily="34" charset="0"/>
              </a:rPr>
              <a:t>особые </a:t>
            </a:r>
            <a:r>
              <a:rPr lang="ru-RU" altLang="ru-RU" sz="2800" b="1" dirty="0" err="1">
                <a:latin typeface="Arial" panose="020B0604020202020204" pitchFamily="34" charset="0"/>
              </a:rPr>
              <a:t>внутринаучные</a:t>
            </a:r>
            <a:r>
              <a:rPr lang="ru-RU" altLang="ru-RU" sz="2800" b="1" dirty="0">
                <a:latin typeface="Arial" panose="020B0604020202020204" pitchFamily="34" charset="0"/>
              </a:rPr>
              <a:t> требования</a:t>
            </a:r>
          </a:p>
          <a:p>
            <a:pPr lvl="4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800" b="1" dirty="0">
                <a:solidFill>
                  <a:srgbClr val="FF0000"/>
                </a:solidFill>
                <a:latin typeface="Arial" panose="020B0604020202020204" pitchFamily="34" charset="0"/>
              </a:rPr>
              <a:t>объективность</a:t>
            </a:r>
          </a:p>
          <a:p>
            <a:pPr lvl="4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800" b="1" dirty="0">
                <a:solidFill>
                  <a:srgbClr val="FF0000"/>
                </a:solidFill>
                <a:latin typeface="Arial" panose="020B0604020202020204" pitchFamily="34" charset="0"/>
              </a:rPr>
              <a:t>системность</a:t>
            </a:r>
          </a:p>
          <a:p>
            <a:pPr lvl="4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800" b="1" dirty="0">
                <a:solidFill>
                  <a:srgbClr val="FF0000"/>
                </a:solidFill>
                <a:latin typeface="Arial" panose="020B0604020202020204" pitchFamily="34" charset="0"/>
              </a:rPr>
              <a:t>доказательность</a:t>
            </a:r>
          </a:p>
          <a:p>
            <a:pPr lvl="4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проверяемость</a:t>
            </a:r>
            <a:endParaRPr lang="ru-RU" altLang="ru-RU" sz="2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4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800" b="1" dirty="0">
                <a:solidFill>
                  <a:srgbClr val="FF0000"/>
                </a:solidFill>
                <a:latin typeface="Arial" panose="020B0604020202020204" pitchFamily="34" charset="0"/>
              </a:rPr>
              <a:t>открытость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589" y="4258979"/>
            <a:ext cx="2615411" cy="213988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54" y="4252882"/>
            <a:ext cx="2261812" cy="214597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360" y="4252882"/>
            <a:ext cx="2021839" cy="211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34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Прямоугольник 2"/>
          <p:cNvSpPr>
            <a:spLocks noChangeArrowheads="1"/>
          </p:cNvSpPr>
          <p:nvPr/>
        </p:nvSpPr>
        <p:spPr bwMode="auto">
          <a:xfrm>
            <a:off x="904240" y="873759"/>
            <a:ext cx="10546080" cy="5790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71550" indent="-5143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85950" indent="-5143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85000"/>
              </a:lnSpc>
              <a:spcBef>
                <a:spcPts val="600"/>
              </a:spcBef>
              <a:buNone/>
            </a:pPr>
            <a:r>
              <a:rPr lang="ru-RU" altLang="ru-RU" sz="2800" b="1" i="1" dirty="0" smtClean="0">
                <a:solidFill>
                  <a:srgbClr val="C00000"/>
                </a:solidFill>
                <a:latin typeface="Arial" panose="020B0604020202020204" pitchFamily="34" charset="0"/>
              </a:rPr>
              <a:t>Компоненты </a:t>
            </a:r>
            <a:r>
              <a:rPr lang="ru-RU" altLang="ru-RU" sz="2800" b="1" i="1" dirty="0">
                <a:solidFill>
                  <a:srgbClr val="C00000"/>
                </a:solidFill>
                <a:latin typeface="Arial" panose="020B0604020202020204" pitchFamily="34" charset="0"/>
              </a:rPr>
              <a:t>научного познания как </a:t>
            </a:r>
            <a:r>
              <a:rPr lang="ru-RU" altLang="ru-RU" sz="2800" b="1" i="1" dirty="0" smtClean="0">
                <a:solidFill>
                  <a:srgbClr val="C00000"/>
                </a:solidFill>
                <a:latin typeface="Arial" panose="020B0604020202020204" pitchFamily="34" charset="0"/>
              </a:rPr>
              <a:t>деятельности</a:t>
            </a:r>
            <a:r>
              <a:rPr lang="ru-RU" altLang="ru-RU" sz="28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: </a:t>
            </a:r>
            <a:endParaRPr lang="ru-RU" altLang="ru-RU" sz="28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lvl="1" algn="just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sz="2600" b="1" dirty="0">
                <a:latin typeface="Arial" panose="020B0604020202020204" pitchFamily="34" charset="0"/>
              </a:rPr>
              <a:t>Субъект  - ученый (коллектив), обладающий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критичностью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честностью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целеустремленностью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свободой (нестандартностью) мышления</a:t>
            </a:r>
          </a:p>
          <a:p>
            <a:pPr lvl="1" algn="just" eaLnBrk="1" hangingPunct="1">
              <a:lnSpc>
                <a:spcPct val="8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600" b="1" dirty="0">
                <a:latin typeface="Arial" panose="020B0604020202020204" pitchFamily="34" charset="0"/>
              </a:rPr>
              <a:t>Объект (предмет) познания</a:t>
            </a:r>
          </a:p>
          <a:p>
            <a:pPr lvl="1" algn="just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sz="2600" b="1" dirty="0">
                <a:latin typeface="Arial" panose="020B0604020202020204" pitchFamily="34" charset="0"/>
              </a:rPr>
              <a:t>Цель познания – </a:t>
            </a:r>
            <a:r>
              <a:rPr lang="ru-RU" altLang="ru-RU" sz="2600" b="1" i="1" dirty="0">
                <a:latin typeface="Arial" panose="020B0604020202020204" pitchFamily="34" charset="0"/>
              </a:rPr>
              <a:t>объективная истина</a:t>
            </a:r>
          </a:p>
          <a:p>
            <a:pPr lvl="1" algn="just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sz="2600" b="1" dirty="0">
                <a:latin typeface="Arial" panose="020B0604020202020204" pitchFamily="34" charset="0"/>
              </a:rPr>
              <a:t>Средства познания 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язык, 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методология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технические средства</a:t>
            </a:r>
          </a:p>
          <a:p>
            <a:pPr lvl="1" algn="just" eaLnBrk="1" hangingPunct="1">
              <a:lnSpc>
                <a:spcPct val="8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600" b="1" dirty="0">
                <a:latin typeface="Arial" panose="020B0604020202020204" pitchFamily="34" charset="0"/>
              </a:rPr>
              <a:t>Характер познания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социальность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методичность</a:t>
            </a:r>
          </a:p>
          <a:p>
            <a:pPr lvl="3"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ru-RU" altLang="ru-RU" sz="2600" b="1" dirty="0">
                <a:solidFill>
                  <a:srgbClr val="FF0000"/>
                </a:solidFill>
                <a:latin typeface="Arial" panose="020B0604020202020204" pitchFamily="34" charset="0"/>
              </a:rPr>
              <a:t>креативность</a:t>
            </a:r>
            <a:endParaRPr lang="ru-RU" altLang="ru-RU" sz="2600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012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Номер слайда 1"/>
          <p:cNvSpPr>
            <a:spLocks noGrp="1"/>
          </p:cNvSpPr>
          <p:nvPr>
            <p:ph type="sldNum" sz="quarter" idx="12"/>
          </p:nvPr>
        </p:nvSpPr>
        <p:spPr bwMode="auto">
          <a:xfrm>
            <a:off x="10134600" y="228601"/>
            <a:ext cx="304800" cy="307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42E83C-39C1-41AC-805D-57D1062DAE52}" type="slidenum">
              <a:rPr lang="ru-RU" altLang="ru-RU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>
              <a:latin typeface="Arial" panose="020B0604020202020204" pitchFamily="34" charset="0"/>
            </a:endParaRPr>
          </a:p>
        </p:txBody>
      </p:sp>
      <p:sp>
        <p:nvSpPr>
          <p:cNvPr id="11267" name="Прямоугольник 2"/>
          <p:cNvSpPr>
            <a:spLocks noChangeArrowheads="1"/>
          </p:cNvSpPr>
          <p:nvPr/>
        </p:nvSpPr>
        <p:spPr bwMode="auto">
          <a:xfrm>
            <a:off x="1524000" y="152401"/>
            <a:ext cx="9144000" cy="676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ctr">
              <a:defRPr/>
            </a:pPr>
            <a:r>
              <a:rPr lang="ru-RU" sz="2800" b="1" dirty="0">
                <a:solidFill>
                  <a:schemeClr val="accent2"/>
                </a:solidFill>
                <a:latin typeface="Arial" charset="0"/>
              </a:rPr>
              <a:t>Методы научного познания</a:t>
            </a:r>
          </a:p>
          <a:p>
            <a:pPr marL="265113" indent="-265113" algn="just">
              <a:lnSpc>
                <a:spcPct val="85000"/>
              </a:lnSpc>
              <a:spcBef>
                <a:spcPts val="1000"/>
              </a:spcBef>
              <a:defRPr/>
            </a:pPr>
            <a:r>
              <a:rPr lang="ru-RU" sz="2600" b="1" dirty="0">
                <a:solidFill>
                  <a:srgbClr val="C00000"/>
                </a:solidFill>
                <a:latin typeface="Arial" charset="0"/>
              </a:rPr>
              <a:t>МЕТОД - </a:t>
            </a:r>
            <a:r>
              <a:rPr lang="ru-RU" sz="2600" b="1" i="1" dirty="0">
                <a:latin typeface="Arial" charset="0"/>
              </a:rPr>
              <a:t>совокупность правил, принципов, регулирующих 	познание в целях получения искомого результата</a:t>
            </a:r>
            <a:r>
              <a:rPr lang="ru-RU" sz="2600" b="1" dirty="0">
                <a:latin typeface="Arial" charset="0"/>
              </a:rPr>
              <a:t>	</a:t>
            </a:r>
          </a:p>
          <a:p>
            <a:pPr marL="514350" indent="-514350" algn="ctr">
              <a:spcBef>
                <a:spcPts val="1000"/>
              </a:spcBef>
              <a:defRPr/>
            </a:pPr>
            <a:r>
              <a:rPr lang="ru-RU" sz="2600" b="1" dirty="0">
                <a:solidFill>
                  <a:srgbClr val="0070C0"/>
                </a:solidFill>
                <a:latin typeface="Arial" charset="0"/>
              </a:rPr>
              <a:t>Классификации методов научного познания </a:t>
            </a:r>
            <a:endParaRPr lang="ru-RU" sz="2600" b="1" dirty="0">
              <a:latin typeface="Arial" charset="0"/>
            </a:endParaRPr>
          </a:p>
          <a:p>
            <a:pPr marL="514350" indent="-514350" algn="just">
              <a:buFont typeface="Wingdings" pitchFamily="2" charset="2"/>
              <a:buChar char="v"/>
              <a:defRPr/>
            </a:pPr>
            <a:r>
              <a:rPr lang="ru-RU" sz="2600" b="1" dirty="0">
                <a:solidFill>
                  <a:srgbClr val="7030A0"/>
                </a:solidFill>
                <a:latin typeface="Arial" charset="0"/>
              </a:rPr>
              <a:t>По степени общности:</a:t>
            </a:r>
          </a:p>
          <a:p>
            <a:pPr marL="803275" lvl="1" indent="-346075" algn="just">
              <a:lnSpc>
                <a:spcPct val="85000"/>
              </a:lnSpc>
              <a:buFont typeface="Courier New" pitchFamily="49" charset="0"/>
              <a:buChar char="o"/>
              <a:defRPr/>
            </a:pPr>
            <a:r>
              <a:rPr lang="ru-RU" sz="2600" b="1" dirty="0">
                <a:latin typeface="Arial" charset="0"/>
              </a:rPr>
              <a:t>универсальные (философские): </a:t>
            </a:r>
            <a:r>
              <a:rPr lang="ru-RU" sz="2600" b="1" dirty="0">
                <a:solidFill>
                  <a:srgbClr val="FF0000"/>
                </a:solidFill>
                <a:latin typeface="Arial" charset="0"/>
              </a:rPr>
              <a:t>диалектика, метафизика  </a:t>
            </a:r>
          </a:p>
          <a:p>
            <a:pPr marL="803275" lvl="1" indent="-346075" algn="just">
              <a:lnSpc>
                <a:spcPct val="85000"/>
              </a:lnSpc>
              <a:buFont typeface="Courier New" pitchFamily="49" charset="0"/>
              <a:buChar char="o"/>
              <a:defRPr/>
            </a:pPr>
            <a:r>
              <a:rPr lang="ru-RU" sz="2600" b="1" dirty="0">
                <a:latin typeface="Arial" charset="0"/>
              </a:rPr>
              <a:t>общенаучные: </a:t>
            </a:r>
            <a:r>
              <a:rPr lang="ru-RU" sz="2600" b="1" dirty="0">
                <a:solidFill>
                  <a:srgbClr val="FF0000"/>
                </a:solidFill>
                <a:latin typeface="Arial" charset="0"/>
              </a:rPr>
              <a:t>наблюдение, индукция, анализ</a:t>
            </a:r>
            <a:r>
              <a:rPr lang="ru-RU" sz="2600" b="1" dirty="0">
                <a:latin typeface="Arial" charset="0"/>
              </a:rPr>
              <a:t>…</a:t>
            </a:r>
            <a:endParaRPr lang="ru-RU" sz="2600" b="1" dirty="0">
              <a:solidFill>
                <a:srgbClr val="FF0000"/>
              </a:solidFill>
              <a:latin typeface="Arial" charset="0"/>
            </a:endParaRPr>
          </a:p>
          <a:p>
            <a:pPr marL="803275" lvl="1" indent="-346075" algn="just">
              <a:lnSpc>
                <a:spcPct val="85000"/>
              </a:lnSpc>
              <a:buFont typeface="Courier New" pitchFamily="49" charset="0"/>
              <a:buChar char="o"/>
              <a:defRPr/>
            </a:pPr>
            <a:r>
              <a:rPr lang="ru-RU" sz="2600" b="1" dirty="0" err="1">
                <a:latin typeface="Arial" charset="0"/>
              </a:rPr>
              <a:t>частнонаучные</a:t>
            </a:r>
            <a:r>
              <a:rPr lang="ru-RU" sz="2600" b="1" dirty="0">
                <a:latin typeface="Arial" charset="0"/>
              </a:rPr>
              <a:t>: </a:t>
            </a:r>
            <a:r>
              <a:rPr lang="ru-RU" sz="2600" b="1" dirty="0" err="1">
                <a:latin typeface="Arial" charset="0"/>
              </a:rPr>
              <a:t>спектрография</a:t>
            </a:r>
            <a:r>
              <a:rPr lang="ru-RU" sz="2600" b="1" dirty="0">
                <a:latin typeface="Arial" charset="0"/>
              </a:rPr>
              <a:t>, анкетирование</a:t>
            </a:r>
          </a:p>
          <a:p>
            <a:pPr marL="514350" indent="-514350" algn="just">
              <a:buFont typeface="Wingdings" pitchFamily="2" charset="2"/>
              <a:buChar char="v"/>
              <a:defRPr/>
            </a:pPr>
            <a:r>
              <a:rPr lang="ru-RU" sz="2600" b="1" dirty="0">
                <a:solidFill>
                  <a:srgbClr val="7030A0"/>
                </a:solidFill>
                <a:latin typeface="Arial" charset="0"/>
              </a:rPr>
              <a:t>По стадии исследование</a:t>
            </a:r>
          </a:p>
          <a:p>
            <a:pPr marL="1885950" lvl="3" indent="-514350" algn="just">
              <a:buFont typeface="Courier New" pitchFamily="49" charset="0"/>
              <a:buChar char="o"/>
              <a:defRPr/>
            </a:pPr>
            <a:r>
              <a:rPr lang="ru-RU" sz="2600" b="1" dirty="0">
                <a:latin typeface="Arial" charset="0"/>
              </a:rPr>
              <a:t>методы сбора научной информации</a:t>
            </a:r>
          </a:p>
          <a:p>
            <a:pPr marL="1885950" lvl="3" indent="-514350" algn="just">
              <a:buFont typeface="Courier New" pitchFamily="49" charset="0"/>
              <a:buChar char="o"/>
              <a:defRPr/>
            </a:pPr>
            <a:r>
              <a:rPr lang="ru-RU" sz="2600" b="1" dirty="0">
                <a:latin typeface="Arial" charset="0"/>
              </a:rPr>
              <a:t>методы обобщение и систематизации данных</a:t>
            </a:r>
          </a:p>
          <a:p>
            <a:pPr marL="1885950" lvl="3" indent="-514350" algn="just">
              <a:buFont typeface="Courier New" pitchFamily="49" charset="0"/>
              <a:buChar char="o"/>
              <a:defRPr/>
            </a:pPr>
            <a:r>
              <a:rPr lang="ru-RU" sz="2600" b="1" dirty="0">
                <a:latin typeface="Arial" charset="0"/>
              </a:rPr>
              <a:t>методы построения научных теорий</a:t>
            </a:r>
          </a:p>
          <a:p>
            <a:pPr marL="514350" indent="-514350" algn="just">
              <a:buFont typeface="Wingdings" pitchFamily="2" charset="2"/>
              <a:buChar char="v"/>
              <a:defRPr/>
            </a:pPr>
            <a:r>
              <a:rPr lang="ru-RU" sz="2600" b="1" dirty="0">
                <a:solidFill>
                  <a:srgbClr val="7030A0"/>
                </a:solidFill>
                <a:latin typeface="Arial" charset="0"/>
              </a:rPr>
              <a:t>По уровню научного познания</a:t>
            </a:r>
          </a:p>
          <a:p>
            <a:pPr marL="1885950" lvl="3" indent="-514350" algn="just">
              <a:defRPr/>
            </a:pPr>
            <a:r>
              <a:rPr lang="ru-RU" sz="2600" b="1" dirty="0">
                <a:latin typeface="Arial" charset="0"/>
              </a:rPr>
              <a:t>			эмпирические и теоретические </a:t>
            </a:r>
            <a:endParaRPr lang="ru-RU" sz="26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066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омер слайда 1"/>
          <p:cNvSpPr>
            <a:spLocks noGrp="1"/>
          </p:cNvSpPr>
          <p:nvPr>
            <p:ph type="sldNum" sz="quarter" idx="12"/>
          </p:nvPr>
        </p:nvSpPr>
        <p:spPr bwMode="auto">
          <a:xfrm>
            <a:off x="10134600" y="228600"/>
            <a:ext cx="228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9D31EC-43D1-474B-84D0-1D9F8A7F29CD}" type="slidenum">
              <a:rPr lang="ru-RU" altLang="ru-RU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>
              <a:latin typeface="Arial" panose="020B0604020202020204" pitchFamily="34" charset="0"/>
            </a:endParaRPr>
          </a:p>
        </p:txBody>
      </p:sp>
      <p:sp>
        <p:nvSpPr>
          <p:cNvPr id="8195" name="Прямоугольник 2"/>
          <p:cNvSpPr>
            <a:spLocks noChangeArrowheads="1"/>
          </p:cNvSpPr>
          <p:nvPr/>
        </p:nvSpPr>
        <p:spPr bwMode="auto">
          <a:xfrm>
            <a:off x="1524000" y="152401"/>
            <a:ext cx="9144000" cy="662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ctr">
              <a:defRPr/>
            </a:pPr>
            <a:r>
              <a:rPr lang="ru-RU" sz="2800" b="1" dirty="0">
                <a:solidFill>
                  <a:schemeClr val="accent2"/>
                </a:solidFill>
                <a:latin typeface="Arial" charset="0"/>
              </a:rPr>
              <a:t>      Эмпирический уровень научного познания</a:t>
            </a:r>
          </a:p>
          <a:p>
            <a:pPr marL="514350" indent="-514350" algn="ctr">
              <a:defRPr/>
            </a:pPr>
            <a:endParaRPr lang="ru-RU" sz="2800" b="1" dirty="0">
              <a:solidFill>
                <a:schemeClr val="accent2"/>
              </a:solidFill>
              <a:latin typeface="Arial" charset="0"/>
            </a:endParaRPr>
          </a:p>
          <a:p>
            <a:pPr marL="514350" indent="-514350" algn="just">
              <a:lnSpc>
                <a:spcPct val="85000"/>
              </a:lnSpc>
              <a:defRPr/>
            </a:pPr>
            <a:r>
              <a:rPr lang="ru-RU" sz="2600" b="1" dirty="0">
                <a:solidFill>
                  <a:srgbClr val="C00000"/>
                </a:solidFill>
                <a:latin typeface="Arial" charset="0"/>
              </a:rPr>
              <a:t>Направленность</a:t>
            </a:r>
            <a:r>
              <a:rPr lang="ru-RU" sz="2600" b="1" dirty="0">
                <a:solidFill>
                  <a:schemeClr val="accent2"/>
                </a:solidFill>
                <a:latin typeface="Arial" charset="0"/>
              </a:rPr>
              <a:t>: </a:t>
            </a:r>
            <a:r>
              <a:rPr lang="ru-RU" sz="2600" b="1" dirty="0">
                <a:latin typeface="Arial" charset="0"/>
              </a:rPr>
              <a:t>познание внешних, поверхностных 				свойств предметов и явлений</a:t>
            </a:r>
          </a:p>
          <a:p>
            <a:pPr marL="514350" indent="-514350" algn="just">
              <a:lnSpc>
                <a:spcPct val="85000"/>
              </a:lnSpc>
              <a:defRPr/>
            </a:pPr>
            <a:r>
              <a:rPr lang="ru-RU" sz="2600" b="1" dirty="0">
                <a:solidFill>
                  <a:srgbClr val="C00000"/>
                </a:solidFill>
                <a:latin typeface="Arial" charset="0"/>
              </a:rPr>
              <a:t>	Задачи: </a:t>
            </a:r>
          </a:p>
          <a:p>
            <a:pPr marL="2343150" lvl="4" indent="-514350" algn="just">
              <a:lnSpc>
                <a:spcPct val="85000"/>
              </a:lnSpc>
              <a:buFont typeface="Wingdings" pitchFamily="2" charset="2"/>
              <a:buChar char="ü"/>
              <a:defRPr/>
            </a:pPr>
            <a:r>
              <a:rPr lang="ru-RU" sz="2600" b="1" dirty="0">
                <a:latin typeface="Arial" charset="0"/>
              </a:rPr>
              <a:t>обнаружить</a:t>
            </a:r>
          </a:p>
          <a:p>
            <a:pPr marL="2343150" lvl="4" indent="-514350" algn="just">
              <a:lnSpc>
                <a:spcPct val="85000"/>
              </a:lnSpc>
              <a:buFont typeface="Wingdings" pitchFamily="2" charset="2"/>
              <a:buChar char="ü"/>
              <a:defRPr/>
            </a:pPr>
            <a:r>
              <a:rPr lang="ru-RU" sz="2600" b="1" dirty="0">
                <a:latin typeface="Arial" charset="0"/>
              </a:rPr>
              <a:t>описать</a:t>
            </a:r>
          </a:p>
          <a:p>
            <a:pPr marL="2343150" lvl="4" indent="-514350" algn="just">
              <a:lnSpc>
                <a:spcPct val="85000"/>
              </a:lnSpc>
              <a:buFont typeface="Wingdings" pitchFamily="2" charset="2"/>
              <a:buChar char="ü"/>
              <a:defRPr/>
            </a:pPr>
            <a:r>
              <a:rPr lang="ru-RU" sz="2600" b="1" dirty="0">
                <a:latin typeface="Arial" charset="0"/>
              </a:rPr>
              <a:t>обобщить</a:t>
            </a:r>
          </a:p>
          <a:p>
            <a:pPr marL="514350" indent="-514350" algn="just">
              <a:lnSpc>
                <a:spcPct val="85000"/>
              </a:lnSpc>
              <a:spcBef>
                <a:spcPts val="600"/>
              </a:spcBef>
              <a:defRPr/>
            </a:pPr>
            <a:r>
              <a:rPr lang="ru-RU" sz="2600" b="1" dirty="0">
                <a:solidFill>
                  <a:srgbClr val="C00000"/>
                </a:solidFill>
                <a:latin typeface="Arial" charset="0"/>
              </a:rPr>
              <a:t>	Получаемые результаты</a:t>
            </a:r>
            <a:r>
              <a:rPr lang="ru-RU" sz="2600" b="1" dirty="0">
                <a:latin typeface="Arial" charset="0"/>
              </a:rPr>
              <a:t>: </a:t>
            </a:r>
          </a:p>
          <a:p>
            <a:pPr marL="3257550" lvl="6" indent="-514350" algn="just">
              <a:lnSpc>
                <a:spcPct val="85000"/>
              </a:lnSpc>
              <a:buFont typeface="Arial" charset="0"/>
              <a:buChar char="•"/>
              <a:defRPr/>
            </a:pPr>
            <a:r>
              <a:rPr lang="ru-RU" sz="2600" b="1" dirty="0">
                <a:latin typeface="Arial" charset="0"/>
              </a:rPr>
              <a:t>эмпирические данные</a:t>
            </a:r>
          </a:p>
          <a:p>
            <a:pPr marL="3257550" lvl="6" indent="-514350" algn="just">
              <a:lnSpc>
                <a:spcPct val="85000"/>
              </a:lnSpc>
              <a:buFont typeface="Arial" charset="0"/>
              <a:buChar char="•"/>
              <a:defRPr/>
            </a:pPr>
            <a:r>
              <a:rPr lang="ru-RU" sz="2600" b="1" dirty="0">
                <a:latin typeface="Arial" charset="0"/>
              </a:rPr>
              <a:t>факты</a:t>
            </a:r>
          </a:p>
          <a:p>
            <a:pPr marL="3257550" lvl="6" indent="-514350" algn="just">
              <a:lnSpc>
                <a:spcPct val="85000"/>
              </a:lnSpc>
              <a:buFont typeface="Arial" charset="0"/>
              <a:buChar char="•"/>
              <a:defRPr/>
            </a:pPr>
            <a:r>
              <a:rPr lang="ru-RU" sz="2600" b="1" dirty="0">
                <a:latin typeface="Arial" charset="0"/>
              </a:rPr>
              <a:t>эмпирические закономерности</a:t>
            </a:r>
          </a:p>
          <a:p>
            <a:pPr marL="514350" indent="-514350" algn="just">
              <a:lnSpc>
                <a:spcPct val="85000"/>
              </a:lnSpc>
              <a:defRPr/>
            </a:pPr>
            <a:r>
              <a:rPr lang="ru-RU" sz="2600" b="1" dirty="0">
                <a:solidFill>
                  <a:srgbClr val="C00000"/>
                </a:solidFill>
                <a:latin typeface="Arial" charset="0"/>
              </a:rPr>
              <a:t>	Методы: </a:t>
            </a:r>
            <a:r>
              <a:rPr lang="ru-RU" sz="2600" b="1" dirty="0">
                <a:latin typeface="Arial" charset="0"/>
              </a:rPr>
              <a:t> </a:t>
            </a:r>
          </a:p>
          <a:p>
            <a:pPr marL="2870200" lvl="3" indent="-514350" algn="just">
              <a:lnSpc>
                <a:spcPct val="85000"/>
              </a:lnSpc>
              <a:buFont typeface="Arial" charset="0"/>
              <a:buChar char="•"/>
              <a:defRPr/>
            </a:pPr>
            <a:r>
              <a:rPr lang="ru-RU" sz="2600" b="1" dirty="0">
                <a:latin typeface="Arial" charset="0"/>
              </a:rPr>
              <a:t>наблюдение</a:t>
            </a:r>
          </a:p>
          <a:p>
            <a:pPr marL="2870200" lvl="3" indent="-514350" algn="just">
              <a:lnSpc>
                <a:spcPct val="85000"/>
              </a:lnSpc>
              <a:buFont typeface="Arial" charset="0"/>
              <a:buChar char="•"/>
              <a:defRPr/>
            </a:pPr>
            <a:r>
              <a:rPr lang="ru-RU" sz="2600" b="1" dirty="0">
                <a:latin typeface="Arial" charset="0"/>
              </a:rPr>
              <a:t>описание</a:t>
            </a:r>
          </a:p>
          <a:p>
            <a:pPr marL="2870200" lvl="3" indent="-514350" algn="just">
              <a:lnSpc>
                <a:spcPct val="85000"/>
              </a:lnSpc>
              <a:buFont typeface="Arial" charset="0"/>
              <a:buChar char="•"/>
              <a:defRPr/>
            </a:pPr>
            <a:r>
              <a:rPr lang="ru-RU" sz="2600" b="1" dirty="0">
                <a:latin typeface="Arial" charset="0"/>
              </a:rPr>
              <a:t>измерение</a:t>
            </a:r>
          </a:p>
          <a:p>
            <a:pPr marL="2870200" lvl="3" indent="-514350" algn="just">
              <a:lnSpc>
                <a:spcPct val="85000"/>
              </a:lnSpc>
              <a:buFont typeface="Arial" charset="0"/>
              <a:buChar char="•"/>
              <a:defRPr/>
            </a:pPr>
            <a:r>
              <a:rPr lang="ru-RU" sz="2600" b="1" dirty="0">
                <a:latin typeface="Arial" charset="0"/>
              </a:rPr>
              <a:t>эксперимент</a:t>
            </a:r>
          </a:p>
          <a:p>
            <a:pPr marL="514350" indent="-514350" algn="just">
              <a:lnSpc>
                <a:spcPct val="85000"/>
              </a:lnSpc>
              <a:spcBef>
                <a:spcPts val="600"/>
              </a:spcBef>
              <a:defRPr/>
            </a:pPr>
            <a:r>
              <a:rPr lang="ru-RU" sz="2600" b="1" dirty="0">
                <a:solidFill>
                  <a:srgbClr val="C00000"/>
                </a:solidFill>
                <a:latin typeface="Arial" charset="0"/>
              </a:rPr>
              <a:t>	Объект изучения: </a:t>
            </a:r>
            <a:r>
              <a:rPr lang="ru-RU" sz="2600" b="1" dirty="0">
                <a:latin typeface="Arial" charset="0"/>
              </a:rPr>
              <a:t>эмпирический объект	</a:t>
            </a:r>
            <a:endParaRPr lang="ru-RU" sz="2600" b="1" i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327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Номер слайда 1"/>
          <p:cNvSpPr>
            <a:spLocks noGrp="1"/>
          </p:cNvSpPr>
          <p:nvPr>
            <p:ph type="sldNum" sz="quarter" idx="12"/>
          </p:nvPr>
        </p:nvSpPr>
        <p:spPr bwMode="auto">
          <a:xfrm>
            <a:off x="10134600" y="228601"/>
            <a:ext cx="304800" cy="307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F59F05-54BB-4835-87A0-83D9A89F482D}" type="slidenum">
              <a:rPr lang="ru-RU" altLang="ru-RU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24000" y="1"/>
            <a:ext cx="9144000" cy="66505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 algn="ctr">
              <a:defRPr/>
            </a:pPr>
            <a:r>
              <a:rPr lang="ru-RU" sz="2800" b="1" dirty="0">
                <a:solidFill>
                  <a:schemeClr val="accent2"/>
                </a:solidFill>
                <a:latin typeface="Arial" charset="0"/>
              </a:rPr>
              <a:t>     Теоретический уровень научного познания</a:t>
            </a:r>
          </a:p>
          <a:p>
            <a:pPr marL="514350" indent="-514350" algn="just">
              <a:lnSpc>
                <a:spcPct val="75000"/>
              </a:lnSpc>
              <a:defRPr/>
            </a:pPr>
            <a:r>
              <a:rPr lang="ru-RU" sz="2600" b="1" dirty="0">
                <a:solidFill>
                  <a:srgbClr val="C00000"/>
                </a:solidFill>
                <a:latin typeface="Arial" charset="0"/>
              </a:rPr>
              <a:t>   </a:t>
            </a:r>
            <a:endParaRPr lang="ru-RU" sz="2800" b="1" dirty="0">
              <a:solidFill>
                <a:srgbClr val="C00000"/>
              </a:solidFill>
              <a:latin typeface="Arial" charset="0"/>
            </a:endParaRPr>
          </a:p>
          <a:p>
            <a:pPr marL="1076325" indent="-1076325" algn="just">
              <a:lnSpc>
                <a:spcPct val="75000"/>
              </a:lnSpc>
              <a:spcBef>
                <a:spcPts val="1000"/>
              </a:spcBef>
              <a:defRPr/>
            </a:pPr>
            <a:r>
              <a:rPr lang="ru-RU" sz="2800" b="1" dirty="0">
                <a:solidFill>
                  <a:srgbClr val="C00000"/>
                </a:solidFill>
                <a:latin typeface="Arial" charset="0"/>
              </a:rPr>
              <a:t>   </a:t>
            </a:r>
            <a:r>
              <a:rPr lang="ru-RU" sz="3200" b="1" dirty="0">
                <a:solidFill>
                  <a:srgbClr val="C00000"/>
                </a:solidFill>
                <a:latin typeface="Arial" charset="0"/>
              </a:rPr>
              <a:t>Направленность</a:t>
            </a:r>
            <a:r>
              <a:rPr lang="ru-RU" sz="3200" b="1" dirty="0">
                <a:solidFill>
                  <a:schemeClr val="accent2"/>
                </a:solidFill>
                <a:latin typeface="Arial" charset="0"/>
              </a:rPr>
              <a:t>:     </a:t>
            </a:r>
            <a:r>
              <a:rPr lang="ru-RU" sz="3200" b="1" dirty="0">
                <a:latin typeface="Arial" charset="0"/>
              </a:rPr>
              <a:t>познание внутренних,     существенных свойств и отношений</a:t>
            </a:r>
          </a:p>
          <a:p>
            <a:pPr marL="514350" indent="-514350" algn="just">
              <a:lnSpc>
                <a:spcPct val="75000"/>
              </a:lnSpc>
              <a:spcBef>
                <a:spcPts val="1000"/>
              </a:spcBef>
              <a:tabLst>
                <a:tab pos="263525" algn="l"/>
              </a:tabLst>
              <a:defRPr/>
            </a:pPr>
            <a:r>
              <a:rPr lang="ru-RU" sz="3200" b="1" dirty="0">
                <a:solidFill>
                  <a:srgbClr val="C00000"/>
                </a:solidFill>
                <a:latin typeface="Arial" charset="0"/>
              </a:rPr>
              <a:t>	Задачи:     </a:t>
            </a:r>
            <a:r>
              <a:rPr lang="ru-RU" sz="3200" b="1" dirty="0">
                <a:latin typeface="Arial" charset="0"/>
              </a:rPr>
              <a:t>объяснить, предсказать</a:t>
            </a:r>
          </a:p>
          <a:p>
            <a:pPr marL="263525" indent="-263525" algn="just">
              <a:lnSpc>
                <a:spcPct val="75000"/>
              </a:lnSpc>
              <a:spcBef>
                <a:spcPts val="1000"/>
              </a:spcBef>
              <a:defRPr/>
            </a:pPr>
            <a:r>
              <a:rPr lang="ru-RU" sz="3200" b="1" dirty="0">
                <a:solidFill>
                  <a:srgbClr val="C00000"/>
                </a:solidFill>
                <a:latin typeface="Arial" charset="0"/>
              </a:rPr>
              <a:t>	Получаемые результаты</a:t>
            </a:r>
            <a:r>
              <a:rPr lang="ru-RU" sz="3200" b="1" dirty="0">
                <a:latin typeface="Arial" charset="0"/>
              </a:rPr>
              <a:t>: </a:t>
            </a:r>
          </a:p>
          <a:p>
            <a:pPr marL="4572000" lvl="8" indent="-268288" algn="just">
              <a:lnSpc>
                <a:spcPct val="75000"/>
              </a:lnSpc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ru-RU" sz="3200" b="1" dirty="0">
                <a:latin typeface="Arial" charset="0"/>
              </a:rPr>
              <a:t>  понятия</a:t>
            </a:r>
          </a:p>
          <a:p>
            <a:pPr marL="4572000" lvl="8" indent="-268288" algn="just">
              <a:lnSpc>
                <a:spcPct val="75000"/>
              </a:lnSpc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ru-RU" sz="3200" b="1" dirty="0">
                <a:latin typeface="Arial" charset="0"/>
              </a:rPr>
              <a:t>  законы</a:t>
            </a:r>
          </a:p>
          <a:p>
            <a:pPr marL="4572000" lvl="8" indent="-268288" algn="just">
              <a:lnSpc>
                <a:spcPct val="75000"/>
              </a:lnSpc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ru-RU" sz="3200" b="1" dirty="0">
                <a:latin typeface="Arial" charset="0"/>
              </a:rPr>
              <a:t>  теории</a:t>
            </a:r>
          </a:p>
          <a:p>
            <a:pPr marL="811213" indent="-811213" algn="just">
              <a:lnSpc>
                <a:spcPct val="75000"/>
              </a:lnSpc>
              <a:spcBef>
                <a:spcPts val="1000"/>
              </a:spcBef>
              <a:tabLst>
                <a:tab pos="530225" algn="l"/>
                <a:tab pos="722313" algn="l"/>
              </a:tabLst>
              <a:defRPr/>
            </a:pPr>
            <a:r>
              <a:rPr lang="ru-RU" sz="3200" b="1" dirty="0">
                <a:solidFill>
                  <a:srgbClr val="C00000"/>
                </a:solidFill>
                <a:latin typeface="Arial" charset="0"/>
              </a:rPr>
              <a:t>   Методы: </a:t>
            </a:r>
            <a:r>
              <a:rPr lang="ru-RU" sz="3200" b="1" dirty="0">
                <a:latin typeface="Arial" charset="0"/>
              </a:rPr>
              <a:t> абстрагирование, идеализация,   аналогия, 	анализ и синтез, индукция и дедукция, моделирование</a:t>
            </a:r>
          </a:p>
          <a:p>
            <a:pPr marL="900113" indent="-900113" algn="just">
              <a:lnSpc>
                <a:spcPct val="75000"/>
              </a:lnSpc>
              <a:spcBef>
                <a:spcPts val="1000"/>
              </a:spcBef>
              <a:defRPr/>
            </a:pPr>
            <a:r>
              <a:rPr lang="ru-RU" sz="3200" b="1" dirty="0">
                <a:solidFill>
                  <a:srgbClr val="C00000"/>
                </a:solidFill>
                <a:latin typeface="Arial" charset="0"/>
              </a:rPr>
              <a:t>    Объект изучения: </a:t>
            </a:r>
            <a:r>
              <a:rPr lang="ru-RU" sz="3200" b="1" dirty="0">
                <a:latin typeface="Arial" charset="0"/>
              </a:rPr>
              <a:t>идеальный 	теоретический объект  </a:t>
            </a:r>
            <a:r>
              <a:rPr lang="ru-RU" sz="3200" i="1" dirty="0">
                <a:solidFill>
                  <a:srgbClr val="002060"/>
                </a:solidFill>
                <a:latin typeface="Arial" charset="0"/>
              </a:rPr>
              <a:t>(«точка»,  «идеальный газ»)</a:t>
            </a:r>
          </a:p>
        </p:txBody>
      </p:sp>
    </p:spTree>
    <p:extLst>
      <p:ext uri="{BB962C8B-B14F-4D97-AF65-F5344CB8AC3E}">
        <p14:creationId xmlns:p14="http://schemas.microsoft.com/office/powerpoint/2010/main" val="3296096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71814" y="-458788"/>
            <a:ext cx="7145337" cy="103663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altLang="ru-RU" sz="4000" dirty="0"/>
              <a:t/>
            </a:r>
            <a:br>
              <a:rPr lang="ru-RU" altLang="ru-RU" sz="4000" dirty="0"/>
            </a:br>
            <a:r>
              <a:rPr lang="ru-RU" altLang="ru-RU" sz="3300" dirty="0"/>
              <a:t>Черты научного познания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919288" y="765176"/>
            <a:ext cx="8297862" cy="5311775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dirty="0"/>
              <a:t>Научное познание </a:t>
            </a:r>
            <a:r>
              <a:rPr lang="ru-RU" altLang="ru-RU" dirty="0" smtClean="0"/>
              <a:t>-  </a:t>
            </a:r>
            <a:r>
              <a:rPr lang="ru-RU" altLang="ru-RU" dirty="0"/>
              <a:t>сложный, противоречивый процесс производства, воспроизводства новых знаний, образующих целостную развивающуюся </a:t>
            </a:r>
            <a:r>
              <a:rPr lang="ru-RU" altLang="ru-RU" b="1" dirty="0"/>
              <a:t>систему понятий, теорий, гипотез, законов </a:t>
            </a:r>
            <a:r>
              <a:rPr lang="ru-RU" altLang="ru-RU" dirty="0"/>
              <a:t>и других идеальных форм, </a:t>
            </a:r>
            <a:r>
              <a:rPr lang="ru-RU" altLang="ru-RU" b="1" dirty="0"/>
              <a:t>закрепленных в языке </a:t>
            </a:r>
            <a:r>
              <a:rPr lang="ru-RU" altLang="ru-RU" dirty="0"/>
              <a:t>— естественном или (что более характерно) искусственном: математическая символика, химические формулы и т. п. </a:t>
            </a:r>
            <a:endParaRPr lang="ru-RU" altLang="ru-RU" dirty="0" smtClean="0"/>
          </a:p>
          <a:p>
            <a:pPr eaLnBrk="1" hangingPunct="1">
              <a:defRPr/>
            </a:pPr>
            <a:r>
              <a:rPr lang="ru-RU" altLang="ru-RU" dirty="0" smtClean="0"/>
              <a:t>Процесс </a:t>
            </a:r>
            <a:r>
              <a:rPr lang="ru-RU" altLang="ru-RU" b="1" dirty="0"/>
              <a:t>непрерывного самообновления </a:t>
            </a:r>
            <a:r>
              <a:rPr lang="ru-RU" altLang="ru-RU" dirty="0"/>
              <a:t>наукой своего концептуального арсенала — важный показатель (критерий) научности.</a:t>
            </a:r>
            <a:endParaRPr lang="ru-RU" altLang="ru-RU" dirty="0" smtClean="0"/>
          </a:p>
        </p:txBody>
      </p:sp>
      <p:pic>
        <p:nvPicPr>
          <p:cNvPr id="23556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689" y="4797426"/>
            <a:ext cx="248602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377768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000">
                <a:latin typeface="PT Sans"/>
              </a:rPr>
              <a:t>Черты научного познания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919288" y="765176"/>
            <a:ext cx="8297862" cy="5311775"/>
          </a:xfrm>
        </p:spPr>
        <p:txBody>
          <a:bodyPr/>
          <a:lstStyle/>
          <a:p>
            <a:pPr>
              <a:defRPr/>
            </a:pPr>
            <a:r>
              <a:rPr lang="ru-RU" sz="2600" dirty="0"/>
              <a:t>В процессе научного познания применяются такие </a:t>
            </a:r>
            <a:r>
              <a:rPr lang="ru-RU" sz="2600" b="1" dirty="0"/>
              <a:t>специфические материальные средства</a:t>
            </a:r>
            <a:r>
              <a:rPr lang="ru-RU" sz="2600" dirty="0"/>
              <a:t>, как приборы, инструменты, другое так называемое «научное оборудование»</a:t>
            </a:r>
          </a:p>
          <a:p>
            <a:pPr>
              <a:defRPr/>
            </a:pPr>
            <a:r>
              <a:rPr lang="ru-RU" sz="2600" dirty="0"/>
              <a:t> Кроме того, для науки </a:t>
            </a:r>
            <a:r>
              <a:rPr lang="ru-RU" sz="2600" b="1" dirty="0"/>
              <a:t>в большей мере, чем для других форм познания</a:t>
            </a:r>
            <a:r>
              <a:rPr lang="ru-RU" sz="2600" dirty="0"/>
              <a:t>, характерно использование для исследования своих объектов и самой себя таких идеальных средств и методов, как </a:t>
            </a:r>
            <a:r>
              <a:rPr lang="ru-RU" sz="2600" b="1" dirty="0"/>
              <a:t>современная логика, математические методы, диалектика</a:t>
            </a:r>
            <a:r>
              <a:rPr lang="ru-RU" sz="2600" dirty="0"/>
              <a:t> и др.</a:t>
            </a:r>
          </a:p>
          <a:p>
            <a:pPr eaLnBrk="1" hangingPunct="1">
              <a:defRPr/>
            </a:pPr>
            <a:endParaRPr lang="ru-RU" altLang="ru-RU" dirty="0"/>
          </a:p>
          <a:p>
            <a:pPr eaLnBrk="1" hangingPunct="1">
              <a:buFontTx/>
              <a:buNone/>
              <a:defRPr/>
            </a:pPr>
            <a:endParaRPr lang="ru-RU" altLang="ru-RU" b="1" u="sng" dirty="0" smtClean="0"/>
          </a:p>
        </p:txBody>
      </p:sp>
      <p:pic>
        <p:nvPicPr>
          <p:cNvPr id="24580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026" y="4508501"/>
            <a:ext cx="2486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074164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11450" y="0"/>
            <a:ext cx="7848600" cy="47783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 fontScale="90000"/>
          </a:bodyPr>
          <a:lstStyle/>
          <a:p>
            <a:pPr eaLnBrk="1" hangingPunct="1">
              <a:defRPr/>
            </a:pPr>
            <a:r>
              <a:rPr lang="ru-RU" altLang="ru-RU" sz="3000" dirty="0">
                <a:latin typeface="PT Sans"/>
              </a:rPr>
              <a:t>Результатом научной деятельности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927226" y="868364"/>
            <a:ext cx="8289925" cy="5208587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ru-RU" altLang="ru-RU" dirty="0" smtClean="0"/>
              <a:t>являются </a:t>
            </a:r>
            <a:r>
              <a:rPr lang="ru-RU" altLang="ru-RU" dirty="0"/>
              <a:t>научные знания, которые в зависимости от содержания и применения подразделяются на: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ru-RU" altLang="ru-RU" dirty="0"/>
              <a:t>1. </a:t>
            </a:r>
            <a:r>
              <a:rPr lang="ru-RU" altLang="ru-RU" dirty="0" err="1"/>
              <a:t>фактологические</a:t>
            </a:r>
            <a:r>
              <a:rPr lang="ru-RU" altLang="ru-RU" dirty="0"/>
              <a:t> - представляют собой набор систематизированных фактов объективной действительности;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ru-RU" altLang="ru-RU" dirty="0"/>
              <a:t>2. теоретические (фундаментальные) - теории, объясняющие процессы происходящие в объективной действительности;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ru-RU" altLang="ru-RU" dirty="0"/>
              <a:t>3. технико-прикладные (технологии) - знания о практическом применении полученных знаний;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ru-RU" altLang="ru-RU" dirty="0"/>
              <a:t>4. практически прикладные (</a:t>
            </a:r>
            <a:r>
              <a:rPr lang="ru-RU" altLang="ru-RU" dirty="0" err="1"/>
              <a:t>праксеологические</a:t>
            </a:r>
            <a:r>
              <a:rPr lang="ru-RU" altLang="ru-RU" dirty="0"/>
              <a:t>) - знания об экономическом эффекте, получаемом в результате применения научных достижений.</a:t>
            </a:r>
          </a:p>
        </p:txBody>
      </p:sp>
    </p:spTree>
    <p:extLst>
      <p:ext uri="{BB962C8B-B14F-4D97-AF65-F5344CB8AC3E}">
        <p14:creationId xmlns:p14="http://schemas.microsoft.com/office/powerpoint/2010/main" val="72345508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Тема1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C35E5ABC-F7F3-48C6-8922-A394D5FB2A3C}" vid="{95FD78CC-307C-40F4-9440-13386BF0948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782</Words>
  <Application>Microsoft Office PowerPoint</Application>
  <PresentationFormat>Широкоэкранный</PresentationFormat>
  <Paragraphs>156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Noto Sans Symbols</vt:lpstr>
      <vt:lpstr>PT Sans</vt:lpstr>
      <vt:lpstr>Tahoma</vt:lpstr>
      <vt:lpstr>Times New Roman</vt:lpstr>
      <vt:lpstr>Wingdings</vt:lpstr>
      <vt:lpstr>Тема1</vt:lpstr>
      <vt:lpstr>Презентация PowerPoint</vt:lpstr>
      <vt:lpstr> ОСНОВНЫЕ ТОЧКИ ЗРЕНИЯ НА ПРОБЛЕМУ ПОЗНАВАЕМОСТИ МИРА </vt:lpstr>
      <vt:lpstr> ИСТИНА (классическая концепция) </vt:lpstr>
      <vt:lpstr> ИСТИНА (неклассические концепции) </vt:lpstr>
      <vt:lpstr>КРИТЕРИИ ИСТИНЫ</vt:lpstr>
      <vt:lpstr>ПРАКТИКА, ЕЕ ВИДЫ И  РОЛЬ В ПОЗНАНИИ</vt:lpstr>
      <vt:lpstr>УРОВНИ И ФОРМЫ ПОЗНАНИЯ</vt:lpstr>
      <vt:lpstr>ФОРМЫ ЧУВСТВЕННОГО ПОЗНАНИЯ</vt:lpstr>
      <vt:lpstr>ФОРМЫ РАЦИОНАЛЬНОГО ПОЗНАНИЯ</vt:lpstr>
      <vt:lpstr>Виды познания   </vt:lpstr>
      <vt:lpstr>Основная задача науки 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Черты научного познания</vt:lpstr>
      <vt:lpstr>Черты научного познания</vt:lpstr>
      <vt:lpstr>Результатом научной деятельности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3</cp:revision>
  <dcterms:created xsi:type="dcterms:W3CDTF">2023-03-11T20:56:35Z</dcterms:created>
  <dcterms:modified xsi:type="dcterms:W3CDTF">2023-03-11T21:26:19Z</dcterms:modified>
</cp:coreProperties>
</file>