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319" r:id="rId35"/>
    <p:sldId id="320" r:id="rId36"/>
    <p:sldId id="321" r:id="rId37"/>
    <p:sldId id="322" r:id="rId38"/>
    <p:sldId id="323" r:id="rId39"/>
    <p:sldId id="330" r:id="rId40"/>
    <p:sldId id="324" r:id="rId41"/>
    <p:sldId id="327" r:id="rId42"/>
    <p:sldId id="329" r:id="rId4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43" autoAdjust="0"/>
    <p:restoredTop sz="94660"/>
  </p:normalViewPr>
  <p:slideViewPr>
    <p:cSldViewPr>
      <p:cViewPr varScale="1">
        <p:scale>
          <a:sx n="69" d="100"/>
          <a:sy n="69" d="100"/>
        </p:scale>
        <p:origin x="-582"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8" name="Заголовок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ru-RU" smtClean="0"/>
              <a:t>Образец заголовка</a:t>
            </a:r>
            <a:endParaRPr kumimoji="0" lang="en-US"/>
          </a:p>
        </p:txBody>
      </p:sp>
      <p:sp>
        <p:nvSpPr>
          <p:cNvPr id="28" name="Дата 27"/>
          <p:cNvSpPr>
            <a:spLocks noGrp="1"/>
          </p:cNvSpPr>
          <p:nvPr>
            <p:ph type="dt" sz="half" idx="10"/>
          </p:nvPr>
        </p:nvSpPr>
        <p:spPr/>
        <p:txBody>
          <a:bodyPr/>
          <a:lstStyle/>
          <a:p>
            <a:fld id="{A1052AAE-0781-40F5-9194-04F47941603C}" type="datetimeFigureOut">
              <a:rPr lang="ru-RU" smtClean="0"/>
            </a:fld>
            <a:endParaRPr lang="ru-RU"/>
          </a:p>
        </p:txBody>
      </p:sp>
      <p:sp>
        <p:nvSpPr>
          <p:cNvPr id="17" name="Нижний колонтитул 16"/>
          <p:cNvSpPr>
            <a:spLocks noGrp="1"/>
          </p:cNvSpPr>
          <p:nvPr>
            <p:ph type="ftr" sz="quarter" idx="11"/>
          </p:nvPr>
        </p:nvSpPr>
        <p:spPr/>
        <p:txBody>
          <a:bodyPr/>
          <a:lstStyle/>
          <a:p>
            <a:endParaRPr lang="ru-RU"/>
          </a:p>
        </p:txBody>
      </p:sp>
      <p:sp>
        <p:nvSpPr>
          <p:cNvPr id="29" name="Номер слайда 28"/>
          <p:cNvSpPr>
            <a:spLocks noGrp="1"/>
          </p:cNvSpPr>
          <p:nvPr>
            <p:ph type="sldNum" sz="quarter" idx="12"/>
          </p:nvPr>
        </p:nvSpPr>
        <p:spPr/>
        <p:txBody>
          <a:bodyPr/>
          <a:lstStyle/>
          <a:p>
            <a:fld id="{060CE956-09BC-4896-8B2A-344A4A67E4BB}" type="slidenum">
              <a:rPr lang="ru-RU" smtClean="0"/>
            </a:fld>
            <a:endParaRPr lang="ru-RU"/>
          </a:p>
        </p:txBody>
      </p:sp>
      <p:sp>
        <p:nvSpPr>
          <p:cNvPr id="9" name="Подзаголовок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Содержимое 2"/>
          <p:cNvSpPr>
            <a:spLocks noGrp="1"/>
          </p:cNvSpPr>
          <p:nvPr>
            <p:ph idx="1"/>
          </p:nvPr>
        </p:nvSpPr>
        <p:spPr/>
        <p:txBody>
          <a:bodyPr/>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A1052AAE-0781-40F5-9194-04F47941603C}" type="datetimeFigureOut">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3">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1600200" y="2507786"/>
            <a:ext cx="7086600" cy="1509712"/>
          </a:xfrm>
        </p:spPr>
        <p:txBody>
          <a:bodyPr anchor="t"/>
          <a:lstStyle>
            <a:lvl1pPr marL="73025"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endParaRPr kumimoji="0" lang="ru-RU" smtClean="0"/>
          </a:p>
        </p:txBody>
      </p:sp>
      <p:sp>
        <p:nvSpPr>
          <p:cNvPr id="4" name="Дата 3"/>
          <p:cNvSpPr>
            <a:spLocks noGrp="1"/>
          </p:cNvSpPr>
          <p:nvPr>
            <p:ph type="dt" sz="half" idx="10"/>
          </p:nvPr>
        </p:nvSpPr>
        <p:spPr/>
        <p:txBody>
          <a:bodyPr/>
          <a:lstStyle/>
          <a:p>
            <a:fld id="{A1052AAE-0781-40F5-9194-04F47941603C}" type="datetimeFigureOut">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a:xfrm>
            <a:off x="7924800" y="6416675"/>
            <a:ext cx="762000" cy="365125"/>
          </a:xfrm>
        </p:spPr>
        <p:txBody>
          <a:bodyPr/>
          <a:lstStyle/>
          <a:p>
            <a:fld id="{060CE956-09BC-4896-8B2A-344A4A67E4BB}" type="slidenum">
              <a:rPr lang="ru-RU" smtClean="0"/>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Содержимое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4" name="Содержимое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A1052AAE-0781-40F5-9194-04F47941603C}" type="datetimeFigureOut">
              <a:rPr lang="ru-RU" smtClean="0"/>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8229600" cy="1143000"/>
          </a:xfrm>
        </p:spPr>
        <p:txBody>
          <a:bodyPr anchor="ctr"/>
          <a:lstStyle>
            <a:lvl1pPr>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endParaRPr kumimoji="0" lang="ru-RU" smtClean="0"/>
          </a:p>
        </p:txBody>
      </p:sp>
      <p:sp>
        <p:nvSpPr>
          <p:cNvPr id="4" name="Текст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endParaRPr kumimoji="0" lang="ru-RU" smtClean="0"/>
          </a:p>
        </p:txBody>
      </p:sp>
      <p:sp>
        <p:nvSpPr>
          <p:cNvPr id="5" name="Содержимое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6" name="Содержимое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7" name="Дата 6"/>
          <p:cNvSpPr>
            <a:spLocks noGrp="1"/>
          </p:cNvSpPr>
          <p:nvPr>
            <p:ph type="dt" sz="half" idx="10"/>
          </p:nvPr>
        </p:nvSpPr>
        <p:spPr/>
        <p:txBody>
          <a:bodyPr/>
          <a:lstStyle/>
          <a:p>
            <a:fld id="{A1052AAE-0781-40F5-9194-04F47941603C}" type="datetimeFigureOut">
              <a:rPr lang="ru-RU" smtClean="0"/>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Дата 2"/>
          <p:cNvSpPr>
            <a:spLocks noGrp="1"/>
          </p:cNvSpPr>
          <p:nvPr>
            <p:ph type="dt" sz="half" idx="10"/>
          </p:nvPr>
        </p:nvSpPr>
        <p:spPr/>
        <p:txBody>
          <a:bodyPr/>
          <a:lstStyle/>
          <a:p>
            <a:fld id="{A1052AAE-0781-40F5-9194-04F47941603C}" type="datetimeFigureOut">
              <a:rPr lang="ru-RU" smtClean="0"/>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1052AAE-0781-40F5-9194-04F47941603C}" type="datetimeFigureOut">
              <a:rPr lang="ru-RU" smtClean="0"/>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ru-RU" smtClean="0"/>
              <a:t>Образец заголовка</a:t>
            </a:r>
            <a:endParaRPr kumimoji="0" lang="en-US"/>
          </a:p>
        </p:txBody>
      </p:sp>
      <p:sp>
        <p:nvSpPr>
          <p:cNvPr id="3" name="Текст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ru-RU" smtClean="0"/>
              <a:t>Образец текста</a:t>
            </a:r>
            <a:endParaRPr kumimoji="0" lang="ru-RU" smtClean="0"/>
          </a:p>
        </p:txBody>
      </p:sp>
      <p:sp>
        <p:nvSpPr>
          <p:cNvPr id="4" name="Содержимое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A1052AAE-0781-40F5-9194-04F47941603C}" type="datetimeFigureOut">
              <a:rPr lang="ru-RU" smtClean="0"/>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ru-RU" smtClean="0"/>
              <a:t>Образец заголовка</a:t>
            </a:r>
            <a:endParaRPr kumimoji="0" lang="en-US"/>
          </a:p>
        </p:txBody>
      </p:sp>
      <p:sp>
        <p:nvSpPr>
          <p:cNvPr id="3" name="Рисунок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ru-RU" smtClean="0">
                <a:solidFill>
                  <a:schemeClr val="lt1"/>
                </a:solidFill>
                <a:latin typeface="+mn-lt"/>
                <a:ea typeface="+mn-ea"/>
                <a:cs typeface="+mn-cs"/>
              </a:rPr>
              <a:t>Вставка рисунка</a:t>
            </a:r>
            <a:endParaRPr kumimoji="0" lang="en-US" dirty="0">
              <a:solidFill>
                <a:schemeClr val="lt1"/>
              </a:solidFill>
              <a:latin typeface="+mn-lt"/>
              <a:ea typeface="+mn-ea"/>
              <a:cs typeface="+mn-cs"/>
            </a:endParaRPr>
          </a:p>
        </p:txBody>
      </p:sp>
      <p:sp>
        <p:nvSpPr>
          <p:cNvPr id="4" name="Текст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ru-RU" smtClean="0"/>
              <a:t>Образец текста</a:t>
            </a:r>
            <a:endParaRPr kumimoji="0" lang="ru-RU" smtClean="0"/>
          </a:p>
        </p:txBody>
      </p:sp>
      <p:sp>
        <p:nvSpPr>
          <p:cNvPr id="5" name="Дата 4"/>
          <p:cNvSpPr>
            <a:spLocks noGrp="1"/>
          </p:cNvSpPr>
          <p:nvPr>
            <p:ph type="dt" sz="half" idx="10"/>
          </p:nvPr>
        </p:nvSpPr>
        <p:spPr/>
        <p:txBody>
          <a:bodyPr/>
          <a:lstStyle/>
          <a:p>
            <a:fld id="{A1052AAE-0781-40F5-9194-04F47941603C}" type="datetimeFigureOut">
              <a:rPr lang="ru-RU" smtClean="0"/>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A1052AAE-0781-40F5-9194-04F47941603C}" type="datetimeFigureOut">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eaLnBrk="1" latinLnBrk="0" hangingPunct="1"/>
            <a:r>
              <a:rPr lang="ru-RU" smtClean="0"/>
              <a:t>Образец текста</a:t>
            </a:r>
            <a:endParaRPr lang="ru-RU" smtClean="0"/>
          </a:p>
          <a:p>
            <a:pPr lvl="1" eaLnBrk="1" latinLnBrk="0" hangingPunct="1"/>
            <a:r>
              <a:rPr lang="ru-RU" smtClean="0"/>
              <a:t>Второй уровень</a:t>
            </a:r>
            <a:endParaRPr lang="ru-RU" smtClean="0"/>
          </a:p>
          <a:p>
            <a:pPr lvl="2" eaLnBrk="1" latinLnBrk="0" hangingPunct="1"/>
            <a:r>
              <a:rPr lang="ru-RU" smtClean="0"/>
              <a:t>Третий уровень</a:t>
            </a:r>
            <a:endParaRPr lang="ru-RU" smtClean="0"/>
          </a:p>
          <a:p>
            <a:pPr lvl="3" eaLnBrk="1" latinLnBrk="0" hangingPunct="1"/>
            <a:r>
              <a:rPr lang="ru-RU" smtClean="0"/>
              <a:t>Четвертый уровень</a:t>
            </a:r>
            <a:endParaRPr lang="ru-RU" smtClean="0"/>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A1052AAE-0781-40F5-9194-04F47941603C}" type="datetimeFigureOut">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Заголовок и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Текст 2"/>
          <p:cNvSpPr>
            <a:spLocks noGrp="1"/>
          </p:cNvSpPr>
          <p:nvPr>
            <p:ph type="body" idx="1"/>
          </p:nvPr>
        </p:nvSpPr>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ru-RU"/>
          </a:p>
        </p:txBody>
      </p:sp>
      <p:sp>
        <p:nvSpPr>
          <p:cNvPr id="4" name="Дата 3"/>
          <p:cNvSpPr>
            <a:spLocks noGrp="1"/>
          </p:cNvSpPr>
          <p:nvPr>
            <p:ph type="dt" sz="half" idx="10"/>
          </p:nvPr>
        </p:nvSpPr>
        <p:spPr/>
        <p:txBody>
          <a:bodyPr/>
          <a:lstStyle/>
          <a:p>
            <a:fld id="{A1052AAE-0781-40F5-9194-04F47941603C}" type="datetimeFigureOut">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60CE956-09BC-4896-8B2A-344A4A67E4BB}" type="slidenum">
              <a:rPr lang="ru-RU" smtClean="0"/>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ru-RU" smtClean="0"/>
              <a:t>Образец заголовка</a:t>
            </a:r>
            <a:endParaRPr kumimoji="0" lang="en-US"/>
          </a:p>
        </p:txBody>
      </p:sp>
      <p:sp>
        <p:nvSpPr>
          <p:cNvPr id="13" name="Текст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ru-RU" smtClean="0"/>
              <a:t>Образец текста</a:t>
            </a:r>
            <a:endParaRPr kumimoji="0" lang="ru-RU" smtClean="0"/>
          </a:p>
          <a:p>
            <a:pPr lvl="1" eaLnBrk="1" latinLnBrk="0" hangingPunct="1"/>
            <a:r>
              <a:rPr kumimoji="0" lang="ru-RU" smtClean="0"/>
              <a:t>Второй уровень</a:t>
            </a:r>
            <a:endParaRPr kumimoji="0" lang="ru-RU" smtClean="0"/>
          </a:p>
          <a:p>
            <a:pPr lvl="2" eaLnBrk="1" latinLnBrk="0" hangingPunct="1"/>
            <a:r>
              <a:rPr kumimoji="0" lang="ru-RU" smtClean="0"/>
              <a:t>Третий уровень</a:t>
            </a:r>
            <a:endParaRPr kumimoji="0" lang="ru-RU" smtClean="0"/>
          </a:p>
          <a:p>
            <a:pPr lvl="3" eaLnBrk="1" latinLnBrk="0" hangingPunct="1"/>
            <a:r>
              <a:rPr kumimoji="0" lang="ru-RU" smtClean="0"/>
              <a:t>Четвертый уровень</a:t>
            </a:r>
            <a:endParaRPr kumimoji="0" lang="ru-RU" smtClean="0"/>
          </a:p>
          <a:p>
            <a:pPr lvl="4" eaLnBrk="1" latinLnBrk="0" hangingPunct="1"/>
            <a:r>
              <a:rPr kumimoji="0" lang="ru-RU" smtClean="0"/>
              <a:t>Пятый уровень</a:t>
            </a:r>
            <a:endParaRPr kumimoji="0" lang="en-US"/>
          </a:p>
        </p:txBody>
      </p:sp>
      <p:sp>
        <p:nvSpPr>
          <p:cNvPr id="14" name="Дата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A1052AAE-0781-40F5-9194-04F47941603C}" type="datetimeFigureOut">
              <a:rPr lang="ru-RU" smtClean="0"/>
            </a:fld>
            <a:endParaRPr lang="ru-RU"/>
          </a:p>
        </p:txBody>
      </p:sp>
      <p:sp>
        <p:nvSpPr>
          <p:cNvPr id="3" name="Нижний колонтитул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ru-RU"/>
          </a:p>
        </p:txBody>
      </p:sp>
      <p:sp>
        <p:nvSpPr>
          <p:cNvPr id="23" name="Номер слайда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060CE956-09BC-4896-8B2A-344A4A67E4BB}" type="slidenum">
              <a:rPr lang="ru-RU" smtClean="0"/>
            </a:fld>
            <a:endParaRPr lang="ru-RU"/>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panose="05020102010507070707"/>
        <a:buChar char=""/>
        <a:defRPr kumimoji="0" sz="2800" kern="1200">
          <a:solidFill>
            <a:schemeClr val="tx1"/>
          </a:solidFill>
          <a:latin typeface="+mn-lt"/>
          <a:ea typeface="+mn-ea"/>
          <a:cs typeface="+mn-cs"/>
        </a:defRPr>
      </a:lvl1pPr>
      <a:lvl2pPr marL="868680" indent="-283210" algn="l" rtl="0" eaLnBrk="1" latinLnBrk="0" hangingPunct="1">
        <a:spcBef>
          <a:spcPct val="20000"/>
        </a:spcBef>
        <a:buClr>
          <a:schemeClr val="tx1"/>
        </a:buClr>
        <a:buSzPct val="80000"/>
        <a:buFont typeface="Wingdings 2" panose="05020102010507070707"/>
        <a:buChar char=""/>
        <a:defRPr kumimoji="0" sz="2400" kern="1200">
          <a:solidFill>
            <a:schemeClr val="tx1"/>
          </a:solidFill>
          <a:latin typeface="+mn-lt"/>
          <a:ea typeface="+mn-ea"/>
          <a:cs typeface="+mn-cs"/>
        </a:defRPr>
      </a:lvl2pPr>
      <a:lvl3pPr marL="1134110" indent="-228600" algn="l" rtl="0" eaLnBrk="1" latinLnBrk="0" hangingPunct="1">
        <a:spcBef>
          <a:spcPct val="20000"/>
        </a:spcBef>
        <a:buClr>
          <a:schemeClr val="tx1"/>
        </a:buClr>
        <a:buSzPct val="95000"/>
        <a:buFont typeface="Wingdings" panose="05000000000000000000"/>
        <a:buChar char=""/>
        <a:defRPr kumimoji="0" sz="2200" kern="1200">
          <a:solidFill>
            <a:schemeClr val="tx1"/>
          </a:solidFill>
          <a:latin typeface="+mn-lt"/>
          <a:ea typeface="+mn-ea"/>
          <a:cs typeface="+mn-cs"/>
        </a:defRPr>
      </a:lvl3pPr>
      <a:lvl4pPr marL="1353185" indent="-182880" algn="l" rtl="0" eaLnBrk="1" latinLnBrk="0" hangingPunct="1">
        <a:spcBef>
          <a:spcPct val="20000"/>
        </a:spcBef>
        <a:buClr>
          <a:schemeClr val="tx1"/>
        </a:buClr>
        <a:buSzPct val="100000"/>
        <a:buFont typeface="Wingdings 3" panose="05040102010807070707"/>
        <a:buChar char=""/>
        <a:defRPr kumimoji="0" sz="2000" kern="1200">
          <a:solidFill>
            <a:schemeClr val="tx1"/>
          </a:solidFill>
          <a:latin typeface="+mn-lt"/>
          <a:ea typeface="+mn-ea"/>
          <a:cs typeface="+mn-cs"/>
        </a:defRPr>
      </a:lvl4pPr>
      <a:lvl5pPr marL="1545590" indent="-182880" algn="l" rtl="0" eaLnBrk="1" latinLnBrk="0" hangingPunct="1">
        <a:spcBef>
          <a:spcPct val="20000"/>
        </a:spcBef>
        <a:buClr>
          <a:schemeClr val="tx1"/>
        </a:buClr>
        <a:buFont typeface="Wingdings 2" panose="05020102010507070707"/>
        <a:buChar char=""/>
        <a:defRPr kumimoji="0" sz="2000" kern="1200">
          <a:solidFill>
            <a:schemeClr val="tx1"/>
          </a:solidFill>
          <a:latin typeface="+mn-lt"/>
          <a:ea typeface="+mn-ea"/>
          <a:cs typeface="+mn-cs"/>
        </a:defRPr>
      </a:lvl5pPr>
      <a:lvl6pPr marL="1764665" indent="-182880" algn="l" rtl="0" eaLnBrk="1" latinLnBrk="0" hangingPunct="1">
        <a:spcBef>
          <a:spcPct val="20000"/>
        </a:spcBef>
        <a:buClr>
          <a:schemeClr val="tx1"/>
        </a:buClr>
        <a:buFont typeface="Wingdings 3" panose="05040102010807070707"/>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panose="05020102010507070707"/>
        <a:buChar char=""/>
        <a:defRPr kumimoji="0" sz="1600" kern="1200">
          <a:solidFill>
            <a:schemeClr val="tx1"/>
          </a:solidFill>
          <a:latin typeface="+mn-lt"/>
          <a:ea typeface="+mn-ea"/>
          <a:cs typeface="+mn-cs"/>
        </a:defRPr>
      </a:lvl7pPr>
      <a:lvl8pPr marL="2167255" indent="-182880" algn="l" rtl="0" eaLnBrk="1" latinLnBrk="0" hangingPunct="1">
        <a:spcBef>
          <a:spcPct val="20000"/>
        </a:spcBef>
        <a:buClr>
          <a:schemeClr val="tx1"/>
        </a:buClr>
        <a:buFont typeface="Wingdings 2" panose="05020102010507070707"/>
        <a:buChar char=""/>
        <a:defRPr kumimoji="0" sz="1400" kern="1200">
          <a:solidFill>
            <a:schemeClr val="tx1"/>
          </a:solidFill>
          <a:latin typeface="+mn-lt"/>
          <a:ea typeface="+mn-ea"/>
          <a:cs typeface="+mn-cs"/>
        </a:defRPr>
      </a:lvl8pPr>
      <a:lvl9pPr marL="2368550" indent="-182880" algn="l" rtl="0" eaLnBrk="1" latinLnBrk="0" hangingPunct="1">
        <a:spcBef>
          <a:spcPct val="20000"/>
        </a:spcBef>
        <a:buClr>
          <a:schemeClr val="tx1"/>
        </a:buClr>
        <a:buFont typeface="Wingdings 2" panose="05020102010507070707"/>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357166"/>
            <a:ext cx="7772400" cy="3643337"/>
          </a:xfrm>
        </p:spPr>
        <p:txBody>
          <a:bodyPr>
            <a:normAutofit/>
            <a:scene3d>
              <a:camera prst="orthographicFront"/>
              <a:lightRig rig="glow" dir="tl">
                <a:rot lat="0" lon="0" rev="5400000"/>
              </a:lightRig>
            </a:scene3d>
            <a:sp3d contourW="12700">
              <a:bevelT w="25400" h="25400"/>
              <a:contourClr>
                <a:schemeClr val="accent6">
                  <a:shade val="73000"/>
                </a:schemeClr>
              </a:contourClr>
            </a:sp3d>
          </a:bodyPr>
          <a:lstStyle/>
          <a:p>
            <a:r>
              <a:rPr lang="ru-RU" sz="3600" cap="none"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cs typeface="Times New Roman" panose="02020603050405020304" pitchFamily="18" charset="0"/>
              </a:rPr>
              <a:t>  Эмпирический уровень научного познания.  </a:t>
            </a:r>
            <a:br>
              <a:rPr lang="ru-RU" sz="3600" cap="none"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cs typeface="Times New Roman" panose="02020603050405020304" pitchFamily="18" charset="0"/>
              </a:rPr>
            </a:br>
            <a:r>
              <a:rPr lang="ru-RU" sz="3600" cap="none"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cs typeface="Times New Roman" panose="02020603050405020304" pitchFamily="18" charset="0"/>
              </a:rPr>
              <a:t>Формы организации знания на эмпирическом уровне.  Эмпирические методы.   </a:t>
            </a:r>
            <a:br>
              <a:rPr lang="ru-RU" sz="3600" cap="none"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anose="02020603050405020304" pitchFamily="18" charset="0"/>
                <a:cs typeface="Times New Roman" panose="02020603050405020304" pitchFamily="18" charset="0"/>
              </a:rPr>
            </a:br>
            <a:endParaRPr lang="ru-RU" cap="none"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Подзаголовок 2"/>
          <p:cNvSpPr>
            <a:spLocks noGrp="1"/>
          </p:cNvSpPr>
          <p:nvPr>
            <p:ph type="subTitle" idx="1"/>
          </p:nvPr>
        </p:nvSpPr>
        <p:spPr>
          <a:xfrm>
            <a:off x="1714480" y="4572008"/>
            <a:ext cx="7072362" cy="1752600"/>
          </a:xfrm>
        </p:spPr>
        <p:txBody>
          <a:bodyPr/>
          <a:lstStyle/>
          <a:p>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Что считать методом эмпирического познания?</a:t>
            </a:r>
            <a:endParaRPr lang="ru-RU" dirty="0"/>
          </a:p>
        </p:txBody>
      </p:sp>
      <p:sp>
        <p:nvSpPr>
          <p:cNvPr id="3" name="Содержимое 2"/>
          <p:cNvSpPr>
            <a:spLocks noGrp="1"/>
          </p:cNvSpPr>
          <p:nvPr>
            <p:ph idx="1"/>
          </p:nvPr>
        </p:nvSpPr>
        <p:spPr/>
        <p:txBody>
          <a:bodyPr/>
          <a:lstStyle/>
          <a:p>
            <a:pPr algn="ctr"/>
            <a:endParaRPr lang="ru-RU"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buNone/>
            </a:pPr>
            <a:r>
              <a:rPr lang="ru-RU"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Наблюдение, эксперимент и моделирование </a:t>
            </a:r>
            <a:r>
              <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это определенные формы взаимоотношений между субъектом и объектом</a:t>
            </a:r>
            <a:endPar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endPar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buNone/>
            </a:pPr>
            <a:r>
              <a:rPr lang="ru-RU"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Описание, сравнение, измерение характеризуют </a:t>
            </a:r>
            <a:r>
              <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способы структурирования научной информации, применяемые в той или иной исследовательской ситуации </a:t>
            </a:r>
            <a:endParaRPr lang="ru-RU"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Наблюдение</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Содержимое 2"/>
          <p:cNvSpPr>
            <a:spLocks noGrp="1"/>
          </p:cNvSpPr>
          <p:nvPr>
            <p:ph idx="1"/>
          </p:nvPr>
        </p:nvSpPr>
        <p:spPr/>
        <p:txBody>
          <a:bodyPr>
            <a:normAutofit fontScale="92500" lnSpcReduction="10000"/>
          </a:bodyPr>
          <a:lstStyle/>
          <a:p>
            <a:pPr marL="467995" indent="411480" algn="ctr">
              <a:buNone/>
            </a:pPr>
            <a:r>
              <a:rPr lang="ru-RU"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Наблюдение </a:t>
            </a:r>
            <a:r>
              <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один из методов эмпирического уровня, имеющий общенаучное значение</a:t>
            </a:r>
            <a:endPar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marL="467995" indent="411480" algn="ctr">
              <a:buNone/>
            </a:pPr>
            <a:endParaRPr lang="ru-RU"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marL="467995" indent="411480" algn="ctr">
              <a:buNone/>
            </a:pPr>
            <a:r>
              <a:rPr lang="ru-RU" u="sng" dirty="0" smtClean="0">
                <a:ln w="18415" cmpd="sng">
                  <a:solidFill>
                    <a:srgbClr val="FFFFFF"/>
                  </a:solidFill>
                  <a:prstDash val="solid"/>
                </a:ln>
                <a:solidFill>
                  <a:srgbClr val="FFFFFF"/>
                </a:solidFill>
                <a:effectLst>
                  <a:outerShdw blurRad="38100" dist="38100" dir="2700000" algn="tl">
                    <a:srgbClr val="000000">
                      <a:alpha val="43137"/>
                    </a:srgbClr>
                  </a:outerShdw>
                </a:effectLst>
              </a:rPr>
              <a:t>Наблюдение </a:t>
            </a:r>
            <a:r>
              <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исследовательская ситуация целенаправленного восприятия предметов, явлений и процессов окружающего мира. </a:t>
            </a:r>
            <a:endPar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marL="467995" indent="411480" algn="ctr">
              <a:buNone/>
            </a:pPr>
            <a:endPar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marL="467995" indent="411480" algn="ctr">
              <a:buNone/>
            </a:pPr>
            <a:r>
              <a:rPr lang="ru-RU"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Наблюдение сочетается с другими методами исследования: может выступать начальным этапом исследований, предшествовать постановке эксперимента, или, наоборот, осуществляться после экспериментального вмешательства</a:t>
            </a:r>
            <a:endParaRPr lang="ru-RU"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Наблюдение как исследовательская ситуация включает: </a:t>
            </a:r>
            <a:endParaRPr lang="ru-RU"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3" name="Содержимое 2"/>
          <p:cNvSpPr>
            <a:spLocks noGrp="1"/>
          </p:cNvSpPr>
          <p:nvPr>
            <p:ph idx="1"/>
          </p:nvPr>
        </p:nvSpPr>
        <p:spPr>
          <a:xfrm>
            <a:off x="457200" y="1928802"/>
            <a:ext cx="8229600" cy="4380558"/>
          </a:xfrm>
        </p:spPr>
        <p:txBody>
          <a:bodyPr/>
          <a:lstStyle/>
          <a:p>
            <a:r>
              <a:rPr lang="ru-RU" dirty="0" smtClean="0"/>
              <a:t>субъекта, осуществляющего наблюдение, или наблюдателя; </a:t>
            </a:r>
            <a:endParaRPr lang="ru-RU" dirty="0" smtClean="0"/>
          </a:p>
          <a:p>
            <a:r>
              <a:rPr lang="ru-RU" dirty="0" smtClean="0"/>
              <a:t>наблюдаемый объект; </a:t>
            </a:r>
            <a:endParaRPr lang="ru-RU" dirty="0" smtClean="0"/>
          </a:p>
          <a:p>
            <a:r>
              <a:rPr lang="ru-RU" dirty="0" smtClean="0"/>
              <a:t>условия и обстоятельства наблюдения, к которым относят конкретные условия времени и места, технические средства наблюдения и теоретический контекст, поддерживающий данную исследовательскую ситуацию. </a:t>
            </a:r>
            <a:endParaRPr lang="ru-RU" dirty="0" smtClean="0"/>
          </a:p>
          <a:p>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rPr>
              <a:t>Способы классификации видов научного наблюдения</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endParaRPr>
          </a:p>
        </p:txBody>
      </p:sp>
      <p:sp>
        <p:nvSpPr>
          <p:cNvPr id="3" name="Содержимое 2"/>
          <p:cNvSpPr>
            <a:spLocks noGrp="1"/>
          </p:cNvSpPr>
          <p:nvPr>
            <p:ph idx="1"/>
          </p:nvPr>
        </p:nvSpPr>
        <p:spPr/>
        <p:txBody>
          <a:bodyPr/>
          <a:lstStyle/>
          <a:p>
            <a:r>
              <a:rPr lang="ru-RU" u="sng" dirty="0" smtClean="0"/>
              <a:t>по воспринимаемому объекту </a:t>
            </a:r>
            <a:r>
              <a:rPr lang="ru-RU" dirty="0" smtClean="0"/>
              <a:t>- наблюдение прямое (изучаются свойства непосредственно наблюдаемого объекта) и косвенное (воспринимается не сам объект, а эффекты, которые он вызывает);</a:t>
            </a:r>
            <a:endParaRPr lang="ru-RU" dirty="0" smtClean="0"/>
          </a:p>
          <a:p>
            <a:r>
              <a:rPr lang="ru-RU" u="sng" dirty="0" smtClean="0"/>
              <a:t>по исследовательским средствам </a:t>
            </a:r>
            <a:r>
              <a:rPr lang="ru-RU" dirty="0" smtClean="0"/>
              <a:t>- наблюдение непосредственное (инструментально не оснащенное, осуществляемое непосредственно органами чувств) и опосредованное, или инструментальное </a:t>
            </a:r>
            <a:endParaRPr lang="ru-RU" dirty="0" smtClean="0"/>
          </a:p>
          <a:p>
            <a:endParaRPr lang="ru-R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rPr>
              <a:t>Способы классификации видов научного наблюдения</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endParaRPr>
          </a:p>
        </p:txBody>
      </p:sp>
      <p:sp>
        <p:nvSpPr>
          <p:cNvPr id="3" name="Содержимое 2"/>
          <p:cNvSpPr>
            <a:spLocks noGrp="1"/>
          </p:cNvSpPr>
          <p:nvPr>
            <p:ph idx="1"/>
          </p:nvPr>
        </p:nvSpPr>
        <p:spPr/>
        <p:txBody>
          <a:bodyPr/>
          <a:lstStyle/>
          <a:p>
            <a:r>
              <a:rPr lang="ru-RU" u="sng" dirty="0" smtClean="0"/>
              <a:t>по воздействию на объект </a:t>
            </a:r>
            <a:r>
              <a:rPr lang="ru-RU" dirty="0" smtClean="0"/>
              <a:t>- нейтральное (не влияющее на структуру и поведение объекта) и преобразующее </a:t>
            </a:r>
            <a:endParaRPr lang="ru-RU" dirty="0" smtClean="0"/>
          </a:p>
          <a:p>
            <a:r>
              <a:rPr lang="ru-RU" u="sng" dirty="0" smtClean="0"/>
              <a:t>по отношению к общей совокупности изучаемых явлений </a:t>
            </a:r>
            <a:r>
              <a:rPr lang="ru-RU" dirty="0" smtClean="0"/>
              <a:t>- сплошное (когда изучаются все единицы исследуемой совокупности) и выборочное </a:t>
            </a:r>
            <a:endParaRPr lang="ru-RU" dirty="0" smtClean="0"/>
          </a:p>
          <a:p>
            <a:r>
              <a:rPr lang="ru-RU" u="sng" dirty="0" smtClean="0"/>
              <a:t>по временным параметрам </a:t>
            </a:r>
            <a:r>
              <a:rPr lang="ru-RU" dirty="0" smtClean="0"/>
              <a:t>- непрерывное и прерывное; </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r>
              <a:rPr lang="ru-RU"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rPr>
              <a:t>Основные характеристики научного наблюдения</a:t>
            </a:r>
            <a:endParaRPr lang="ru-RU"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endParaRPr>
          </a:p>
        </p:txBody>
      </p:sp>
      <p:sp>
        <p:nvSpPr>
          <p:cNvPr id="3" name="Содержимое 2"/>
          <p:cNvSpPr>
            <a:spLocks noGrp="1"/>
          </p:cNvSpPr>
          <p:nvPr>
            <p:ph idx="1"/>
          </p:nvPr>
        </p:nvSpPr>
        <p:spPr>
          <a:xfrm>
            <a:off x="457200" y="1857364"/>
            <a:ext cx="8229600" cy="4451996"/>
          </a:xfrm>
        </p:spPr>
        <p:txBody>
          <a:bodyPr>
            <a:normAutofit/>
          </a:bodyPr>
          <a:lstStyle/>
          <a:p>
            <a:pPr marL="360045">
              <a:lnSpc>
                <a:spcPts val="2000"/>
              </a:lnSpc>
            </a:pPr>
            <a:r>
              <a:rPr lang="ru-RU" dirty="0" smtClean="0"/>
              <a:t>Наблюдение имеет активный, целеустремленный характер (наблюдатель не просто регистрирует эмпирические данные, а проявляет исследовательскую инициативу)</a:t>
            </a:r>
            <a:endParaRPr lang="ru-RU" dirty="0" smtClean="0"/>
          </a:p>
          <a:p>
            <a:pPr marL="360045">
              <a:lnSpc>
                <a:spcPts val="2000"/>
              </a:lnSpc>
            </a:pPr>
            <a:endParaRPr lang="ru-RU" dirty="0" smtClean="0"/>
          </a:p>
          <a:p>
            <a:pPr marL="360045">
              <a:lnSpc>
                <a:spcPts val="2000"/>
              </a:lnSpc>
            </a:pPr>
            <a:r>
              <a:rPr lang="ru-RU" dirty="0" smtClean="0"/>
              <a:t>Инструментальная организованность или Техническая оснащенность (повышает точность получаемых данных, также обеспечивает саму возможность наблюдать познаваемый объект)</a:t>
            </a:r>
            <a:endParaRPr lang="ru-RU" dirty="0" smtClean="0"/>
          </a:p>
          <a:p>
            <a:pPr marL="360045">
              <a:lnSpc>
                <a:spcPts val="2000"/>
              </a:lnSpc>
            </a:pPr>
            <a:endParaRPr lang="ru-RU" dirty="0" smtClean="0"/>
          </a:p>
          <a:p>
            <a:pPr marL="360045">
              <a:lnSpc>
                <a:spcPts val="2000"/>
              </a:lnSpc>
            </a:pPr>
            <a:r>
              <a:rPr lang="ru-RU" dirty="0" smtClean="0"/>
              <a:t>Концептуальная организованность, т.е. наличие особого языка, использующего термины описания, сравнения или измерения (данные фиксируются в виде графиков, таблиц, схем и т.п.)</a:t>
            </a:r>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Наблюдение и Эксперимент</a:t>
            </a:r>
            <a:endParaRPr lang="ru-RU" dirty="0"/>
          </a:p>
        </p:txBody>
      </p:sp>
      <p:sp>
        <p:nvSpPr>
          <p:cNvPr id="3" name="Содержимое 2"/>
          <p:cNvSpPr>
            <a:spLocks noGrp="1"/>
          </p:cNvSpPr>
          <p:nvPr>
            <p:ph idx="1"/>
          </p:nvPr>
        </p:nvSpPr>
        <p:spPr/>
        <p:txBody>
          <a:bodyPr>
            <a:normAutofit fontScale="92500" lnSpcReduction="10000"/>
          </a:bodyPr>
          <a:lstStyle/>
          <a:p>
            <a:pPr algn="ctr">
              <a:buNone/>
            </a:pPr>
            <a:r>
              <a:rPr lang="ru-RU" dirty="0" smtClean="0"/>
              <a:t>В отличие от наблюдения в экспериментальной исследовательской ситуации, опытный материал растет интенсивным путем.</a:t>
            </a:r>
            <a:endParaRPr lang="ru-RU" dirty="0" smtClean="0"/>
          </a:p>
          <a:p>
            <a:pPr algn="ctr"/>
            <a:endParaRPr lang="ru-RU" dirty="0" smtClean="0"/>
          </a:p>
          <a:p>
            <a:pPr algn="ctr">
              <a:buNone/>
            </a:pPr>
            <a:r>
              <a:rPr lang="ru-RU" u="sng" dirty="0" smtClean="0"/>
              <a:t>Эксперимент</a:t>
            </a:r>
            <a:r>
              <a:rPr lang="ru-RU" dirty="0" smtClean="0"/>
              <a:t> — это интенсификация опыта, его детализирование, углубление, вычленение существенного. </a:t>
            </a:r>
            <a:endParaRPr lang="ru-RU" dirty="0" smtClean="0"/>
          </a:p>
          <a:p>
            <a:pPr algn="ctr">
              <a:buNone/>
            </a:pPr>
            <a:r>
              <a:rPr lang="ru-RU" dirty="0" smtClean="0"/>
              <a:t>В чистом виде наблюдение и эксперимент представляют собой скорее идеализированные исследовательские стратегии, чем действительно протекающие виды научной практики или предписания.</a:t>
            </a:r>
            <a:endParaRPr lang="ru-RU" dirty="0" smtClean="0"/>
          </a:p>
          <a:p>
            <a:endParaRPr lang="ru-R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r>
              <a:rPr lang="ru-RU" i="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Проблема теоретической </a:t>
            </a:r>
            <a:r>
              <a:rPr lang="ru-RU" i="1"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нагруженности</a:t>
            </a:r>
            <a:r>
              <a:rPr lang="ru-RU" i="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наблюдения. </a:t>
            </a:r>
            <a:endParaRPr lang="ru-RU"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Содержимое 2"/>
          <p:cNvSpPr>
            <a:spLocks noGrp="1"/>
          </p:cNvSpPr>
          <p:nvPr>
            <p:ph idx="1"/>
          </p:nvPr>
        </p:nvSpPr>
        <p:spPr/>
        <p:txBody>
          <a:bodyPr/>
          <a:lstStyle/>
          <a:p>
            <a:pPr algn="ctr">
              <a:buNone/>
            </a:pPr>
            <a:r>
              <a:rPr lang="ru-RU" dirty="0" smtClean="0"/>
              <a:t>В неопозитивистский период философии науки бытовала </a:t>
            </a:r>
            <a:r>
              <a:rPr lang="ru-RU" b="1" i="1" dirty="0" smtClean="0"/>
              <a:t>концепция чистого наблюдения</a:t>
            </a:r>
            <a:r>
              <a:rPr lang="ru-RU" dirty="0" smtClean="0"/>
              <a:t>.</a:t>
            </a:r>
            <a:endParaRPr lang="ru-RU" dirty="0" smtClean="0"/>
          </a:p>
          <a:p>
            <a:pPr algn="ctr"/>
            <a:endParaRPr lang="ru-RU" dirty="0" smtClean="0"/>
          </a:p>
          <a:p>
            <a:pPr algn="ctr">
              <a:buNone/>
            </a:pPr>
            <a:r>
              <a:rPr lang="ru-RU" dirty="0" smtClean="0"/>
              <a:t>На смену неопозитивистскому идеалу чистого наблюдения пришло осознание более сложных взаимоотношений теории и опыта, что относительно наблюдения выразилось в </a:t>
            </a:r>
            <a:r>
              <a:rPr lang="ru-RU" dirty="0" err="1" smtClean="0"/>
              <a:t>постпозитивистском</a:t>
            </a:r>
            <a:r>
              <a:rPr lang="ru-RU" dirty="0" smtClean="0"/>
              <a:t> тезисе </a:t>
            </a:r>
            <a:r>
              <a:rPr lang="ru-RU" b="1" i="1" dirty="0" smtClean="0"/>
              <a:t>теоретической </a:t>
            </a:r>
            <a:r>
              <a:rPr lang="ru-RU" b="1" i="1" dirty="0" err="1" smtClean="0"/>
              <a:t>нагруженности</a:t>
            </a:r>
            <a:r>
              <a:rPr lang="ru-RU" b="1" i="1" dirty="0" smtClean="0"/>
              <a:t> наблюдения</a:t>
            </a:r>
            <a:r>
              <a:rPr lang="ru-RU" dirty="0" smtClean="0"/>
              <a:t>. </a:t>
            </a:r>
            <a:endParaRPr lang="ru-RU" dirty="0" smtClean="0"/>
          </a:p>
          <a:p>
            <a:endParaRPr lang="ru-R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r>
              <a:rPr lang="ru-RU" i="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Проблема теоретической </a:t>
            </a:r>
            <a:r>
              <a:rPr lang="ru-RU" i="1"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нагруженности</a:t>
            </a:r>
            <a:r>
              <a:rPr lang="ru-RU" i="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наблюдения</a:t>
            </a:r>
            <a:endParaRPr lang="ru-RU"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Содержимое 2"/>
          <p:cNvSpPr>
            <a:spLocks noGrp="1"/>
          </p:cNvSpPr>
          <p:nvPr>
            <p:ph idx="1"/>
          </p:nvPr>
        </p:nvSpPr>
        <p:spPr/>
        <p:txBody>
          <a:bodyPr/>
          <a:lstStyle/>
          <a:p>
            <a:pPr>
              <a:buNone/>
            </a:pPr>
            <a:r>
              <a:rPr lang="ru-RU" b="1" dirty="0" err="1" smtClean="0"/>
              <a:t>Норвуд</a:t>
            </a:r>
            <a:r>
              <a:rPr lang="ru-RU" b="1" dirty="0" smtClean="0"/>
              <a:t> </a:t>
            </a:r>
            <a:r>
              <a:rPr lang="ru-RU" b="1" dirty="0" err="1" smtClean="0"/>
              <a:t>Хэнсон</a:t>
            </a:r>
            <a:r>
              <a:rPr lang="ru-RU" b="1" dirty="0" smtClean="0"/>
              <a:t> (1924—1967) </a:t>
            </a:r>
            <a:r>
              <a:rPr lang="ru-RU" dirty="0" smtClean="0"/>
              <a:t>впервые использовал данный термин в своей работе </a:t>
            </a:r>
            <a:r>
              <a:rPr lang="ru-RU" b="1" dirty="0" smtClean="0"/>
              <a:t>«Образцы открытий»</a:t>
            </a:r>
            <a:r>
              <a:rPr lang="ru-RU" dirty="0" smtClean="0"/>
              <a:t> в 1959 году</a:t>
            </a:r>
            <a:endParaRPr lang="ru-RU" dirty="0" smtClean="0"/>
          </a:p>
          <a:p>
            <a:endParaRPr lang="ru-RU" dirty="0" smtClean="0"/>
          </a:p>
          <a:p>
            <a:pPr algn="ctr">
              <a:buNone/>
            </a:pPr>
            <a:r>
              <a:rPr lang="ru-RU" b="1" i="1" dirty="0" smtClean="0"/>
              <a:t>«наше восприятие не является непредвзятым, а является в некотором смысле ожиданием того, что мы действительно хотим увидеть»</a:t>
            </a:r>
            <a:endParaRPr lang="ru-RU" b="1" i="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r>
              <a:rPr lang="ru-RU" i="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rPr>
              <a:t>Проблема теоретической </a:t>
            </a:r>
            <a:r>
              <a:rPr lang="ru-RU" i="1"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rPr>
              <a:t>нагруженности</a:t>
            </a:r>
            <a:r>
              <a:rPr lang="ru-RU" i="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rPr>
              <a:t> наблюдения</a:t>
            </a:r>
            <a:endParaRPr lang="ru-RU"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endParaRPr>
          </a:p>
        </p:txBody>
      </p:sp>
      <p:sp>
        <p:nvSpPr>
          <p:cNvPr id="3" name="Содержимое 2"/>
          <p:cNvSpPr>
            <a:spLocks noGrp="1"/>
          </p:cNvSpPr>
          <p:nvPr>
            <p:ph idx="1"/>
          </p:nvPr>
        </p:nvSpPr>
        <p:spPr/>
        <p:txBody>
          <a:bodyPr>
            <a:normAutofit/>
          </a:bodyPr>
          <a:lstStyle/>
          <a:p>
            <a:pPr algn="ctr">
              <a:buNone/>
            </a:pPr>
            <a:r>
              <a:rPr lang="ru-RU" dirty="0" smtClean="0"/>
              <a:t>Данный тезис означает понимание и признание существенной зависимости содержания наблюдения от предшествующих ему теоретических предпосылок и установок наблюдателя</a:t>
            </a:r>
            <a:endParaRPr lang="ru-RU" dirty="0" smtClean="0"/>
          </a:p>
          <a:p>
            <a:pPr algn="ctr">
              <a:buNone/>
            </a:pPr>
            <a:endParaRPr lang="ru-RU" dirty="0" smtClean="0"/>
          </a:p>
          <a:p>
            <a:pPr algn="ctr"/>
            <a:r>
              <a:rPr lang="ru-RU" b="1" dirty="0" smtClean="0"/>
              <a:t>А. Эйнштейна: </a:t>
            </a:r>
            <a:r>
              <a:rPr lang="ru-RU" b="1" i="1" dirty="0" smtClean="0"/>
              <a:t>«Лишь теория решает, что можно наблюдать»</a:t>
            </a:r>
            <a:endParaRPr lang="ru-RU" b="1" i="1"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714356"/>
            <a:ext cx="8229600" cy="5595004"/>
          </a:xfrm>
          <a:ln w="76200">
            <a:solidFill>
              <a:schemeClr val="tx2">
                <a:lumMod val="50000"/>
              </a:schemeClr>
            </a:solidFill>
          </a:ln>
        </p:spPr>
        <p:style>
          <a:lnRef idx="2">
            <a:schemeClr val="accent3"/>
          </a:lnRef>
          <a:fillRef idx="1">
            <a:schemeClr val="lt1"/>
          </a:fillRef>
          <a:effectRef idx="0">
            <a:schemeClr val="accent3"/>
          </a:effectRef>
          <a:fontRef idx="minor">
            <a:schemeClr val="dk1"/>
          </a:fontRef>
        </p:style>
        <p:txBody>
          <a:bodyPr>
            <a:normAutofit/>
          </a:bodyPr>
          <a:lstStyle/>
          <a:p>
            <a:pPr algn="ctr"/>
            <a:r>
              <a:rPr lang="ru-RU" dirty="0" smtClean="0"/>
              <a:t>Исторически выдвижение этого тезиса имело полемическую заостренность. Он был направлен против неопозитивистского тезиса о теоретически нейтральном эмпирическом базисе науки.</a:t>
            </a:r>
            <a:endParaRPr lang="ru-RU" dirty="0" smtClean="0"/>
          </a:p>
          <a:p>
            <a:pPr algn="ctr"/>
            <a:endParaRPr lang="ru-RU" dirty="0" smtClean="0"/>
          </a:p>
          <a:p>
            <a:pPr algn="ctr"/>
            <a:r>
              <a:rPr lang="ru-RU" dirty="0" smtClean="0"/>
              <a:t>Эмпирический материал, получаемый в наблюдении, не является полностью производным от той или иной теории. Он обладает известной самостоятельностью, служит как бы твердой почвой, на которую опирается теоретическая конструкция.</a:t>
            </a:r>
            <a:endParaRPr lang="ru-R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28604"/>
            <a:ext cx="8229600" cy="989034"/>
          </a:xfrm>
        </p:spPr>
        <p:txBody>
          <a:bodyPr>
            <a:normAutofit fontScale="90000"/>
          </a:bodyPr>
          <a:lstStyle/>
          <a:p>
            <a:r>
              <a:rPr lang="ru-RU" sz="44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rPr>
              <a:t>Проблема объективности результатов наблюдения. </a:t>
            </a:r>
            <a:br>
              <a:rPr lang="ru-RU" dirty="0" smtClean="0"/>
            </a:br>
            <a:endParaRPr lang="ru-RU" dirty="0"/>
          </a:p>
        </p:txBody>
      </p:sp>
      <p:sp>
        <p:nvSpPr>
          <p:cNvPr id="3" name="Содержимое 2"/>
          <p:cNvSpPr>
            <a:spLocks noGrp="1"/>
          </p:cNvSpPr>
          <p:nvPr>
            <p:ph idx="1"/>
          </p:nvPr>
        </p:nvSpPr>
        <p:spPr/>
        <p:txBody>
          <a:bodyPr/>
          <a:lstStyle/>
          <a:p>
            <a:pPr indent="411480">
              <a:buNone/>
            </a:pPr>
            <a:r>
              <a:rPr lang="ru-RU" dirty="0" smtClean="0"/>
              <a:t>Требование независимости его результатов от конкретных условий времени и места и от особенностей технического оснащения</a:t>
            </a:r>
            <a:endParaRPr lang="ru-RU" dirty="0" smtClean="0"/>
          </a:p>
          <a:p>
            <a:pPr indent="411480">
              <a:buNone/>
            </a:pPr>
            <a:endParaRPr lang="ru-RU" dirty="0" smtClean="0"/>
          </a:p>
          <a:p>
            <a:pPr indent="411480">
              <a:buNone/>
            </a:pPr>
            <a:r>
              <a:rPr lang="ru-RU" b="1" i="1" u="sng" dirty="0" smtClean="0"/>
              <a:t>Задача исследователя </a:t>
            </a:r>
            <a:r>
              <a:rPr lang="ru-RU" dirty="0" smtClean="0"/>
              <a:t>— руководствуясь требованием независимости как методологическим идеалом, добиваться максимально возможной в данных условиях степени независимости эмпирического содержания от различного рода искажений. </a:t>
            </a:r>
            <a:endParaRPr lang="ru-R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714356"/>
            <a:ext cx="8229600" cy="5595004"/>
          </a:xfrm>
        </p:spPr>
        <p:txBody>
          <a:bodyPr/>
          <a:lstStyle/>
          <a:p>
            <a:pPr algn="ctr">
              <a:buNone/>
            </a:pPr>
            <a:r>
              <a:rPr lang="ru-RU" dirty="0" smtClean="0"/>
              <a:t>Идеал объективности наблюдения предполагает, что результаты должны быть «очищены» от искажений, обработаны, приведены к стандартному виду</a:t>
            </a:r>
            <a:endParaRPr lang="ru-RU" dirty="0" smtClean="0"/>
          </a:p>
          <a:p>
            <a:pPr algn="ctr">
              <a:buNone/>
            </a:pPr>
            <a:endParaRPr lang="ru-RU" dirty="0" smtClean="0"/>
          </a:p>
          <a:p>
            <a:pPr>
              <a:buNone/>
            </a:pPr>
            <a:r>
              <a:rPr lang="ru-RU" dirty="0" smtClean="0"/>
              <a:t>1)Независимость результата наблюдения от личных психологических особенностей наблюдателя</a:t>
            </a:r>
            <a:endParaRPr lang="ru-RU" dirty="0" smtClean="0"/>
          </a:p>
          <a:p>
            <a:pPr>
              <a:buNone/>
            </a:pPr>
            <a:r>
              <a:rPr lang="ru-RU" dirty="0" smtClean="0"/>
              <a:t>2)Очищение результатов от всевозможных ситуационных факторов</a:t>
            </a: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i="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rPr>
              <a:t>Проблематика наблюдения в современной науке </a:t>
            </a:r>
            <a:endParaRPr lang="ru-RU"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ndParaRPr>
          </a:p>
        </p:txBody>
      </p:sp>
      <p:sp>
        <p:nvSpPr>
          <p:cNvPr id="3" name="Содержимое 2"/>
          <p:cNvSpPr>
            <a:spLocks noGrp="1"/>
          </p:cNvSpPr>
          <p:nvPr>
            <p:ph idx="1"/>
          </p:nvPr>
        </p:nvSpPr>
        <p:spPr/>
        <p:txBody>
          <a:bodyPr/>
          <a:lstStyle/>
          <a:p>
            <a:pPr algn="ctr">
              <a:buNone/>
            </a:pPr>
            <a:r>
              <a:rPr lang="ru-RU" b="1" i="1" u="sng" dirty="0" smtClean="0"/>
              <a:t>Наблюдение</a:t>
            </a:r>
            <a:r>
              <a:rPr lang="ru-RU" dirty="0" smtClean="0"/>
              <a:t> - единственно возможный </a:t>
            </a:r>
            <a:r>
              <a:rPr lang="ru-RU" dirty="0" err="1" smtClean="0"/>
              <a:t>вид эмпирического</a:t>
            </a:r>
            <a:r>
              <a:rPr lang="ru-RU" dirty="0" smtClean="0"/>
              <a:t> исследования в случае изучения отдаленных объектов</a:t>
            </a:r>
            <a:endParaRPr lang="ru-RU" dirty="0" smtClean="0"/>
          </a:p>
          <a:p>
            <a:pPr algn="ctr">
              <a:buNone/>
            </a:pPr>
            <a:endParaRPr lang="ru-RU" dirty="0" smtClean="0"/>
          </a:p>
          <a:p>
            <a:pPr algn="ctr">
              <a:buNone/>
            </a:pPr>
            <a:r>
              <a:rPr lang="ru-RU" b="1" i="1" u="sng" dirty="0" err="1" smtClean="0"/>
              <a:t>Квазиэкспериментирование</a:t>
            </a:r>
            <a:r>
              <a:rPr lang="ru-RU" dirty="0" smtClean="0"/>
              <a:t> - использование логики эксперимента в </a:t>
            </a:r>
            <a:r>
              <a:rPr lang="ru-RU" dirty="0" err="1" smtClean="0"/>
              <a:t>неэкспериментальных</a:t>
            </a:r>
            <a:r>
              <a:rPr lang="ru-RU" dirty="0" smtClean="0"/>
              <a:t> ситуациях. </a:t>
            </a:r>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357166"/>
            <a:ext cx="8229600" cy="5952194"/>
          </a:xfrm>
          <a:ln w="76200"/>
        </p:spPr>
        <p:style>
          <a:lnRef idx="2">
            <a:schemeClr val="accent4"/>
          </a:lnRef>
          <a:fillRef idx="1">
            <a:schemeClr val="lt1"/>
          </a:fillRef>
          <a:effectRef idx="0">
            <a:schemeClr val="accent4"/>
          </a:effectRef>
          <a:fontRef idx="minor">
            <a:schemeClr val="dk1"/>
          </a:fontRef>
        </p:style>
        <p:txBody>
          <a:bodyPr>
            <a:normAutofit lnSpcReduction="10000"/>
          </a:bodyPr>
          <a:lstStyle/>
          <a:p>
            <a:pPr indent="411480">
              <a:buNone/>
            </a:pPr>
            <a:r>
              <a:rPr lang="ru-RU" dirty="0" smtClean="0"/>
              <a:t>Важнейшей особенностью современных тенденций в методологии наблюдения является использование в ситуациях наблюдения различных методов интенсификации, углубления опытного материала, получаемого в традиционно неинтенсивных областях научных исследований. </a:t>
            </a:r>
            <a:endParaRPr lang="ru-RU" dirty="0" smtClean="0"/>
          </a:p>
          <a:p>
            <a:pPr indent="411480"/>
            <a:endParaRPr lang="ru-RU" dirty="0" smtClean="0"/>
          </a:p>
          <a:p>
            <a:pPr indent="411480">
              <a:buNone/>
            </a:pPr>
            <a:r>
              <a:rPr lang="ru-RU" dirty="0" smtClean="0"/>
              <a:t>Наблюдение как методологическая проблема имеет комплексное содержание, включающее множество аспектов — физиологических, психологических, социальных, инструментально-технических, логических, содержательно-теоретических. </a:t>
            </a:r>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ЭКСПЕРИМЕНТ</a:t>
            </a:r>
            <a:endParaRPr lang="ru-RU" dirty="0"/>
          </a:p>
        </p:txBody>
      </p:sp>
      <p:sp>
        <p:nvSpPr>
          <p:cNvPr id="3" name="Содержимое 2"/>
          <p:cNvSpPr>
            <a:spLocks noGrp="1"/>
          </p:cNvSpPr>
          <p:nvPr>
            <p:ph idx="1"/>
          </p:nvPr>
        </p:nvSpPr>
        <p:spPr/>
        <p:txBody>
          <a:bodyPr/>
          <a:lstStyle/>
          <a:p>
            <a:pPr algn="ctr">
              <a:buNone/>
            </a:pPr>
            <a:r>
              <a:rPr lang="ru-RU" b="1" u="sng" dirty="0" smtClean="0"/>
              <a:t>Эксперимент </a:t>
            </a:r>
            <a:r>
              <a:rPr lang="ru-RU" dirty="0" smtClean="0"/>
              <a:t>представляет собой исследовательскую ситуацию изучения явления в специально создаваемых, контролируемых условиях, позволяющих активно управлять ходом данного процесса, т.е. вмешиваться в него и видоизменять его в соответствии с исследовательскими задачами, а также воспроизводить изучаемое явление при воспроизведении данных условий. </a:t>
            </a:r>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Достоинства эксперимента</a:t>
            </a:r>
            <a:endParaRPr lang="ru-RU" dirty="0"/>
          </a:p>
        </p:txBody>
      </p:sp>
      <p:sp>
        <p:nvSpPr>
          <p:cNvPr id="3" name="Содержимое 2"/>
          <p:cNvSpPr>
            <a:spLocks noGrp="1"/>
          </p:cNvSpPr>
          <p:nvPr>
            <p:ph idx="1"/>
          </p:nvPr>
        </p:nvSpPr>
        <p:spPr/>
        <p:txBody>
          <a:bodyPr>
            <a:normAutofit lnSpcReduction="10000"/>
          </a:bodyPr>
          <a:lstStyle/>
          <a:p>
            <a:pPr lvl="0"/>
            <a:r>
              <a:rPr lang="ru-RU" dirty="0" err="1" smtClean="0"/>
              <a:t>Воспроизводимость</a:t>
            </a:r>
            <a:r>
              <a:rPr lang="ru-RU" dirty="0" smtClean="0"/>
              <a:t> данного явления тогда, когда это требуется; </a:t>
            </a:r>
            <a:endParaRPr lang="ru-RU" dirty="0" smtClean="0"/>
          </a:p>
          <a:p>
            <a:pPr lvl="0"/>
            <a:r>
              <a:rPr lang="ru-RU" dirty="0" err="1" smtClean="0"/>
              <a:t>Варьируемость</a:t>
            </a:r>
            <a:r>
              <a:rPr lang="ru-RU" dirty="0" smtClean="0"/>
              <a:t> экспериментальной среды, благодаря чему ученый может изучать объект в самых разных условиях, вводить в действие новые факторы и т.п.; </a:t>
            </a:r>
            <a:endParaRPr lang="ru-RU" dirty="0" smtClean="0"/>
          </a:p>
          <a:p>
            <a:pPr lvl="0"/>
            <a:r>
              <a:rPr lang="ru-RU" dirty="0" smtClean="0"/>
              <a:t>Возможность добиваться достаточно высокой достоверности получаемых результатов; </a:t>
            </a:r>
            <a:endParaRPr lang="ru-RU" dirty="0" smtClean="0"/>
          </a:p>
          <a:p>
            <a:pPr lvl="0"/>
            <a:r>
              <a:rPr lang="ru-RU" dirty="0" smtClean="0"/>
              <a:t>Возможность создавать такие процессы, явления, свойства объектов, которые в естественном виде в природе не существуют. </a:t>
            </a:r>
            <a:endParaRPr lang="ru-RU" dirty="0" smtClean="0"/>
          </a:p>
          <a:p>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57158" y="857232"/>
            <a:ext cx="8229600" cy="5000660"/>
          </a:xfrm>
          <a:ln w="57150"/>
        </p:spPr>
        <p:style>
          <a:lnRef idx="1">
            <a:schemeClr val="accent3"/>
          </a:lnRef>
          <a:fillRef idx="2">
            <a:schemeClr val="accent3"/>
          </a:fillRef>
          <a:effectRef idx="1">
            <a:schemeClr val="accent3"/>
          </a:effectRef>
          <a:fontRef idx="minor">
            <a:schemeClr val="dk1"/>
          </a:fontRef>
        </p:style>
        <p:txBody>
          <a:bodyPr/>
          <a:lstStyle/>
          <a:p>
            <a:pPr indent="411480">
              <a:buNone/>
            </a:pPr>
            <a:r>
              <a:rPr lang="ru-RU" dirty="0" smtClean="0"/>
              <a:t>Исторически экспериментирование состоялось прежде всего как вид познавательной деятельности человечества, в котором проявлялась его познавательная поисковая активность. </a:t>
            </a:r>
            <a:endParaRPr lang="ru-RU" dirty="0" smtClean="0"/>
          </a:p>
          <a:p>
            <a:pPr indent="411480">
              <a:buNone/>
            </a:pPr>
            <a:r>
              <a:rPr lang="ru-RU" dirty="0" smtClean="0"/>
              <a:t> </a:t>
            </a:r>
            <a:endParaRPr lang="ru-RU" dirty="0" smtClean="0"/>
          </a:p>
          <a:p>
            <a:pPr indent="411480">
              <a:buNone/>
            </a:pPr>
            <a:r>
              <a:rPr lang="ru-RU" dirty="0" smtClean="0"/>
              <a:t>Новое качество эксперимента как поисковой стратегии возникает тогда, когда познавательная деятельность приобретает все более осознанный и постоянный характер</a:t>
            </a:r>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571480"/>
            <a:ext cx="8229600" cy="5737880"/>
          </a:xfrm>
          <a:ln w="76200"/>
        </p:spPr>
        <p:style>
          <a:lnRef idx="1">
            <a:schemeClr val="accent4"/>
          </a:lnRef>
          <a:fillRef idx="2">
            <a:schemeClr val="accent4"/>
          </a:fillRef>
          <a:effectRef idx="1">
            <a:schemeClr val="accent4"/>
          </a:effectRef>
          <a:fontRef idx="minor">
            <a:schemeClr val="dk1"/>
          </a:fontRef>
        </p:style>
        <p:txBody>
          <a:bodyPr>
            <a:normAutofit/>
          </a:bodyPr>
          <a:lstStyle/>
          <a:p>
            <a:pPr indent="411480">
              <a:buNone/>
            </a:pPr>
            <a:r>
              <a:rPr lang="ru-RU" dirty="0" smtClean="0"/>
              <a:t>Заслуга в разработке эксперимента как основы научной методологии принадлежит прежде всего </a:t>
            </a:r>
            <a:r>
              <a:rPr lang="ru-RU" b="1" i="1" dirty="0" smtClean="0"/>
              <a:t>Галилео Галилею </a:t>
            </a:r>
            <a:r>
              <a:rPr lang="ru-RU" dirty="0" smtClean="0"/>
              <a:t>(1564-1642), который в конце XVI в. соединил экспериментальный подход с математическим мышлением и дал первое теоретическое осмысление этого методологического принципа. </a:t>
            </a:r>
            <a:endParaRPr lang="ru-RU" dirty="0" smtClean="0"/>
          </a:p>
          <a:p>
            <a:pPr indent="411480">
              <a:buNone/>
            </a:pPr>
            <a:r>
              <a:rPr lang="ru-RU" dirty="0" smtClean="0"/>
              <a:t>Современник Г. Галилея </a:t>
            </a:r>
            <a:r>
              <a:rPr lang="ru-RU" b="1" i="1" dirty="0" err="1" smtClean="0"/>
              <a:t>Фрэнсис</a:t>
            </a:r>
            <a:r>
              <a:rPr lang="ru-RU" b="1" i="1" dirty="0" smtClean="0"/>
              <a:t> Бэкон </a:t>
            </a:r>
            <a:r>
              <a:rPr lang="ru-RU" dirty="0" smtClean="0"/>
              <a:t>(1561-1626) дал развернутое изложение экспериментального метода как программы создания новой науки. </a:t>
            </a:r>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Структура эксперимента </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Содержимое 2"/>
          <p:cNvSpPr>
            <a:spLocks noGrp="1"/>
          </p:cNvSpPr>
          <p:nvPr>
            <p:ph idx="1"/>
          </p:nvPr>
        </p:nvSpPr>
        <p:spPr/>
        <p:txBody>
          <a:bodyPr>
            <a:normAutofit/>
          </a:bodyPr>
          <a:lstStyle/>
          <a:p>
            <a:pPr lvl="0"/>
            <a:r>
              <a:rPr lang="ru-RU" dirty="0" smtClean="0"/>
              <a:t>субъект, проводящий экспериментальное исследование, или экспериментатор, </a:t>
            </a:r>
            <a:endParaRPr lang="ru-RU" dirty="0" smtClean="0"/>
          </a:p>
          <a:p>
            <a:pPr lvl="0"/>
            <a:r>
              <a:rPr lang="ru-RU" dirty="0" smtClean="0"/>
              <a:t>исследуемый объект; </a:t>
            </a:r>
            <a:endParaRPr lang="ru-RU" dirty="0" smtClean="0"/>
          </a:p>
          <a:p>
            <a:pPr lvl="0"/>
            <a:r>
              <a:rPr lang="ru-RU" dirty="0" smtClean="0"/>
              <a:t>условия и обстоятельства экспериментирования, к которым относят конкретные условия времени и места, технические средства экспериментирования и теоретический контекст, поддерживающий данную исследовательскую ситуацию. </a:t>
            </a:r>
            <a:endParaRPr lang="ru-RU" dirty="0" smtClean="0"/>
          </a:p>
          <a:p>
            <a:endParaRPr lang="ru-R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Логическая схема эксперимента </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Содержимое 2"/>
          <p:cNvSpPr>
            <a:spLocks noGrp="1"/>
          </p:cNvSpPr>
          <p:nvPr>
            <p:ph idx="1"/>
          </p:nvPr>
        </p:nvSpPr>
        <p:spPr/>
        <p:txBody>
          <a:bodyPr>
            <a:normAutofit fontScale="92500" lnSpcReduction="10000"/>
          </a:bodyPr>
          <a:lstStyle/>
          <a:p>
            <a:pPr indent="411480">
              <a:buNone/>
            </a:pPr>
            <a:r>
              <a:rPr lang="ru-RU" b="1" i="1" dirty="0" smtClean="0"/>
              <a:t>Переменные-</a:t>
            </a:r>
            <a:r>
              <a:rPr lang="ru-RU" dirty="0" smtClean="0"/>
              <a:t> все явления, факторы, воздействия, состояния, которые могут изменяться в данной исследовательской ситуации и принимать различные значения</a:t>
            </a:r>
            <a:endParaRPr lang="ru-RU" dirty="0" smtClean="0"/>
          </a:p>
          <a:p>
            <a:pPr indent="411480"/>
            <a:endParaRPr lang="ru-RU" b="1" i="1" dirty="0" smtClean="0"/>
          </a:p>
          <a:p>
            <a:pPr indent="411480">
              <a:buNone/>
            </a:pPr>
            <a:r>
              <a:rPr lang="ru-RU" b="1" i="1" dirty="0" smtClean="0"/>
              <a:t>Побочные факторы </a:t>
            </a:r>
            <a:r>
              <a:rPr lang="ru-RU" dirty="0" smtClean="0"/>
              <a:t>- некоторая совокупность факторов, которые не являются предметом прямого исследовательского интереса, но оказывают дополнительное воздействие на зависимую переменную, затрудняя изучение связи зависимой и независимой переменных и внося неопределенность в результаты эксперимента </a:t>
            </a:r>
            <a:endParaRPr lang="ru-RU" dirty="0" smtClean="0"/>
          </a:p>
          <a:p>
            <a:endParaRPr lang="ru-RU" b="1" i="1"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428604"/>
            <a:ext cx="8229600" cy="5880756"/>
          </a:xfrm>
        </p:spPr>
        <p:style>
          <a:lnRef idx="1">
            <a:schemeClr val="accent4"/>
          </a:lnRef>
          <a:fillRef idx="3">
            <a:schemeClr val="accent4"/>
          </a:fillRef>
          <a:effectRef idx="2">
            <a:schemeClr val="accent4"/>
          </a:effectRef>
          <a:fontRef idx="minor">
            <a:schemeClr val="lt1"/>
          </a:fontRef>
        </p:style>
        <p:txBody>
          <a:bodyPr/>
          <a:lstStyle/>
          <a:p>
            <a:pPr indent="411480">
              <a:buNone/>
            </a:pPr>
            <a:r>
              <a:rPr lang="ru-RU" dirty="0" smtClean="0"/>
              <a:t>С началом Нового времени происходит не только становление нового экспериментального метода в естествознании, но и практически синхронно этому разработка понятия функции в математике </a:t>
            </a:r>
            <a:endParaRPr lang="ru-RU" dirty="0" smtClean="0"/>
          </a:p>
          <a:p>
            <a:pPr indent="411480">
              <a:buNone/>
            </a:pPr>
            <a:endParaRPr lang="ru-RU" dirty="0" smtClean="0"/>
          </a:p>
          <a:p>
            <a:pPr indent="411480">
              <a:buNone/>
            </a:pPr>
            <a:r>
              <a:rPr lang="ru-RU" b="1" i="1" dirty="0" smtClean="0"/>
              <a:t>Цель эксперимента как исследовательской стратегии теперь </a:t>
            </a:r>
            <a:r>
              <a:rPr lang="ru-RU" dirty="0" smtClean="0"/>
              <a:t>— выделить в изучаемом объекте существенные взаимосвязи</a:t>
            </a:r>
            <a:endParaRPr lang="ru-RU" dirty="0" smtClean="0"/>
          </a:p>
          <a:p>
            <a:endParaRPr lang="ru-R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939784"/>
          </a:xfrm>
        </p:spPr>
        <p:txBody>
          <a:bodyPr>
            <a:normAutofit fontScale="90000"/>
            <a:scene3d>
              <a:camera prst="orthographicFront"/>
              <a:lightRig rig="soft" dir="t">
                <a:rot lat="0" lon="0" rev="10800000"/>
              </a:lightRig>
            </a:scene3d>
            <a:sp3d>
              <a:bevelT w="27940" h="12700"/>
              <a:contourClr>
                <a:srgbClr val="DDDDDD"/>
              </a:contourClr>
            </a:sp3d>
          </a:bodyPr>
          <a:lstStyle/>
          <a:p>
            <a:r>
              <a:rPr lang="ru-RU" spc="150" dirty="0" smtClean="0">
                <a:ln w="11430"/>
                <a:solidFill>
                  <a:srgbClr val="F8F8F8"/>
                </a:solidFill>
                <a:effectLst>
                  <a:outerShdw blurRad="25400" algn="tl" rotWithShape="0">
                    <a:srgbClr val="000000">
                      <a:alpha val="43000"/>
                    </a:srgbClr>
                  </a:outerShdw>
                </a:effectLst>
              </a:rPr>
              <a:t>Идеальный эксперимент и его свойства</a:t>
            </a:r>
            <a:endParaRPr lang="ru-RU" spc="150" dirty="0">
              <a:ln w="11430"/>
              <a:solidFill>
                <a:srgbClr val="F8F8F8"/>
              </a:solidFill>
              <a:effectLst>
                <a:outerShdw blurRad="25400" algn="tl" rotWithShape="0">
                  <a:srgbClr val="000000">
                    <a:alpha val="43000"/>
                  </a:srgbClr>
                </a:outerShdw>
              </a:effectLst>
            </a:endParaRPr>
          </a:p>
        </p:txBody>
      </p:sp>
      <p:sp>
        <p:nvSpPr>
          <p:cNvPr id="3" name="Содержимое 2"/>
          <p:cNvSpPr>
            <a:spLocks noGrp="1"/>
          </p:cNvSpPr>
          <p:nvPr>
            <p:ph idx="1"/>
          </p:nvPr>
        </p:nvSpPr>
        <p:spPr>
          <a:xfrm>
            <a:off x="457200" y="1428736"/>
            <a:ext cx="8229600" cy="4880624"/>
          </a:xfrm>
        </p:spPr>
        <p:txBody>
          <a:bodyPr>
            <a:normAutofit fontScale="92500" lnSpcReduction="20000"/>
          </a:bodyPr>
          <a:lstStyle/>
          <a:p>
            <a:pPr indent="411480">
              <a:buNone/>
            </a:pPr>
            <a:r>
              <a:rPr lang="ru-RU" b="1" i="1" dirty="0" smtClean="0"/>
              <a:t>Идеальный эксперимент </a:t>
            </a:r>
            <a:r>
              <a:rPr lang="ru-RU" dirty="0" smtClean="0"/>
              <a:t>- это абстракция, которая представляет в явном виде и стратегию экспериментатора, и логическую структуру, извлекаемую экспериментатором из исследуемой области. </a:t>
            </a:r>
            <a:endParaRPr lang="ru-RU" dirty="0" smtClean="0"/>
          </a:p>
          <a:p>
            <a:endParaRPr lang="ru-RU" dirty="0" smtClean="0"/>
          </a:p>
          <a:p>
            <a:r>
              <a:rPr lang="ru-RU" dirty="0" smtClean="0"/>
              <a:t>Условия экспериментирования являются абсолютно стабильными</a:t>
            </a:r>
            <a:endParaRPr lang="ru-RU" dirty="0" smtClean="0"/>
          </a:p>
          <a:p>
            <a:r>
              <a:rPr lang="ru-RU" dirty="0" smtClean="0"/>
              <a:t>Эксперимент идеально, без искажений, воспроизводим и поддерживаем в этом состоянии</a:t>
            </a:r>
            <a:endParaRPr lang="ru-RU" dirty="0" smtClean="0"/>
          </a:p>
          <a:p>
            <a:r>
              <a:rPr lang="ru-RU" dirty="0" smtClean="0"/>
              <a:t>Экспериментальная ситуация полностью отражает те естественные ситуации, абстракцией которых она является </a:t>
            </a:r>
            <a:endParaRPr lang="ru-RU" dirty="0" smtClean="0"/>
          </a:p>
          <a:p>
            <a:endParaRPr lang="ru-R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96908"/>
          </a:xfrm>
        </p:spPr>
        <p:txBody>
          <a:bodyPr>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r>
              <a:rPr lang="ru-RU"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Разновидности экспериментов</a:t>
            </a:r>
            <a:endParaRPr lang="ru-RU"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Содержимое 2"/>
          <p:cNvSpPr>
            <a:spLocks noGrp="1"/>
          </p:cNvSpPr>
          <p:nvPr>
            <p:ph idx="1"/>
          </p:nvPr>
        </p:nvSpPr>
        <p:spPr/>
        <p:txBody>
          <a:bodyPr/>
          <a:lstStyle/>
          <a:p>
            <a:r>
              <a:rPr lang="ru-RU" b="1" dirty="0" smtClean="0"/>
              <a:t>по условиям проведения  </a:t>
            </a:r>
            <a:r>
              <a:rPr lang="ru-RU" dirty="0" smtClean="0"/>
              <a:t>-  естественные и искусственные</a:t>
            </a:r>
            <a:endParaRPr lang="ru-RU" dirty="0" smtClean="0"/>
          </a:p>
          <a:p>
            <a:r>
              <a:rPr lang="ru-RU" b="1" dirty="0" smtClean="0"/>
              <a:t>по целям исследования </a:t>
            </a:r>
            <a:r>
              <a:rPr lang="ru-RU" dirty="0" smtClean="0"/>
              <a:t>- преобразующие, контролирующие, констатирующие, поисковые</a:t>
            </a:r>
            <a:endParaRPr lang="ru-RU" dirty="0" smtClean="0"/>
          </a:p>
          <a:p>
            <a:r>
              <a:rPr lang="ru-RU" dirty="0" smtClean="0"/>
              <a:t> </a:t>
            </a:r>
            <a:r>
              <a:rPr lang="ru-RU" b="1" dirty="0" smtClean="0"/>
              <a:t>по степени контролируемости факторов </a:t>
            </a:r>
            <a:r>
              <a:rPr lang="ru-RU" dirty="0" smtClean="0"/>
              <a:t>- активные и пассивные (регистрирующие)</a:t>
            </a:r>
            <a:endParaRPr lang="ru-RU" dirty="0" smtClean="0"/>
          </a:p>
          <a:p>
            <a:r>
              <a:rPr lang="ru-RU" b="1" dirty="0" smtClean="0"/>
              <a:t>по количеству факторов </a:t>
            </a:r>
            <a:r>
              <a:rPr lang="ru-RU" dirty="0" smtClean="0"/>
              <a:t>- однофакторные и многофакторные и т.д.</a:t>
            </a:r>
            <a:endParaRPr lang="ru-RU" dirty="0" smtClean="0"/>
          </a:p>
          <a:p>
            <a:endParaRPr lang="ru-R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rPr>
              <a:t>По условиям проведения</a:t>
            </a:r>
            <a:endParaRPr lang="ru-RU"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ndParaRPr>
          </a:p>
        </p:txBody>
      </p:sp>
      <p:sp>
        <p:nvSpPr>
          <p:cNvPr id="3" name="Содержимое 2"/>
          <p:cNvSpPr>
            <a:spLocks noGrp="1"/>
          </p:cNvSpPr>
          <p:nvPr>
            <p:ph idx="1"/>
          </p:nvPr>
        </p:nvSpPr>
        <p:spPr/>
        <p:txBody>
          <a:bodyPr/>
          <a:lstStyle/>
          <a:p>
            <a:r>
              <a:rPr lang="ru-RU" b="1" i="1" dirty="0" smtClean="0"/>
              <a:t>Естественный эксперимент </a:t>
            </a:r>
            <a:r>
              <a:rPr lang="ru-RU" dirty="0" smtClean="0"/>
              <a:t>предполагает изучение объекта в реальных условиях его существования; </a:t>
            </a:r>
            <a:endParaRPr lang="ru-RU" dirty="0" smtClean="0"/>
          </a:p>
          <a:p>
            <a:endParaRPr lang="ru-RU" dirty="0" smtClean="0"/>
          </a:p>
          <a:p>
            <a:r>
              <a:rPr lang="ru-RU" b="1" i="1" dirty="0" smtClean="0"/>
              <a:t>Искусственный (лабораторный) </a:t>
            </a:r>
            <a:r>
              <a:rPr lang="ru-RU" dirty="0" smtClean="0"/>
              <a:t>эксперимент требует для своего проведения специально создаваемой обстановки. </a:t>
            </a:r>
            <a:endParaRPr lang="ru-R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82594"/>
          </a:xfrm>
        </p:spPr>
        <p:txBody>
          <a:bodyPr>
            <a:normAutofit fontScale="90000"/>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rPr>
              <a:t>По цели эксперимента</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endParaRPr>
          </a:p>
        </p:txBody>
      </p:sp>
      <p:sp>
        <p:nvSpPr>
          <p:cNvPr id="3" name="Содержимое 2"/>
          <p:cNvSpPr>
            <a:spLocks noGrp="1"/>
          </p:cNvSpPr>
          <p:nvPr>
            <p:ph idx="1"/>
          </p:nvPr>
        </p:nvSpPr>
        <p:spPr>
          <a:xfrm>
            <a:off x="214282" y="1071546"/>
            <a:ext cx="8929718" cy="5786454"/>
          </a:xfrm>
        </p:spPr>
        <p:txBody>
          <a:bodyPr>
            <a:normAutofit fontScale="77500" lnSpcReduction="20000"/>
          </a:bodyPr>
          <a:lstStyle/>
          <a:p>
            <a:pPr algn="ctr"/>
            <a:r>
              <a:rPr lang="ru-RU" i="1" dirty="0" smtClean="0"/>
              <a:t>Эксперимент преобразующий</a:t>
            </a:r>
            <a:r>
              <a:rPr lang="ru-RU" dirty="0" smtClean="0"/>
              <a:t> предполагает активное изменение структуры и функций изучаемого объекта, преднамеренное создание условий, которые должны способствовать появлению его новых качеств. </a:t>
            </a:r>
            <a:endParaRPr lang="ru-RU" dirty="0" smtClean="0"/>
          </a:p>
          <a:p>
            <a:pPr algn="ctr"/>
            <a:endParaRPr lang="ru-RU" dirty="0" smtClean="0"/>
          </a:p>
          <a:p>
            <a:pPr algn="ctr"/>
            <a:r>
              <a:rPr lang="ru-RU" i="1" dirty="0" smtClean="0"/>
              <a:t>Контролирующий эксперимент</a:t>
            </a:r>
            <a:r>
              <a:rPr lang="ru-RU" dirty="0" smtClean="0"/>
              <a:t> обеспечивает контроль над изучаемым объектом, управляет объектом с помощью воздействующих факторов.</a:t>
            </a:r>
            <a:endParaRPr lang="ru-RU" dirty="0" smtClean="0"/>
          </a:p>
          <a:p>
            <a:pPr algn="ctr"/>
            <a:endParaRPr lang="ru-RU" dirty="0" smtClean="0"/>
          </a:p>
          <a:p>
            <a:pPr algn="ctr"/>
            <a:r>
              <a:rPr lang="ru-RU" i="1" dirty="0" smtClean="0"/>
              <a:t>Констатирующий эксперимент</a:t>
            </a:r>
            <a:r>
              <a:rPr lang="ru-RU" dirty="0" smtClean="0"/>
              <a:t>  - процедура проверки какого-либо исходного предположения; </a:t>
            </a:r>
            <a:endParaRPr lang="ru-RU" dirty="0" smtClean="0"/>
          </a:p>
          <a:p>
            <a:pPr algn="ctr"/>
            <a:endParaRPr lang="ru-RU" dirty="0" smtClean="0"/>
          </a:p>
          <a:p>
            <a:pPr algn="ctr"/>
            <a:r>
              <a:rPr lang="ru-RU" i="1" dirty="0" smtClean="0"/>
              <a:t>Поисковый эксперимент</a:t>
            </a:r>
            <a:r>
              <a:rPr lang="ru-RU" dirty="0" smtClean="0"/>
              <a:t> не имеет всецело систематического характера; часто он является лишь начальной стадией в серии экспериментальных исследований. </a:t>
            </a:r>
            <a:endParaRPr lang="ru-RU" dirty="0" smtClean="0"/>
          </a:p>
          <a:p>
            <a:pPr algn="ctr"/>
            <a:endParaRPr lang="ru-RU" dirty="0" smtClean="0"/>
          </a:p>
          <a:p>
            <a:pPr algn="ctr"/>
            <a:r>
              <a:rPr lang="ru-RU" i="1" dirty="0" smtClean="0"/>
              <a:t>решающий эксперимент - </a:t>
            </a:r>
            <a:r>
              <a:rPr lang="ru-RU" dirty="0" smtClean="0"/>
              <a:t>когда две или несколько гипотез конкурируют друг с другом, претендуя на роль ведущей и примерно одинаково согласуясь с имеющимся эмпирическим базисом. </a:t>
            </a:r>
            <a:endParaRPr lang="ru-RU" dirty="0" smtClean="0"/>
          </a:p>
          <a:p>
            <a:endParaRPr lang="ru-R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rPr>
              <a:t>По степени контролируемости факторов</a:t>
            </a:r>
            <a:b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b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Содержимое 2"/>
          <p:cNvSpPr>
            <a:spLocks noGrp="1"/>
          </p:cNvSpPr>
          <p:nvPr>
            <p:ph idx="1"/>
          </p:nvPr>
        </p:nvSpPr>
        <p:spPr/>
        <p:txBody>
          <a:bodyPr>
            <a:normAutofit fontScale="92500" lnSpcReduction="10000"/>
          </a:bodyPr>
          <a:lstStyle/>
          <a:p>
            <a:r>
              <a:rPr lang="ru-RU" i="1" dirty="0" smtClean="0"/>
              <a:t>Эксперимент активный</a:t>
            </a:r>
            <a:r>
              <a:rPr lang="ru-RU" dirty="0" smtClean="0"/>
              <a:t> предполагает возможность существенного управления независимыми переменными. </a:t>
            </a:r>
            <a:endParaRPr lang="ru-RU" dirty="0" smtClean="0"/>
          </a:p>
          <a:p>
            <a:r>
              <a:rPr lang="ru-RU" i="1" dirty="0" smtClean="0"/>
              <a:t>Ситуация пассивного, или регистрирующего, эксперимента - </a:t>
            </a:r>
            <a:r>
              <a:rPr lang="ru-RU" dirty="0" smtClean="0"/>
              <a:t>ситуация изменяется, но экспериментатор не в состоянии целенаправленно воздействовать на нее.</a:t>
            </a:r>
            <a:endParaRPr lang="ru-RU" dirty="0" smtClean="0"/>
          </a:p>
          <a:p>
            <a:r>
              <a:rPr lang="ru-RU" i="1" dirty="0" smtClean="0"/>
              <a:t>Корреляционные исследования  </a:t>
            </a:r>
            <a:r>
              <a:rPr lang="ru-RU" dirty="0" smtClean="0"/>
              <a:t>- возможность активного вмешательства в изучаемые процессы весьма ограниченна</a:t>
            </a:r>
            <a:endParaRPr lang="ru-RU" dirty="0" smtClean="0"/>
          </a:p>
          <a:p>
            <a:r>
              <a:rPr lang="ru-RU" i="1" dirty="0" smtClean="0"/>
              <a:t>Мысленный эксперимент </a:t>
            </a:r>
            <a:r>
              <a:rPr lang="ru-RU" dirty="0" smtClean="0"/>
              <a:t>- как средство расширения доступных им экспериментальных средств.</a:t>
            </a:r>
            <a:endParaRPr lang="ru-R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rPr>
              <a:t>По количеству факторов</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endParaRPr>
          </a:p>
        </p:txBody>
      </p:sp>
      <p:sp>
        <p:nvSpPr>
          <p:cNvPr id="3" name="Содержимое 2"/>
          <p:cNvSpPr>
            <a:spLocks noGrp="1"/>
          </p:cNvSpPr>
          <p:nvPr>
            <p:ph idx="1"/>
          </p:nvPr>
        </p:nvSpPr>
        <p:spPr/>
        <p:txBody>
          <a:bodyPr>
            <a:normAutofit/>
          </a:bodyPr>
          <a:lstStyle/>
          <a:p>
            <a:r>
              <a:rPr lang="ru-RU" b="1" dirty="0" smtClean="0"/>
              <a:t>Однофакторный, или классический – </a:t>
            </a:r>
            <a:r>
              <a:rPr lang="ru-RU" dirty="0" smtClean="0"/>
              <a:t>исследователь имеет возможность варьировать факторы, участвующие в исследовательской ситуации, по одному</a:t>
            </a:r>
            <a:endParaRPr lang="ru-RU" dirty="0" smtClean="0"/>
          </a:p>
          <a:p>
            <a:endParaRPr lang="ru-RU" dirty="0" smtClean="0"/>
          </a:p>
          <a:p>
            <a:r>
              <a:rPr lang="ru-RU" b="1" dirty="0" smtClean="0"/>
              <a:t>Многофакторный эксперимент – </a:t>
            </a:r>
            <a:r>
              <a:rPr lang="ru-RU" dirty="0" smtClean="0"/>
              <a:t>факторы, воздействующие на изучаемый объект, действуют не изолированно и не независимо друг от друга, а довольно сложным, взаимосвязанным способом.</a:t>
            </a:r>
            <a:endParaRPr 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ru-RU"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n-lt"/>
              </a:rPr>
              <a:t>Достоинства многофакторного эксперимента</a:t>
            </a:r>
            <a:endParaRPr lang="ru-RU"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n-lt"/>
            </a:endParaRPr>
          </a:p>
        </p:txBody>
      </p:sp>
      <p:sp>
        <p:nvSpPr>
          <p:cNvPr id="3" name="Содержимое 2"/>
          <p:cNvSpPr>
            <a:spLocks noGrp="1"/>
          </p:cNvSpPr>
          <p:nvPr>
            <p:ph idx="1"/>
          </p:nvPr>
        </p:nvSpPr>
        <p:spPr/>
        <p:txBody>
          <a:bodyPr>
            <a:normAutofit/>
          </a:bodyPr>
          <a:lstStyle/>
          <a:p>
            <a:pPr lvl="0"/>
            <a:r>
              <a:rPr lang="ru-RU" dirty="0" smtClean="0"/>
              <a:t>Эффективность использования времени и средств, что выражается прежде всего в сокращении числа опытов, необходимых для решения исследовательской задачи</a:t>
            </a:r>
            <a:endParaRPr lang="ru-RU" dirty="0" smtClean="0"/>
          </a:p>
          <a:p>
            <a:pPr lvl="0"/>
            <a:r>
              <a:rPr lang="ru-RU" dirty="0" smtClean="0"/>
              <a:t>Значительная информативность эксперимента</a:t>
            </a:r>
            <a:endParaRPr lang="ru-RU" dirty="0" smtClean="0"/>
          </a:p>
          <a:p>
            <a:r>
              <a:rPr lang="ru-RU" dirty="0" smtClean="0"/>
              <a:t>Высокая степень достоверности данных</a:t>
            </a:r>
            <a:endParaRPr lang="ru-R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ru-RU"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n-lt"/>
              </a:rPr>
              <a:t>Этапы экспериментального исследования</a:t>
            </a:r>
            <a:endParaRPr lang="ru-RU"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n-lt"/>
            </a:endParaRPr>
          </a:p>
        </p:txBody>
      </p:sp>
      <p:sp>
        <p:nvSpPr>
          <p:cNvPr id="3" name="Содержимое 2"/>
          <p:cNvSpPr>
            <a:spLocks noGrp="1"/>
          </p:cNvSpPr>
          <p:nvPr>
            <p:ph idx="1"/>
          </p:nvPr>
        </p:nvSpPr>
        <p:spPr/>
        <p:txBody>
          <a:bodyPr>
            <a:normAutofit fontScale="92500"/>
          </a:bodyPr>
          <a:lstStyle/>
          <a:p>
            <a:r>
              <a:rPr lang="ru-RU" b="1" dirty="0" smtClean="0"/>
              <a:t>Разработка программы эксперимента</a:t>
            </a:r>
            <a:endParaRPr lang="ru-RU" b="1" dirty="0" smtClean="0"/>
          </a:p>
          <a:p>
            <a:r>
              <a:rPr lang="ru-RU" b="1" dirty="0" smtClean="0"/>
              <a:t>Разработка адекватной методики (</a:t>
            </a:r>
            <a:r>
              <a:rPr lang="ru-RU" dirty="0" smtClean="0"/>
              <a:t>Методика исследования — это упорядоченная совокупность предписаний, необходимая и достаточная для достижения цели исследования.) </a:t>
            </a:r>
            <a:endParaRPr lang="ru-RU" dirty="0" smtClean="0"/>
          </a:p>
          <a:p>
            <a:r>
              <a:rPr lang="ru-RU" b="1" dirty="0" smtClean="0"/>
              <a:t>План эксперимента</a:t>
            </a:r>
            <a:r>
              <a:rPr lang="ru-RU" dirty="0" smtClean="0"/>
              <a:t> (План эксперимента — это определенная логическая схема, выбранная для достижения исследовательских целей. )</a:t>
            </a:r>
            <a:endParaRPr lang="ru-RU" dirty="0" smtClean="0"/>
          </a:p>
          <a:p>
            <a:r>
              <a:rPr lang="ru-RU" b="1" dirty="0" smtClean="0"/>
              <a:t>Непосредственное проведение исследований</a:t>
            </a:r>
            <a:r>
              <a:rPr lang="ru-RU" dirty="0" smtClean="0"/>
              <a:t> </a:t>
            </a:r>
            <a:endParaRPr lang="ru-RU" dirty="0" smtClean="0"/>
          </a:p>
          <a:p>
            <a:r>
              <a:rPr lang="ru-RU" b="1" dirty="0" smtClean="0"/>
              <a:t>Анализ и обобщение результатов эксперим</a:t>
            </a:r>
            <a:r>
              <a:rPr lang="ru-RU" dirty="0" smtClean="0"/>
              <a:t>е</a:t>
            </a:r>
            <a:r>
              <a:rPr lang="ru-RU" b="1" dirty="0" smtClean="0"/>
              <a:t>нта</a:t>
            </a:r>
            <a:endParaRPr lang="ru-RU" dirty="0" smtClean="0"/>
          </a:p>
          <a:p>
            <a:endParaRPr lang="ru-RU" dirty="0" smtClean="0"/>
          </a:p>
          <a:p>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scene3d>
              <a:camera prst="orthographicFront"/>
              <a:lightRig rig="glow" dir="tl">
                <a:rot lat="0" lon="0" rev="5400000"/>
              </a:lightRig>
            </a:scene3d>
            <a:sp3d contourW="12700">
              <a:bevelT w="25400" h="25400"/>
              <a:contourClr>
                <a:schemeClr val="accent6">
                  <a:shade val="73000"/>
                </a:schemeClr>
              </a:contourClr>
            </a:sp3d>
          </a:bodyPr>
          <a:lstStyle/>
          <a:p>
            <a:r>
              <a:rPr lang="ru-RU"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rPr>
              <a:t>Особенности современного научного эксперимента</a:t>
            </a:r>
            <a:endParaRPr lang="ru-RU"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n-lt"/>
            </a:endParaRPr>
          </a:p>
        </p:txBody>
      </p:sp>
      <p:sp>
        <p:nvSpPr>
          <p:cNvPr id="3" name="Содержимое 2"/>
          <p:cNvSpPr>
            <a:spLocks noGrp="1"/>
          </p:cNvSpPr>
          <p:nvPr>
            <p:ph idx="1"/>
          </p:nvPr>
        </p:nvSpPr>
        <p:spPr/>
        <p:txBody>
          <a:bodyPr>
            <a:normAutofit fontScale="92500" lnSpcReduction="20000"/>
          </a:bodyPr>
          <a:lstStyle/>
          <a:p>
            <a:r>
              <a:rPr lang="ru-RU" dirty="0" smtClean="0"/>
              <a:t>Высокий уровень его материально-технического обеспечения, требующий, как правило, работы целого научного коллектива; </a:t>
            </a:r>
            <a:endParaRPr lang="ru-RU" dirty="0" smtClean="0"/>
          </a:p>
          <a:p>
            <a:endParaRPr lang="ru-RU" dirty="0" smtClean="0"/>
          </a:p>
          <a:p>
            <a:r>
              <a:rPr lang="ru-RU" dirty="0" smtClean="0"/>
              <a:t>Использование мощных технологий обработки данных (компьютерных методов, схем статистического анализа, использование приемов математического моделирования);</a:t>
            </a:r>
            <a:endParaRPr lang="ru-RU" dirty="0" smtClean="0"/>
          </a:p>
          <a:p>
            <a:endParaRPr lang="ru-RU" dirty="0" smtClean="0"/>
          </a:p>
          <a:p>
            <a:r>
              <a:rPr lang="ru-RU" dirty="0" smtClean="0"/>
              <a:t>Взаимодействие подходов из различных областей науки для решения конкретных проблем (например, применение методов физики в биологических исследованиях). </a:t>
            </a:r>
            <a:endParaRPr lang="ru-RU"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p:txBody>
          <a:bodyPr/>
          <a:p>
            <a:endParaRPr lang="ru-RU" altLang="en-US"/>
          </a:p>
        </p:txBody>
      </p:sp>
      <p:sp>
        <p:nvSpPr>
          <p:cNvPr id="3" name="Замещающее содержимое 2"/>
          <p:cNvSpPr>
            <a:spLocks noGrp="1"/>
          </p:cNvSpPr>
          <p:nvPr>
            <p:ph idx="1"/>
          </p:nvPr>
        </p:nvSpPr>
        <p:spPr/>
        <p:txBody>
          <a:bodyPr/>
          <a:p>
            <a:r>
              <a:rPr lang="ru-RU" altLang="en-US"/>
              <a:t>На этом этапе происходит фиксация информации об изучаемом объекте или явлении на уровне восприятия. Описываются очевидные факты, выявленные методом ощущения, и представления исследователя, а также соответствующими измерительными приборами.</a:t>
            </a:r>
            <a:endParaRPr lang="ru-RU"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a:xfrm>
            <a:off x="457200" y="571500"/>
            <a:ext cx="8229600" cy="1357313"/>
          </a:xfrm>
        </p:spPr>
        <p:txBody>
          <a:bodyPr vert="horz" wrap="square" lIns="91440" tIns="45720" rIns="91440" bIns="45720" numCol="1"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ru-RU" sz="4000" b="1" i="0" u="none" strike="noStrike" kern="1200" cap="none" spc="0" normalizeH="0" baseline="0" noProof="0" dirty="0">
                <a:ln>
                  <a:noFill/>
                </a:ln>
                <a:solidFill>
                  <a:schemeClr val="tx2"/>
                </a:solidFill>
                <a:effectLst/>
                <a:uLnTx/>
                <a:uFillTx/>
                <a:latin typeface="+mj-lt"/>
                <a:ea typeface="+mj-ea"/>
                <a:cs typeface="+mj-cs"/>
              </a:rPr>
              <a:t> </a:t>
            </a:r>
            <a:br>
              <a:rPr kumimoji="0" lang="ru-RU" sz="4000" b="0" i="0" u="none" strike="noStrike" kern="1200" cap="none" spc="0" normalizeH="0" baseline="0" noProof="0" dirty="0">
                <a:ln>
                  <a:noFill/>
                </a:ln>
                <a:solidFill>
                  <a:schemeClr val="tx2"/>
                </a:solidFill>
                <a:effectLst/>
                <a:uLnTx/>
                <a:uFillTx/>
                <a:latin typeface="+mj-lt"/>
                <a:ea typeface="+mj-ea"/>
                <a:cs typeface="+mj-cs"/>
              </a:rPr>
            </a:br>
            <a:r>
              <a:rPr kumimoji="0" lang="ru-RU" sz="4000" b="1" i="0" u="none" strike="noStrike" kern="1200" cap="none" spc="0" normalizeH="0" baseline="0" noProof="0" dirty="0">
                <a:ln>
                  <a:noFill/>
                </a:ln>
                <a:solidFill>
                  <a:srgbClr val="FF0000"/>
                </a:solidFill>
                <a:effectLst/>
                <a:uLnTx/>
                <a:uFillTx/>
                <a:latin typeface="+mj-lt"/>
                <a:ea typeface="+mj-ea"/>
                <a:cs typeface="+mj-cs"/>
              </a:rPr>
              <a:t> Моделирование как метод научного познания</a:t>
            </a:r>
            <a:br>
              <a:rPr kumimoji="0" lang="ru-RU" sz="4000" b="0" i="0" u="none" strike="noStrike" kern="1200" cap="none" spc="0" normalizeH="0" baseline="0" noProof="0" dirty="0">
                <a:ln>
                  <a:noFill/>
                </a:ln>
                <a:solidFill>
                  <a:schemeClr val="tx2"/>
                </a:solidFill>
                <a:effectLst/>
                <a:uLnTx/>
                <a:uFillTx/>
                <a:latin typeface="+mj-lt"/>
                <a:ea typeface="+mj-ea"/>
                <a:cs typeface="+mj-cs"/>
              </a:rPr>
            </a:br>
            <a:endParaRPr kumimoji="0" lang="ru-RU"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Содержимое 2"/>
          <p:cNvSpPr>
            <a:spLocks noGrp="1"/>
          </p:cNvSpPr>
          <p:nvPr>
            <p:ph idx="1"/>
          </p:nvPr>
        </p:nvSpPr>
        <p:spPr>
          <a:xfrm>
            <a:off x="214313" y="2286000"/>
            <a:ext cx="8472488" cy="4429125"/>
          </a:xfrm>
        </p:spPr>
        <p:txBody>
          <a:bodyPr vert="horz" wrap="square" lIns="91440" tIns="45720" rIns="91440" bIns="45720" numCol="1" anchor="t" anchorCtr="0" compatLnSpc="1">
            <a:normAutofit fontScale="32500" lnSpcReduction="20000"/>
          </a:bodyPr>
          <a:lstStyle/>
          <a:p>
            <a:pPr marL="365760" marR="0" lvl="0" indent="-255905" algn="just" defTabSz="914400" rtl="0" eaLnBrk="1" fontAlgn="auto" latinLnBrk="0" hangingPunct="1">
              <a:lnSpc>
                <a:spcPct val="100000"/>
              </a:lnSpc>
              <a:spcBef>
                <a:spcPts val="300"/>
              </a:spcBef>
              <a:spcAft>
                <a:spcPts val="0"/>
              </a:spcAft>
              <a:buClr>
                <a:schemeClr val="accent3"/>
              </a:buClr>
              <a:buSzTx/>
              <a:buFont typeface="Georgia" panose="02040502050405020303"/>
              <a:buNone/>
              <a:defRPr/>
            </a:pPr>
            <a:r>
              <a:rPr kumimoji="0" lang="ru-RU" sz="8000" b="1" i="1" u="none" strike="noStrike" kern="1200" cap="none" spc="0" normalizeH="0" baseline="0" noProof="0" dirty="0">
                <a:ln>
                  <a:noFill/>
                </a:ln>
                <a:solidFill>
                  <a:srgbClr val="FF0000"/>
                </a:solidFill>
                <a:effectLst/>
                <a:uLnTx/>
                <a:uFillTx/>
                <a:latin typeface="+mn-lt"/>
                <a:ea typeface="+mn-ea"/>
                <a:cs typeface="+mn-cs"/>
              </a:rPr>
              <a:t>   Моделирование  - </a:t>
            </a:r>
            <a:r>
              <a:rPr kumimoji="0" lang="ru-RU" sz="6500" b="1" i="0" u="none" strike="noStrike" kern="1200" cap="none" spc="0" normalizeH="0" baseline="0" noProof="0" dirty="0">
                <a:ln>
                  <a:noFill/>
                </a:ln>
                <a:solidFill>
                  <a:schemeClr val="tx1"/>
                </a:solidFill>
                <a:effectLst/>
                <a:uLnTx/>
                <a:uFillTx/>
                <a:latin typeface="+mn-lt"/>
                <a:ea typeface="+mn-ea"/>
                <a:cs typeface="+mn-cs"/>
              </a:rPr>
              <a:t>рассматриваются как один из методов познания и преобразования мира, получивший особо широкое распространение с развитием науки, обусловившим создание новых типов моделей, раскрывающих новые функции самого метода.</a:t>
            </a:r>
            <a:r>
              <a:rPr kumimoji="0" lang="ru-RU" sz="6500" b="0" i="0" u="none" strike="noStrike" kern="1200" cap="none" spc="0" normalizeH="0" baseline="0" noProof="0" dirty="0">
                <a:ln>
                  <a:noFill/>
                </a:ln>
                <a:solidFill>
                  <a:schemeClr val="tx1"/>
                </a:solidFill>
                <a:effectLst/>
                <a:uLnTx/>
                <a:uFillTx/>
                <a:latin typeface="+mn-lt"/>
                <a:ea typeface="+mn-ea"/>
                <a:cs typeface="+mn-cs"/>
              </a:rPr>
              <a:t> </a:t>
            </a:r>
            <a:endParaRPr kumimoji="0" lang="ru-RU" sz="65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just" defTabSz="914400" rtl="0" eaLnBrk="1" fontAlgn="auto" latinLnBrk="0" hangingPunct="1">
              <a:lnSpc>
                <a:spcPct val="100000"/>
              </a:lnSpc>
              <a:spcBef>
                <a:spcPts val="300"/>
              </a:spcBef>
              <a:spcAft>
                <a:spcPts val="0"/>
              </a:spcAft>
              <a:buClr>
                <a:schemeClr val="accent3"/>
              </a:buClr>
              <a:buSzTx/>
              <a:buFont typeface="Georgia" panose="02040502050405020303"/>
              <a:buNone/>
              <a:defRPr/>
            </a:pPr>
            <a:r>
              <a:rPr kumimoji="0" lang="ru-RU" sz="6500" b="1" i="0" u="none" strike="noStrike" kern="1200" cap="none" spc="0" normalizeH="0" baseline="0" noProof="0" dirty="0">
                <a:ln>
                  <a:noFill/>
                </a:ln>
                <a:solidFill>
                  <a:schemeClr val="tx1"/>
                </a:solidFill>
                <a:effectLst/>
                <a:uLnTx/>
                <a:uFillTx/>
                <a:latin typeface="+mn-lt"/>
                <a:ea typeface="+mn-ea"/>
                <a:cs typeface="+mn-cs"/>
              </a:rPr>
              <a:t>Моделирование в качестве уникальной формы познания применяется при исследовании и преобразовании явлений в любой сфере деятельности:</a:t>
            </a:r>
            <a:endParaRPr kumimoji="0" lang="ru-RU" sz="6500" b="1"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just" defTabSz="914400" rtl="0" eaLnBrk="1" fontAlgn="auto" latinLnBrk="0" hangingPunct="1">
              <a:lnSpc>
                <a:spcPct val="100000"/>
              </a:lnSpc>
              <a:spcBef>
                <a:spcPts val="300"/>
              </a:spcBef>
              <a:spcAft>
                <a:spcPts val="0"/>
              </a:spcAft>
              <a:buClr>
                <a:schemeClr val="accent3"/>
              </a:buClr>
              <a:buSzTx/>
              <a:buFont typeface="Georgia" panose="02040502050405020303"/>
              <a:buNone/>
              <a:defRPr/>
            </a:pPr>
            <a:endParaRPr kumimoji="0" lang="ru-RU" sz="6500" b="1"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just" defTabSz="914400" rtl="0" eaLnBrk="1" fontAlgn="auto" latinLnBrk="0" hangingPunct="1">
              <a:lnSpc>
                <a:spcPct val="100000"/>
              </a:lnSpc>
              <a:spcBef>
                <a:spcPts val="300"/>
              </a:spcBef>
              <a:spcAft>
                <a:spcPts val="0"/>
              </a:spcAft>
              <a:buClr>
                <a:schemeClr val="accent3"/>
              </a:buClr>
              <a:buSzTx/>
              <a:buFont typeface="Georgia" panose="02040502050405020303"/>
              <a:buNone/>
              <a:defRPr/>
            </a:pPr>
            <a:r>
              <a:rPr kumimoji="0" lang="ru-RU" sz="6000" b="1" i="1" u="none" strike="noStrike" kern="1200" cap="none" spc="0" normalizeH="0" baseline="0" noProof="0" dirty="0">
                <a:ln>
                  <a:noFill/>
                </a:ln>
                <a:solidFill>
                  <a:srgbClr val="FF0000"/>
                </a:solidFill>
                <a:effectLst/>
                <a:uLnTx/>
                <a:uFillTx/>
                <a:latin typeface="+mn-lt"/>
                <a:ea typeface="+mn-ea"/>
                <a:cs typeface="+mn-cs"/>
              </a:rPr>
              <a:t>Модель</a:t>
            </a:r>
            <a:r>
              <a:rPr kumimoji="0" lang="ru-RU" sz="6000" b="1" i="0" u="none" strike="noStrike" kern="1200" cap="none" spc="0" normalizeH="0" baseline="0" noProof="0" dirty="0">
                <a:ln>
                  <a:noFill/>
                </a:ln>
                <a:solidFill>
                  <a:srgbClr val="FF0000"/>
                </a:solidFill>
                <a:effectLst/>
                <a:uLnTx/>
                <a:uFillTx/>
                <a:latin typeface="+mn-lt"/>
                <a:ea typeface="+mn-ea"/>
                <a:cs typeface="+mn-cs"/>
              </a:rPr>
              <a:t> </a:t>
            </a:r>
            <a:r>
              <a:rPr kumimoji="0" lang="ru-RU" sz="6000" b="1" i="0" u="none" strike="noStrike" kern="1200" cap="none" spc="0" normalizeH="0" baseline="0" noProof="0" dirty="0">
                <a:ln>
                  <a:noFill/>
                </a:ln>
                <a:solidFill>
                  <a:schemeClr val="tx1"/>
                </a:solidFill>
                <a:effectLst/>
                <a:uLnTx/>
                <a:uFillTx/>
                <a:latin typeface="+mn-lt"/>
                <a:ea typeface="+mn-ea"/>
                <a:cs typeface="+mn-cs"/>
              </a:rPr>
              <a:t>–</a:t>
            </a:r>
            <a:r>
              <a:rPr kumimoji="0" lang="ru-RU" sz="6000" b="0" i="0" u="none" strike="noStrike" kern="1200" cap="none" spc="0" normalizeH="0" baseline="0" noProof="0" dirty="0">
                <a:ln>
                  <a:noFill/>
                </a:ln>
                <a:solidFill>
                  <a:schemeClr val="tx1"/>
                </a:solidFill>
                <a:effectLst/>
                <a:uLnTx/>
                <a:uFillTx/>
                <a:latin typeface="+mn-lt"/>
                <a:ea typeface="+mn-ea"/>
                <a:cs typeface="+mn-cs"/>
              </a:rPr>
              <a:t>  есть аналог оригинала, заместитель исследуемого объекта. </a:t>
            </a:r>
            <a:r>
              <a:rPr kumimoji="0" lang="ru-RU" sz="6000" b="1" i="0" u="none" strike="noStrike" kern="1200" cap="none" spc="0" normalizeH="0" baseline="0" noProof="0" dirty="0">
                <a:ln>
                  <a:noFill/>
                </a:ln>
                <a:solidFill>
                  <a:schemeClr val="tx1"/>
                </a:solidFill>
                <a:effectLst/>
                <a:uLnTx/>
                <a:uFillTx/>
                <a:latin typeface="+mn-lt"/>
                <a:ea typeface="+mn-ea"/>
                <a:cs typeface="+mn-cs"/>
              </a:rPr>
              <a:t>Модель – это система, схема исследования, которая служит средством получения информации о другой системе. Модели делятся на </a:t>
            </a:r>
            <a:r>
              <a:rPr kumimoji="0" lang="ru-RU" sz="6000" b="1" i="1" u="none" strike="noStrike" kern="1200" cap="none" spc="0" normalizeH="0" baseline="0" noProof="0" dirty="0">
                <a:ln>
                  <a:noFill/>
                </a:ln>
                <a:solidFill>
                  <a:schemeClr val="tx1"/>
                </a:solidFill>
                <a:effectLst/>
                <a:uLnTx/>
                <a:uFillTx/>
                <a:latin typeface="+mn-lt"/>
                <a:ea typeface="+mn-ea"/>
                <a:cs typeface="+mn-cs"/>
              </a:rPr>
              <a:t>материальные и идеальные (мысленные).</a:t>
            </a:r>
            <a:endParaRPr kumimoji="0" lang="ru-RU" sz="60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endParaRPr kumimoji="0" lang="ru-RU" sz="6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a:xfrm>
            <a:off x="349885" y="97155"/>
            <a:ext cx="8336915" cy="2112645"/>
          </a:xfrm>
        </p:spPr>
        <p:txBody>
          <a:bodyPr vert="horz" wrap="square" lIns="91440" tIns="45720" rIns="91440" bIns="45720" numCol="1" anchor="ctr"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ru-RU" sz="3600" b="1" i="0" u="none" strike="noStrike" kern="1200" cap="none" spc="0" normalizeH="0" baseline="0" noProof="0" dirty="0">
                <a:ln>
                  <a:noFill/>
                </a:ln>
                <a:solidFill>
                  <a:srgbClr val="FF0000"/>
                </a:solidFill>
                <a:effectLst/>
                <a:uLnTx/>
                <a:uFillTx/>
                <a:latin typeface="+mj-lt"/>
                <a:ea typeface="+mj-ea"/>
                <a:cs typeface="+mj-cs"/>
              </a:rPr>
              <a:t>Технология моделирования, как структурно-логическую последовательность этапов:</a:t>
            </a:r>
            <a:endParaRPr kumimoji="0" lang="ru-RU" sz="3600" b="1" i="0" u="none" strike="noStrike" kern="1200" cap="none" spc="0" normalizeH="0" baseline="0" noProof="0" dirty="0">
              <a:ln>
                <a:noFill/>
              </a:ln>
              <a:solidFill>
                <a:srgbClr val="FF0000"/>
              </a:solidFill>
              <a:effectLst/>
              <a:uLnTx/>
              <a:uFillTx/>
              <a:latin typeface="+mj-lt"/>
              <a:ea typeface="+mj-ea"/>
              <a:cs typeface="+mj-cs"/>
            </a:endParaRPr>
          </a:p>
        </p:txBody>
      </p:sp>
      <p:sp>
        <p:nvSpPr>
          <p:cNvPr id="3" name="Содержимое 2"/>
          <p:cNvSpPr>
            <a:spLocks noGrp="1"/>
          </p:cNvSpPr>
          <p:nvPr>
            <p:ph idx="1"/>
          </p:nvPr>
        </p:nvSpPr>
        <p:spPr>
          <a:xfrm>
            <a:off x="642620" y="2385695"/>
            <a:ext cx="8044180" cy="3923665"/>
          </a:xfrm>
        </p:spPr>
        <p:txBody>
          <a:bodyPr vert="horz" wrap="square" lIns="91440" tIns="45720" rIns="91440" bIns="45720" numCol="1" anchor="t" anchorCtr="0" compatLnSpc="1">
            <a:normAutofit fontScale="92500" lnSpcReduction="10000"/>
          </a:bodyPr>
          <a:lstStyle/>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1" u="sng" strike="noStrike" kern="1200" cap="none" spc="0" normalizeH="0" baseline="0" noProof="0" dirty="0">
                <a:ln>
                  <a:noFill/>
                </a:ln>
                <a:solidFill>
                  <a:srgbClr val="FF0000"/>
                </a:solidFill>
                <a:effectLst/>
                <a:uLnTx/>
                <a:uFillTx/>
                <a:latin typeface="+mn-lt"/>
                <a:ea typeface="+mn-ea"/>
                <a:cs typeface="+mn-cs"/>
              </a:rPr>
              <a:t>Первый этап</a:t>
            </a:r>
            <a:r>
              <a:rPr kumimoji="0" lang="ru-RU" sz="2800" b="1" i="0" u="sng" strike="noStrike" kern="1200" cap="none" spc="0" normalizeH="0" baseline="0" noProof="0" dirty="0">
                <a:ln>
                  <a:noFill/>
                </a:ln>
                <a:solidFill>
                  <a:srgbClr val="FF0000"/>
                </a:solidFill>
                <a:effectLst/>
                <a:uLnTx/>
                <a:uFillTx/>
                <a:latin typeface="+mn-lt"/>
                <a:ea typeface="+mn-ea"/>
                <a:cs typeface="+mn-cs"/>
              </a:rPr>
              <a:t>. </a:t>
            </a:r>
            <a:r>
              <a:rPr kumimoji="0" lang="ru-RU" sz="2800" b="1" i="1" u="sng" strike="noStrike" kern="1200" cap="none" spc="0" normalizeH="0" baseline="0" noProof="0" dirty="0">
                <a:ln>
                  <a:noFill/>
                </a:ln>
                <a:solidFill>
                  <a:srgbClr val="FF0000"/>
                </a:solidFill>
                <a:effectLst/>
                <a:uLnTx/>
                <a:uFillTx/>
                <a:latin typeface="+mn-lt"/>
                <a:ea typeface="+mn-ea"/>
                <a:cs typeface="+mn-cs"/>
              </a:rPr>
              <a:t>Целевой</a:t>
            </a:r>
            <a:r>
              <a:rPr kumimoji="0" lang="ru-RU" sz="2800" b="0" i="0" u="none" strike="noStrike" kern="1200" cap="none" spc="0" normalizeH="0" baseline="0" noProof="0" dirty="0">
                <a:ln>
                  <a:noFill/>
                </a:ln>
                <a:solidFill>
                  <a:schemeClr val="tx1"/>
                </a:solidFill>
                <a:effectLst/>
                <a:uLnTx/>
                <a:uFillTx/>
                <a:latin typeface="+mn-lt"/>
                <a:ea typeface="+mn-ea"/>
                <a:cs typeface="+mn-cs"/>
              </a:rPr>
              <a:t>. Целевой и системно-функциональный, где четко определяется цель и задачи преемственности тех объектов, которые будут выстраивать преемственность. </a:t>
            </a:r>
            <a:endParaRPr kumimoji="0" lang="ru-RU"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1" u="sng" strike="noStrike" kern="1200" cap="none" spc="0" normalizeH="0" baseline="0" noProof="0" dirty="0">
                <a:ln>
                  <a:noFill/>
                </a:ln>
                <a:solidFill>
                  <a:srgbClr val="FF0000"/>
                </a:solidFill>
                <a:effectLst/>
                <a:uLnTx/>
                <a:uFillTx/>
                <a:latin typeface="+mn-lt"/>
                <a:ea typeface="+mn-ea"/>
                <a:cs typeface="+mn-cs"/>
              </a:rPr>
              <a:t>Второй этап</a:t>
            </a:r>
            <a:r>
              <a:rPr kumimoji="0" lang="ru-RU" sz="2800" b="1" i="0" u="sng" strike="noStrike" kern="1200" cap="none" spc="0" normalizeH="0" baseline="0" noProof="0" dirty="0">
                <a:ln>
                  <a:noFill/>
                </a:ln>
                <a:solidFill>
                  <a:srgbClr val="FF0000"/>
                </a:solidFill>
                <a:effectLst/>
                <a:uLnTx/>
                <a:uFillTx/>
                <a:latin typeface="+mn-lt"/>
                <a:ea typeface="+mn-ea"/>
                <a:cs typeface="+mn-cs"/>
              </a:rPr>
              <a:t>. </a:t>
            </a:r>
            <a:r>
              <a:rPr kumimoji="0" lang="ru-RU" sz="2800" b="1" i="1" u="sng" strike="noStrike" kern="1200" cap="none" spc="0" normalizeH="0" baseline="0" noProof="0" dirty="0">
                <a:ln>
                  <a:noFill/>
                </a:ln>
                <a:solidFill>
                  <a:srgbClr val="FF0000"/>
                </a:solidFill>
                <a:effectLst/>
                <a:uLnTx/>
                <a:uFillTx/>
                <a:latin typeface="+mn-lt"/>
                <a:ea typeface="+mn-ea"/>
                <a:cs typeface="+mn-cs"/>
              </a:rPr>
              <a:t>Методологический</a:t>
            </a:r>
            <a:r>
              <a:rPr kumimoji="0" lang="ru-RU" sz="2800" b="0" i="1" u="sng" strike="noStrike" kern="1200" cap="none" spc="0" normalizeH="0" baseline="0" noProof="0" dirty="0">
                <a:ln>
                  <a:noFill/>
                </a:ln>
                <a:solidFill>
                  <a:srgbClr val="FF0000"/>
                </a:solidFill>
                <a:effectLst/>
                <a:uLnTx/>
                <a:uFillTx/>
                <a:latin typeface="+mn-lt"/>
                <a:ea typeface="+mn-ea"/>
                <a:cs typeface="+mn-cs"/>
              </a:rPr>
              <a:t>.</a:t>
            </a:r>
            <a:r>
              <a:rPr kumimoji="0" lang="ru-RU" sz="2800" b="0" i="0" u="sng" strike="noStrike" kern="1200" cap="none" spc="0" normalizeH="0" baseline="0" noProof="0" dirty="0">
                <a:ln>
                  <a:noFill/>
                </a:ln>
                <a:solidFill>
                  <a:srgbClr val="FF0000"/>
                </a:solidFill>
                <a:effectLst/>
                <a:uLnTx/>
                <a:uFillTx/>
                <a:latin typeface="+mn-lt"/>
                <a:ea typeface="+mn-ea"/>
                <a:cs typeface="+mn-cs"/>
              </a:rPr>
              <a:t> </a:t>
            </a:r>
            <a:r>
              <a:rPr kumimoji="0" lang="ru-RU" sz="2800" b="0" i="0" u="none" strike="noStrike" kern="1200" cap="none" spc="0" normalizeH="0" baseline="0" noProof="0" dirty="0">
                <a:ln>
                  <a:noFill/>
                </a:ln>
                <a:solidFill>
                  <a:schemeClr val="tx1"/>
                </a:solidFill>
                <a:effectLst/>
                <a:uLnTx/>
                <a:uFillTx/>
                <a:latin typeface="+mn-lt"/>
                <a:ea typeface="+mn-ea"/>
                <a:cs typeface="+mn-cs"/>
              </a:rPr>
              <a:t>Включающий </a:t>
            </a:r>
            <a:r>
              <a:rPr kumimoji="0" lang="ru-RU" sz="2800" b="0" i="0" u="none" strike="noStrike" kern="1200" cap="none" spc="0" normalizeH="0" baseline="0" noProof="0" dirty="0" err="1">
                <a:ln>
                  <a:noFill/>
                </a:ln>
                <a:solidFill>
                  <a:schemeClr val="tx1"/>
                </a:solidFill>
                <a:effectLst/>
                <a:uLnTx/>
                <a:uFillTx/>
                <a:latin typeface="+mn-lt"/>
                <a:ea typeface="+mn-ea"/>
                <a:cs typeface="+mn-cs"/>
              </a:rPr>
              <a:t>теоретико</a:t>
            </a:r>
            <a:r>
              <a:rPr kumimoji="0" lang="ru-RU" sz="2800" b="0" i="0" u="none" strike="noStrike" kern="1200" cap="none" spc="0" normalizeH="0" baseline="0" noProof="0" dirty="0">
                <a:ln>
                  <a:noFill/>
                </a:ln>
                <a:solidFill>
                  <a:schemeClr val="tx1"/>
                </a:solidFill>
                <a:effectLst/>
                <a:uLnTx/>
                <a:uFillTx/>
                <a:latin typeface="+mn-lt"/>
                <a:ea typeface="+mn-ea"/>
                <a:cs typeface="+mn-cs"/>
              </a:rPr>
              <a:t>- методологический анализ исследуемой проблемы; пакет прогностического инструментария: методологический (подходы, принципы, теории, концепции, идеи)</a:t>
            </a:r>
            <a:r>
              <a:rPr kumimoji="0" lang="ru-RU" sz="2800" b="1" i="0" u="none" strike="noStrike" kern="1200" cap="none" spc="0" normalizeH="0" baseline="0" noProof="0" dirty="0">
                <a:ln>
                  <a:noFill/>
                </a:ln>
                <a:solidFill>
                  <a:schemeClr val="tx1"/>
                </a:solidFill>
                <a:effectLst/>
                <a:uLnTx/>
                <a:uFillTx/>
                <a:latin typeface="+mn-lt"/>
                <a:ea typeface="+mn-ea"/>
                <a:cs typeface="+mn-cs"/>
              </a:rPr>
              <a:t>,</a:t>
            </a:r>
            <a:r>
              <a:rPr kumimoji="0" lang="ru-RU" sz="2800" b="0" i="0" u="none" strike="noStrike" kern="1200" cap="none" spc="0" normalizeH="0" baseline="0" noProof="0" dirty="0">
                <a:ln>
                  <a:noFill/>
                </a:ln>
                <a:solidFill>
                  <a:schemeClr val="tx1"/>
                </a:solidFill>
                <a:effectLst/>
                <a:uLnTx/>
                <a:uFillTx/>
                <a:latin typeface="+mn-lt"/>
                <a:ea typeface="+mn-ea"/>
                <a:cs typeface="+mn-cs"/>
              </a:rPr>
              <a:t> в зависимости от сложности проблемы преемственности.</a:t>
            </a:r>
            <a:endParaRPr kumimoji="0" lang="ru-RU"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Содержимое 2"/>
          <p:cNvSpPr>
            <a:spLocks noGrp="1"/>
          </p:cNvSpPr>
          <p:nvPr>
            <p:ph idx="1"/>
          </p:nvPr>
        </p:nvSpPr>
        <p:spPr>
          <a:xfrm>
            <a:off x="357188" y="1285875"/>
            <a:ext cx="8186738" cy="5411788"/>
          </a:xfrm>
        </p:spPr>
        <p:txBody>
          <a:bodyPr vert="horz" wrap="square" lIns="91440" tIns="45720" rIns="91440" bIns="45720" numCol="1" anchor="t" anchorCtr="0" compatLnSpc="1">
            <a:normAutofit fontScale="85000" lnSpcReduction="20000"/>
          </a:bodyPr>
          <a:lstStyle/>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0" u="sng" strike="noStrike" kern="1200" cap="none" spc="0" normalizeH="0" baseline="0" noProof="0" dirty="0">
                <a:ln>
                  <a:noFill/>
                </a:ln>
                <a:solidFill>
                  <a:srgbClr val="FF0000"/>
                </a:solidFill>
                <a:effectLst/>
                <a:uLnTx/>
                <a:uFillTx/>
                <a:latin typeface="+mn-lt"/>
                <a:ea typeface="+mn-ea"/>
                <a:cs typeface="+mn-cs"/>
              </a:rPr>
              <a:t>Третий этап. Содержательный этап. </a:t>
            </a:r>
            <a:r>
              <a:rPr kumimoji="0" lang="ru-RU" sz="2800" b="1" i="0" u="none" strike="noStrike" kern="1200" cap="none" spc="0" normalizeH="0" baseline="0" noProof="0" dirty="0">
                <a:ln>
                  <a:noFill/>
                </a:ln>
                <a:solidFill>
                  <a:schemeClr val="tx1"/>
                </a:solidFill>
                <a:effectLst/>
                <a:uLnTx/>
                <a:uFillTx/>
                <a:latin typeface="+mn-lt"/>
                <a:ea typeface="+mn-ea"/>
                <a:cs typeface="+mn-cs"/>
              </a:rPr>
              <a:t>Всесторонний  анализ, определяет контуры организуемого процесса, что составляет структуру и содержание процесса преемственности, это может быть программа преемственности, модель или концепция. Ядром содержания разрабатываемой модели преемственности составляют: этапы, блоки, модули, направления, проекты, акции, технологии и др., </a:t>
            </a:r>
            <a:endParaRPr kumimoji="0" lang="ru-RU" sz="2800" b="1"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endParaRPr kumimoji="0" lang="ru-RU" sz="2800" b="1" i="0" u="sng" strike="noStrike" kern="1200" cap="none" spc="0" normalizeH="0" baseline="0" noProof="0" dirty="0">
              <a:ln>
                <a:noFill/>
              </a:ln>
              <a:solidFill>
                <a:srgbClr val="FF0000"/>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0" u="sng" strike="noStrike" kern="1200" cap="none" spc="0" normalizeH="0" baseline="0" noProof="0" dirty="0">
                <a:ln>
                  <a:noFill/>
                </a:ln>
                <a:solidFill>
                  <a:srgbClr val="FF0000"/>
                </a:solidFill>
                <a:effectLst/>
                <a:uLnTx/>
                <a:uFillTx/>
                <a:latin typeface="+mn-lt"/>
                <a:ea typeface="+mn-ea"/>
                <a:cs typeface="+mn-cs"/>
              </a:rPr>
              <a:t>Четвертый этап. </a:t>
            </a:r>
            <a:r>
              <a:rPr kumimoji="0" lang="ru-RU" sz="2800" b="1" i="0" u="sng" strike="noStrike" kern="1200" cap="none" spc="0" normalizeH="0" baseline="0" noProof="0" dirty="0" err="1">
                <a:ln>
                  <a:noFill/>
                </a:ln>
                <a:solidFill>
                  <a:srgbClr val="FF0000"/>
                </a:solidFill>
                <a:effectLst/>
                <a:uLnTx/>
                <a:uFillTx/>
                <a:latin typeface="+mn-lt"/>
                <a:ea typeface="+mn-ea"/>
                <a:cs typeface="+mn-cs"/>
              </a:rPr>
              <a:t>Деятельностный</a:t>
            </a:r>
            <a:r>
              <a:rPr kumimoji="0" lang="ru-RU" sz="2800" b="1" i="0" u="none" strike="noStrike" kern="1200" cap="none" spc="0" normalizeH="0" baseline="0" noProof="0" dirty="0">
                <a:ln>
                  <a:noFill/>
                </a:ln>
                <a:solidFill>
                  <a:schemeClr val="tx1"/>
                </a:solidFill>
                <a:effectLst/>
                <a:uLnTx/>
                <a:uFillTx/>
                <a:latin typeface="+mn-lt"/>
                <a:ea typeface="+mn-ea"/>
                <a:cs typeface="+mn-cs"/>
              </a:rPr>
              <a:t>.</a:t>
            </a:r>
            <a:r>
              <a:rPr kumimoji="0" lang="ru-RU" sz="2800" b="0" i="0" u="none" strike="noStrike" kern="1200" cap="none" spc="0" normalizeH="0" baseline="0" noProof="0" dirty="0">
                <a:ln>
                  <a:noFill/>
                </a:ln>
                <a:solidFill>
                  <a:schemeClr val="tx1"/>
                </a:solidFill>
                <a:effectLst/>
                <a:uLnTx/>
                <a:uFillTx/>
                <a:latin typeface="+mn-lt"/>
                <a:ea typeface="+mn-ea"/>
                <a:cs typeface="+mn-cs"/>
              </a:rPr>
              <a:t> </a:t>
            </a:r>
            <a:r>
              <a:rPr kumimoji="0" lang="ru-RU" sz="2800" b="1" i="0" u="none" strike="noStrike" kern="1200" cap="none" spc="0" normalizeH="0" baseline="0" noProof="0" dirty="0">
                <a:ln>
                  <a:noFill/>
                </a:ln>
                <a:solidFill>
                  <a:schemeClr val="tx1"/>
                </a:solidFill>
                <a:effectLst/>
                <a:uLnTx/>
                <a:uFillTx/>
                <a:latin typeface="+mn-lt"/>
                <a:ea typeface="+mn-ea"/>
                <a:cs typeface="+mn-cs"/>
              </a:rPr>
              <a:t>Механизмы реализации ими могут быть: пути, формы, интерактивные методы, проекты и технологии, средства, система мероприятий, все одним словом, что направлено на реализацию содержания преемственности, что составит основу  содержания модели.</a:t>
            </a:r>
            <a:endParaRPr kumimoji="0" lang="ru-RU" sz="2800" b="1"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endParaRPr kumimoji="0" lang="ru-RU" sz="28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Заголовок 1"/>
          <p:cNvSpPr>
            <a:spLocks noGrp="1"/>
          </p:cNvSpPr>
          <p:nvPr>
            <p:ph type="title"/>
          </p:nvPr>
        </p:nvSpPr>
        <p:spPr>
          <a:xfrm>
            <a:off x="457200" y="500063"/>
            <a:ext cx="8229600" cy="785812"/>
          </a:xfrm>
        </p:spPr>
        <p:txBody>
          <a:bodyPr vert="horz" wrap="square" lIns="91440" tIns="45720" rIns="91440" bIns="45720" anchor="ctr" anchorCtr="0"/>
          <a:p>
            <a:pPr algn="ctr" eaLnBrk="1" hangingPunct="1"/>
            <a:endParaRPr lang="ru-RU" altLang="ru-RU" b="1" dirty="0">
              <a:solidFill>
                <a:srgbClr val="FF0000"/>
              </a:solidFill>
            </a:endParaRPr>
          </a:p>
        </p:txBody>
      </p:sp>
      <p:sp>
        <p:nvSpPr>
          <p:cNvPr id="3" name="Содержимое 2"/>
          <p:cNvSpPr>
            <a:spLocks noGrp="1"/>
          </p:cNvSpPr>
          <p:nvPr>
            <p:ph idx="1"/>
          </p:nvPr>
        </p:nvSpPr>
        <p:spPr>
          <a:xfrm>
            <a:off x="357188" y="1428750"/>
            <a:ext cx="8329613" cy="5429250"/>
          </a:xfrm>
        </p:spPr>
        <p:txBody>
          <a:bodyPr vert="horz" wrap="square" lIns="91440" tIns="45720" rIns="91440" bIns="45720" numCol="1" anchor="t" anchorCtr="0" compatLnSpc="1">
            <a:normAutofit fontScale="85000" lnSpcReduction="20000"/>
          </a:bodyPr>
          <a:lstStyle/>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0" u="sng" strike="noStrike" kern="1200" cap="none" spc="0" normalizeH="0" baseline="0" noProof="0" dirty="0">
                <a:ln>
                  <a:noFill/>
                </a:ln>
                <a:solidFill>
                  <a:srgbClr val="FF0000"/>
                </a:solidFill>
                <a:effectLst/>
                <a:uLnTx/>
                <a:uFillTx/>
                <a:latin typeface="+mn-lt"/>
                <a:ea typeface="+mn-ea"/>
                <a:cs typeface="+mn-cs"/>
              </a:rPr>
              <a:t>Пятый этап. </a:t>
            </a:r>
            <a:r>
              <a:rPr kumimoji="0" lang="ru-RU" sz="2800" b="1" i="0" u="sng" strike="noStrike" kern="1200" cap="none" spc="0" normalizeH="0" baseline="0" noProof="0" dirty="0" err="1">
                <a:ln>
                  <a:noFill/>
                </a:ln>
                <a:solidFill>
                  <a:srgbClr val="FF0000"/>
                </a:solidFill>
                <a:effectLst/>
                <a:uLnTx/>
                <a:uFillTx/>
                <a:latin typeface="+mn-lt"/>
                <a:ea typeface="+mn-ea"/>
                <a:cs typeface="+mn-cs"/>
              </a:rPr>
              <a:t>Критериально-оценочный</a:t>
            </a:r>
            <a:r>
              <a:rPr kumimoji="0" lang="ru-RU" sz="2800" b="0" i="0" u="sng" strike="noStrike" kern="1200" cap="none" spc="0" normalizeH="0" baseline="0" noProof="0" dirty="0">
                <a:ln>
                  <a:noFill/>
                </a:ln>
                <a:solidFill>
                  <a:srgbClr val="FF0000"/>
                </a:solidFill>
                <a:effectLst/>
                <a:uLnTx/>
                <a:uFillTx/>
                <a:latin typeface="+mn-lt"/>
                <a:ea typeface="+mn-ea"/>
                <a:cs typeface="+mn-cs"/>
              </a:rPr>
              <a:t>. </a:t>
            </a:r>
            <a:r>
              <a:rPr kumimoji="0" lang="ru-RU" sz="2800" b="0" i="0" u="none" strike="noStrike" kern="1200" cap="none" spc="0" normalizeH="0" baseline="0" noProof="0" dirty="0">
                <a:ln>
                  <a:noFill/>
                </a:ln>
                <a:solidFill>
                  <a:schemeClr val="tx1"/>
                </a:solidFill>
                <a:effectLst/>
                <a:uLnTx/>
                <a:uFillTx/>
                <a:latin typeface="+mn-lt"/>
                <a:ea typeface="+mn-ea"/>
                <a:cs typeface="+mn-cs"/>
              </a:rPr>
              <a:t>Конкретно определяются критерии, показатели к каждому критерию и уровни, отражающие достигнутые результаты. Особое внимание уделяется предполагаемой динамике процессов преемственности, явлений влияющих как на  профессиональную, социальную активность. Разрабатывается диагностический инструментарий.</a:t>
            </a:r>
            <a:endParaRPr kumimoji="0" lang="ru-RU"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0" u="sng" strike="noStrike" kern="1200" cap="none" spc="0" normalizeH="0" baseline="0" noProof="0" dirty="0">
                <a:ln>
                  <a:noFill/>
                </a:ln>
                <a:solidFill>
                  <a:srgbClr val="FF0000"/>
                </a:solidFill>
                <a:effectLst/>
                <a:uLnTx/>
                <a:uFillTx/>
                <a:latin typeface="+mn-lt"/>
                <a:ea typeface="+mn-ea"/>
                <a:cs typeface="+mn-cs"/>
              </a:rPr>
              <a:t>Шестой этап. Организационный.</a:t>
            </a:r>
            <a:r>
              <a:rPr kumimoji="0" lang="ru-RU" sz="2800" b="0" i="0" u="sng" strike="noStrike" kern="1200" cap="none" spc="0" normalizeH="0" baseline="0" noProof="0" dirty="0">
                <a:ln>
                  <a:noFill/>
                </a:ln>
                <a:solidFill>
                  <a:srgbClr val="FF0000"/>
                </a:solidFill>
                <a:effectLst/>
                <a:uLnTx/>
                <a:uFillTx/>
                <a:latin typeface="+mn-lt"/>
                <a:ea typeface="+mn-ea"/>
                <a:cs typeface="+mn-cs"/>
              </a:rPr>
              <a:t> </a:t>
            </a:r>
            <a:r>
              <a:rPr kumimoji="0" lang="ru-RU" sz="2800" b="0" i="0" u="none" strike="noStrike" kern="1200" cap="none" spc="0" normalizeH="0" baseline="0" noProof="0" dirty="0">
                <a:ln>
                  <a:noFill/>
                </a:ln>
                <a:solidFill>
                  <a:schemeClr val="tx1"/>
                </a:solidFill>
                <a:effectLst/>
                <a:uLnTx/>
                <a:uFillTx/>
                <a:latin typeface="+mn-lt"/>
                <a:ea typeface="+mn-ea"/>
                <a:cs typeface="+mn-cs"/>
              </a:rPr>
              <a:t>Определяются педагогические, организационно-методические, </a:t>
            </a:r>
            <a:r>
              <a:rPr kumimoji="0" lang="ru-RU" sz="2800" b="0" i="1" u="none" strike="noStrike" kern="1200" cap="none" spc="0" normalizeH="0" baseline="0" noProof="0" dirty="0">
                <a:ln>
                  <a:noFill/>
                </a:ln>
                <a:solidFill>
                  <a:schemeClr val="tx1"/>
                </a:solidFill>
                <a:effectLst/>
                <a:uLnTx/>
                <a:uFillTx/>
                <a:latin typeface="+mn-lt"/>
                <a:ea typeface="+mn-ea"/>
                <a:cs typeface="+mn-cs"/>
              </a:rPr>
              <a:t>социально-педагогические, методические, условия</a:t>
            </a:r>
            <a:r>
              <a:rPr kumimoji="0" lang="ru-RU" sz="2800" b="1" i="0" u="none" strike="noStrike" kern="1200" cap="none" spc="0" normalizeH="0" baseline="0" noProof="0" dirty="0">
                <a:ln>
                  <a:noFill/>
                </a:ln>
                <a:solidFill>
                  <a:schemeClr val="tx1"/>
                </a:solidFill>
                <a:effectLst/>
                <a:uLnTx/>
                <a:uFillTx/>
                <a:latin typeface="+mn-lt"/>
                <a:ea typeface="+mn-ea"/>
                <a:cs typeface="+mn-cs"/>
              </a:rPr>
              <a:t> </a:t>
            </a:r>
            <a:r>
              <a:rPr kumimoji="0" lang="ru-RU" sz="2800" b="0" i="0" u="none" strike="noStrike" kern="1200" cap="none" spc="0" normalizeH="0" baseline="0" noProof="0" dirty="0">
                <a:ln>
                  <a:noFill/>
                </a:ln>
                <a:solidFill>
                  <a:schemeClr val="tx1"/>
                </a:solidFill>
                <a:effectLst/>
                <a:uLnTx/>
                <a:uFillTx/>
                <a:latin typeface="+mn-lt"/>
                <a:ea typeface="+mn-ea"/>
                <a:cs typeface="+mn-cs"/>
              </a:rPr>
              <a:t>реализации моделируемого процесса преемственности.</a:t>
            </a:r>
            <a:endParaRPr kumimoji="0" lang="ru-RU"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0" u="sng" strike="noStrike" kern="1200" cap="none" spc="0" normalizeH="0" baseline="0" noProof="0" dirty="0">
                <a:ln>
                  <a:noFill/>
                </a:ln>
                <a:solidFill>
                  <a:srgbClr val="FF0000"/>
                </a:solidFill>
                <a:effectLst/>
                <a:uLnTx/>
                <a:uFillTx/>
                <a:latin typeface="+mn-lt"/>
                <a:ea typeface="+mn-ea"/>
                <a:cs typeface="+mn-cs"/>
              </a:rPr>
              <a:t>Седьмой этап. Результативный</a:t>
            </a:r>
            <a:r>
              <a:rPr kumimoji="0" lang="ru-RU" sz="2800" b="0" i="1" u="sng" strike="noStrike" kern="1200" cap="none" spc="0" normalizeH="0" baseline="0" noProof="0" dirty="0">
                <a:ln>
                  <a:noFill/>
                </a:ln>
                <a:solidFill>
                  <a:srgbClr val="FF0000"/>
                </a:solidFill>
                <a:effectLst/>
                <a:uLnTx/>
                <a:uFillTx/>
                <a:latin typeface="+mn-lt"/>
                <a:ea typeface="+mn-ea"/>
                <a:cs typeface="+mn-cs"/>
              </a:rPr>
              <a:t>.</a:t>
            </a:r>
            <a:r>
              <a:rPr kumimoji="0" lang="ru-RU" sz="2800" b="0" i="0" u="none" strike="noStrike" kern="1200" cap="none" spc="0" normalizeH="0" baseline="0" noProof="0" dirty="0">
                <a:ln>
                  <a:noFill/>
                </a:ln>
                <a:solidFill>
                  <a:schemeClr val="tx1"/>
                </a:solidFill>
                <a:effectLst/>
                <a:uLnTx/>
                <a:uFillTx/>
                <a:latin typeface="+mn-lt"/>
                <a:ea typeface="+mn-ea"/>
                <a:cs typeface="+mn-cs"/>
              </a:rPr>
              <a:t> Прогнозируется конечный  результат в интересах изменения всех субъектов социально-образовательного процесса преемственности с учетом поставленных целей. </a:t>
            </a:r>
            <a:endParaRPr kumimoji="0" lang="ru-RU"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endParaRPr kumimoji="0" lang="ru-RU"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Текстовое поле 3"/>
          <p:cNvSpPr txBox="1"/>
          <p:nvPr/>
        </p:nvSpPr>
        <p:spPr>
          <a:xfrm>
            <a:off x="327025" y="659130"/>
            <a:ext cx="8000365" cy="3483610"/>
          </a:xfrm>
          <a:prstGeom prst="rect">
            <a:avLst/>
          </a:prstGeom>
          <a:noFill/>
        </p:spPr>
        <p:txBody>
          <a:bodyPr wrap="square" rtlCol="0" anchor="t">
            <a:noAutofit/>
          </a:bodyPr>
          <a:p>
            <a:r>
              <a:rPr lang="ru-RU" altLang="en-US">
                <a:ln/>
                <a:solidFill>
                  <a:srgbClr val="C00000"/>
                </a:solidFill>
                <a:effectLst>
                  <a:outerShdw blurRad="38100" dist="25400" dir="5400000" algn="ctr" rotWithShape="0">
                    <a:srgbClr val="6E747A">
                      <a:alpha val="43000"/>
                    </a:srgbClr>
                  </a:outerShdw>
                </a:effectLst>
              </a:rPr>
              <a:t>Измерение - процесс представления свойств реальных объектов в виде числовой величины.</a:t>
            </a:r>
            <a:endParaRPr lang="ru-RU" altLang="en-US">
              <a:ln/>
              <a:solidFill>
                <a:srgbClr val="C00000"/>
              </a:solidFill>
              <a:effectLst>
                <a:outerShdw blurRad="38100" dist="25400" dir="5400000" algn="ctr" rotWithShape="0">
                  <a:srgbClr val="6E747A">
                    <a:alpha val="43000"/>
                  </a:srgbClr>
                </a:outerShdw>
              </a:effectLst>
            </a:endParaRPr>
          </a:p>
          <a:p>
            <a:endParaRPr lang="ru-RU" altLang="en-US"/>
          </a:p>
          <a:p>
            <a:endParaRPr lang="ru-RU" altLang="en-US"/>
          </a:p>
          <a:p>
            <a:r>
              <a:rPr lang="ru-RU" altLang="en-US"/>
              <a:t>Процедура проводится с целью получения конкретной величины при помощи общепринятых единиц измерения. Данный метод познания дает точные цифры, которые позволяют получить сведения об изучаемом объекте. На эффективность измерений влияет используемое измерительное оборудование.</a:t>
            </a:r>
            <a:endParaRPr lang="ru-RU" altLang="en-US"/>
          </a:p>
          <a:p>
            <a:endParaRPr lang="ru-RU" altLang="en-US"/>
          </a:p>
          <a:p>
            <a:r>
              <a:rPr lang="ru-RU" altLang="en-US"/>
              <a:t>Для прямых измерений можно выделить несколько основных методов: непосредственной оценки, сравнения с мерой, дифференциальный, нулевой, совпадений и замещения.</a:t>
            </a:r>
            <a:endParaRPr lang="ru-RU" altLang="en-US"/>
          </a:p>
        </p:txBody>
      </p:sp>
      <p:sp>
        <p:nvSpPr>
          <p:cNvPr id="5" name="Текстовое поле 4"/>
          <p:cNvSpPr txBox="1"/>
          <p:nvPr/>
        </p:nvSpPr>
        <p:spPr>
          <a:xfrm>
            <a:off x="64135" y="4067810"/>
            <a:ext cx="9038590" cy="8687435"/>
          </a:xfrm>
          <a:prstGeom prst="rect">
            <a:avLst/>
          </a:prstGeom>
          <a:noFill/>
        </p:spPr>
        <p:txBody>
          <a:bodyPr wrap="square" rtlCol="0" anchor="t">
            <a:noAutofit/>
          </a:bodyPr>
          <a:p>
            <a:r>
              <a:rPr lang="ru-RU" altLang="en-US"/>
              <a:t>В тех случаях, когда невозможно выполнить измерение (не выделена величина как физическая, или не определена единица измерений этой величины) практикуется оценивание таких величин по условным шкалам, например, Шкала Рихтера интенсивности землетрясений, Шкала Мооса — шкала твёрдости минералов.</a:t>
            </a:r>
            <a:endParaRPr lang="ru-RU" altLang="en-US"/>
          </a:p>
          <a:p>
            <a:endParaRPr lang="ru-RU" altLang="en-US"/>
          </a:p>
          <a:p>
            <a:r>
              <a:rPr lang="ru-RU" altLang="en-US"/>
              <a:t>Частным случаем измерения является сравнение без указания количественных характеристик.</a:t>
            </a:r>
            <a:endParaRPr lang="ru-RU" altLang="en-US"/>
          </a:p>
          <a:p>
            <a:endParaRPr lang="ru-RU" altLang="en-US"/>
          </a:p>
          <a:p>
            <a:r>
              <a:rPr lang="ru-RU" altLang="en-US"/>
              <a:t>Наука, предметом изучения которой являются все аспекты измерений, называется метрологией.</a:t>
            </a:r>
            <a:endParaRPr lang="ru-RU"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Заголовок 1"/>
          <p:cNvSpPr>
            <a:spLocks noGrp="1"/>
          </p:cNvSpPr>
          <p:nvPr>
            <p:ph type="title"/>
          </p:nvPr>
        </p:nvSpPr>
        <p:spPr>
          <a:xfrm>
            <a:off x="571500" y="214313"/>
            <a:ext cx="8229600" cy="1143000"/>
          </a:xfrm>
        </p:spPr>
        <p:txBody>
          <a:bodyPr vert="horz" wrap="square" lIns="91440" tIns="45720" rIns="91440" bIns="45720" anchor="ctr" anchorCtr="0"/>
          <a:p>
            <a:pPr eaLnBrk="1" hangingPunct="1"/>
            <a:endParaRPr lang="ru-RU" altLang="ru-RU" b="1" dirty="0">
              <a:solidFill>
                <a:srgbClr val="FF0000"/>
              </a:solidFill>
            </a:endParaRPr>
          </a:p>
        </p:txBody>
      </p:sp>
      <p:sp>
        <p:nvSpPr>
          <p:cNvPr id="3" name="Содержимое 2"/>
          <p:cNvSpPr>
            <a:spLocks noGrp="1"/>
          </p:cNvSpPr>
          <p:nvPr>
            <p:ph idx="1"/>
          </p:nvPr>
        </p:nvSpPr>
        <p:spPr>
          <a:xfrm>
            <a:off x="500063" y="1214438"/>
            <a:ext cx="8301038" cy="5072063"/>
          </a:xfrm>
        </p:spPr>
        <p:txBody>
          <a:bodyPr vert="horz" wrap="square" lIns="91440" tIns="45720" rIns="91440" bIns="45720" numCol="1" anchor="t" anchorCtr="0" compatLnSpc="1">
            <a:normAutofit fontScale="92500"/>
          </a:bodyPr>
          <a:lstStyle/>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r>
              <a:rPr kumimoji="0" lang="ru-RU" sz="2800" b="1" i="0" u="none" strike="noStrike" kern="1200" cap="none" spc="0" normalizeH="0" baseline="0" noProof="0" dirty="0">
                <a:ln>
                  <a:noFill/>
                </a:ln>
                <a:solidFill>
                  <a:schemeClr val="tx1"/>
                </a:solidFill>
                <a:effectLst/>
                <a:uLnTx/>
                <a:uFillTx/>
                <a:latin typeface="+mn-lt"/>
                <a:ea typeface="+mn-ea"/>
                <a:cs typeface="+mn-cs"/>
              </a:rPr>
              <a:t>Моделирование способствует пониманию самых сложных систем. Модель как бы концентрирует в себе представления о  процессе предстоящей деятельности, предполагает получение определенного результата, представляет  упрощенно систему предстоящей деятельности в   сложном  мире  действительности, что, несомненно,  требует научно-теоретического обоснования проблемы  преемственности и последовательных шагов в достижении  этой цели.</a:t>
            </a:r>
            <a:endParaRPr kumimoji="0" lang="ru-RU"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55905" algn="l" defTabSz="914400" rtl="0" eaLnBrk="1" fontAlgn="auto" latinLnBrk="0" hangingPunct="1">
              <a:lnSpc>
                <a:spcPct val="100000"/>
              </a:lnSpc>
              <a:spcBef>
                <a:spcPts val="300"/>
              </a:spcBef>
              <a:spcAft>
                <a:spcPts val="0"/>
              </a:spcAft>
              <a:buClr>
                <a:schemeClr val="accent3"/>
              </a:buClr>
              <a:buSzTx/>
              <a:buFont typeface="Georgia" panose="02040502050405020303"/>
              <a:buChar char="•"/>
              <a:defRPr/>
            </a:pPr>
            <a:endParaRPr kumimoji="0" lang="ru-RU"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a:xfrm>
            <a:off x="539750" y="-136525"/>
            <a:ext cx="8147050" cy="787400"/>
          </a:xfrm>
        </p:spPr>
        <p:txBody>
          <a:bodyPr/>
          <a:p>
            <a:r>
              <a:rPr lang="ru-RU" altLang="en-US" sz="3200"/>
              <a:t>описание</a:t>
            </a:r>
            <a:endParaRPr lang="ru-RU" altLang="en-US" sz="3200"/>
          </a:p>
        </p:txBody>
      </p:sp>
      <p:sp>
        <p:nvSpPr>
          <p:cNvPr id="3" name="Замещающее содержимое 2"/>
          <p:cNvSpPr>
            <a:spLocks noGrp="1"/>
          </p:cNvSpPr>
          <p:nvPr>
            <p:ph idx="1"/>
          </p:nvPr>
        </p:nvSpPr>
        <p:spPr>
          <a:xfrm>
            <a:off x="-287655" y="556895"/>
            <a:ext cx="9288780" cy="5941695"/>
          </a:xfrm>
        </p:spPr>
        <p:txBody>
          <a:bodyPr>
            <a:noAutofit/>
          </a:bodyPr>
          <a:p>
            <a:r>
              <a:rPr lang="ru-RU" altLang="en-US" sz="1600" b="1">
                <a:solidFill>
                  <a:srgbClr val="FF0000"/>
                </a:solidFill>
              </a:rPr>
              <a:t>Процедурные характеристики описательного метода</a:t>
            </a:r>
            <a:endParaRPr lang="ru-RU" altLang="en-US" sz="1600" b="1">
              <a:solidFill>
                <a:srgbClr val="FF0000"/>
              </a:solidFill>
            </a:endParaRPr>
          </a:p>
          <a:p>
            <a:r>
              <a:rPr lang="ru-RU" altLang="en-US" sz="1800" b="1"/>
              <a:t>Традиционно принято выделять следующий состав процедур, системное применение которых обеспечивает результативность употребления описательного метода:</a:t>
            </a:r>
            <a:endParaRPr lang="ru-RU" altLang="en-US" sz="1800" b="1"/>
          </a:p>
          <a:p>
            <a:endParaRPr lang="ru-RU" altLang="en-US" sz="1800" b="1"/>
          </a:p>
          <a:p>
            <a:r>
              <a:rPr lang="ru-RU" altLang="en-US" sz="1800" b="1"/>
              <a:t>исходным пунктом развёртывания описательного метода является формирование первичного предмета описания — признаков, параметров и характеристик объекта, маркирующихся в качестве значимых и существенных, и составляющих основной аналитический фокус наблюдения </a:t>
            </a:r>
            <a:endParaRPr lang="ru-RU" altLang="en-US" sz="1800" b="1"/>
          </a:p>
          <a:p>
            <a:r>
              <a:rPr lang="ru-RU" altLang="en-US" sz="1800" b="1"/>
              <a:t>основной путь проходит через сбор, каталогизацию (типологизацию, систематизацию или распределение по категориям) материала (данных), открывающие возможность исследования его состава, структуры, характеристик, наиболее общих отношений между ними, а также предметно заданных качеств (распределение и поляризация данных по типам, классам, видам, родам или категориям, напротив, реализуется преимущественно в синтетическом ключе);</a:t>
            </a:r>
            <a:endParaRPr lang="ru-RU" altLang="en-US" sz="1800" b="1"/>
          </a:p>
          <a:p>
            <a:r>
              <a:rPr lang="ru-RU" altLang="en-US" sz="1800" b="1"/>
              <a:t>материал, собранный и вторично переработанный по категориям, классам, группам, видам или типам подаётся на выход углублённого научного исследования;</a:t>
            </a:r>
            <a:endParaRPr lang="ru-RU" altLang="en-US" sz="1800" b="1"/>
          </a:p>
          <a:p>
            <a:r>
              <a:rPr lang="ru-RU" altLang="en-US" sz="1800" b="1"/>
              <a:t>.</a:t>
            </a:r>
            <a:r>
              <a:rPr lang="ru-RU" altLang="en-US" sz="1300" b="1"/>
              <a:t>Примером первичного описания, например топонимического (гидронимического) материала, могут служить списки рек, списки населённых пунктов, а при исследовании антропонимии — картотеки антропонимов (фамилий, имён, псевдонимов). Нередко на основе этих материалов создаются словари (каталоги, индексы) с той или иной степенью осмысления включённого в них материала.</a:t>
            </a:r>
            <a:endParaRPr lang="ru-RU" altLang="en-US" sz="1300"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Заголовок 1"/>
          <p:cNvSpPr>
            <a:spLocks noGrp="1"/>
          </p:cNvSpPr>
          <p:nvPr>
            <p:ph type="title"/>
          </p:nvPr>
        </p:nvSpPr>
        <p:spPr>
          <a:xfrm>
            <a:off x="349885" y="-64770"/>
            <a:ext cx="8336915" cy="1482725"/>
          </a:xfrm>
        </p:spPr>
        <p:txBody>
          <a:bodyPr/>
          <a:p>
            <a:r>
              <a:rPr lang="ru-RU" altLang="en-US" sz="2800"/>
              <a:t>Сравнение</a:t>
            </a:r>
            <a:endParaRPr lang="ru-RU" altLang="en-US" sz="2800"/>
          </a:p>
        </p:txBody>
      </p:sp>
      <p:sp>
        <p:nvSpPr>
          <p:cNvPr id="3" name="Замещающее содержимое 2"/>
          <p:cNvSpPr>
            <a:spLocks noGrp="1"/>
          </p:cNvSpPr>
          <p:nvPr>
            <p:ph idx="1"/>
          </p:nvPr>
        </p:nvSpPr>
        <p:spPr>
          <a:xfrm>
            <a:off x="349885" y="1078865"/>
            <a:ext cx="8336915" cy="5230495"/>
          </a:xfrm>
        </p:spPr>
        <p:txBody>
          <a:bodyPr>
            <a:normAutofit fontScale="60000"/>
          </a:bodyPr>
          <a:p>
            <a:r>
              <a:rPr lang="ru-RU" altLang="en-US">
                <a:solidFill>
                  <a:srgbClr val="C00000"/>
                </a:solidFill>
              </a:rPr>
              <a:t>сопоставления двух и более объектов (явлений, идей, результатов исследований), выделение в них общего и различного с целью классификации и типологии</a:t>
            </a:r>
            <a:r>
              <a:rPr lang="ru-RU" altLang="en-US">
                <a:solidFill>
                  <a:srgbClr val="FF0000"/>
                </a:solidFill>
              </a:rPr>
              <a:t>.</a:t>
            </a:r>
            <a:endParaRPr lang="ru-RU" altLang="en-US">
              <a:solidFill>
                <a:srgbClr val="FF0000"/>
              </a:solidFill>
            </a:endParaRPr>
          </a:p>
          <a:p>
            <a:r>
              <a:rPr lang="ru-RU" altLang="en-US"/>
              <a:t>На практике различают ряд его форм. </a:t>
            </a:r>
            <a:endParaRPr lang="ru-RU" altLang="en-US"/>
          </a:p>
          <a:p>
            <a:r>
              <a:rPr lang="ru-RU" altLang="en-US"/>
              <a:t>Например,</a:t>
            </a:r>
            <a:endParaRPr lang="ru-RU" altLang="en-US"/>
          </a:p>
          <a:p>
            <a:r>
              <a:rPr lang="ru-RU" altLang="en-US"/>
              <a:t> сравнительно-сопоставительный метод, выявляющий природу разнородных объектов; </a:t>
            </a:r>
            <a:endParaRPr lang="ru-RU" altLang="en-US"/>
          </a:p>
          <a:p>
            <a:r>
              <a:rPr lang="ru-RU" altLang="en-US"/>
              <a:t>сравнительно-историко-типологический, раскрывающий сходство не связанных по своему происхождению явлений одинаковыми условиями генезиса и развития; </a:t>
            </a:r>
            <a:endParaRPr lang="ru-RU" altLang="en-US"/>
          </a:p>
          <a:p>
            <a:r>
              <a:rPr lang="ru-RU" altLang="en-US"/>
              <a:t>сравнительно-историко-генетический, показывающий сходство явлений как результат их родства по происхождению;</a:t>
            </a:r>
            <a:endParaRPr lang="ru-RU" altLang="en-US"/>
          </a:p>
          <a:p>
            <a:r>
              <a:rPr lang="ru-RU" altLang="en-US"/>
              <a:t> сравнение, фиксирующее взаимовлияния различных объектов и явлений.</a:t>
            </a:r>
            <a:endParaRPr lang="ru-RU" altLang="en-US"/>
          </a:p>
          <a:p>
            <a:endParaRPr lang="ru-RU" altLang="en-US"/>
          </a:p>
          <a:p>
            <a:r>
              <a:rPr lang="ru-RU" altLang="en-US"/>
              <a:t>В прикладных исследованиях сравнительный метод используют в качестве основного при классификации, типологии, оценке, генерализации. Он позволяет разделить общие и отличительные признаки и свойства изучаемых объектов и процессов их развития.</a:t>
            </a:r>
            <a:endParaRPr lang="ru-RU"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Апекс">
  <a:themeElements>
    <a:clrScheme name="Официальная">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Апекс">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Апекс">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0</TotalTime>
  <Words>18235</Words>
  <Application>WPS Presentation</Application>
  <PresentationFormat>Экран (4:3)</PresentationFormat>
  <Paragraphs>269</Paragraphs>
  <Slides>41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41</vt:i4>
      </vt:variant>
    </vt:vector>
  </HeadingPairs>
  <TitlesOfParts>
    <vt:vector size="55" baseType="lpstr">
      <vt:lpstr>Arial</vt:lpstr>
      <vt:lpstr>SimSun</vt:lpstr>
      <vt:lpstr>Wingdings</vt:lpstr>
      <vt:lpstr>Wingdings 2</vt:lpstr>
      <vt:lpstr>Wingdings</vt:lpstr>
      <vt:lpstr>Wingdings 3</vt:lpstr>
      <vt:lpstr>Times New Roman</vt:lpstr>
      <vt:lpstr>Microsoft YaHei</vt:lpstr>
      <vt:lpstr>Arial Unicode MS</vt:lpstr>
      <vt:lpstr>Lucida Sans</vt:lpstr>
      <vt:lpstr>Book Antiqua</vt:lpstr>
      <vt:lpstr>Calibri</vt:lpstr>
      <vt:lpstr>Georgia</vt:lpstr>
      <vt:lpstr>Апекс</vt:lpstr>
      <vt:lpstr>  Эмпирические методы познания  Методы теоретического познания  Общелогические методы и приемы исследования </vt:lpstr>
      <vt:lpstr>Что считать методом эмпирического познания?</vt:lpstr>
      <vt:lpstr>Наблюдение</vt:lpstr>
      <vt:lpstr>Наблюдение как исследовательская ситуация включает: </vt:lpstr>
      <vt:lpstr>Способы классификации видов научного наблюдения</vt:lpstr>
      <vt:lpstr>Способы классификации видов научного наблюдения</vt:lpstr>
      <vt:lpstr>Основные характеристики научного наблюдения</vt:lpstr>
      <vt:lpstr>Наблюдение и Эксперимент</vt:lpstr>
      <vt:lpstr>Проблема теоретической нагруженности наблюдения. </vt:lpstr>
      <vt:lpstr>Проблема теоретической нагруженности наблюдения</vt:lpstr>
      <vt:lpstr>Проблема теоретической нагруженности наблюдения</vt:lpstr>
      <vt:lpstr>PowerPoint 演示文稿</vt:lpstr>
      <vt:lpstr>Проблема объективности результатов наблюдения.  </vt:lpstr>
      <vt:lpstr>PowerPoint 演示文稿</vt:lpstr>
      <vt:lpstr>Проблематика наблюдения в современной науке </vt:lpstr>
      <vt:lpstr>PowerPoint 演示文稿</vt:lpstr>
      <vt:lpstr>ЭКСПЕРИМЕНТ</vt:lpstr>
      <vt:lpstr>Достоинства эксперимента</vt:lpstr>
      <vt:lpstr>PowerPoint 演示文稿</vt:lpstr>
      <vt:lpstr>PowerPoint 演示文稿</vt:lpstr>
      <vt:lpstr>Структура эксперимента </vt:lpstr>
      <vt:lpstr>Логическая схема эксперимента </vt:lpstr>
      <vt:lpstr>PowerPoint 演示文稿</vt:lpstr>
      <vt:lpstr>Идеальный эксперимент и его свойства</vt:lpstr>
      <vt:lpstr>Разновидности экспериментов</vt:lpstr>
      <vt:lpstr>По условиям проведения</vt:lpstr>
      <vt:lpstr>По цели эксперимента</vt:lpstr>
      <vt:lpstr>По степени контролируемости факторов </vt:lpstr>
      <vt:lpstr>По количеству факторов</vt:lpstr>
      <vt:lpstr>Достоинства многофакторного эксперимента</vt:lpstr>
      <vt:lpstr>Этапы экспериментального исследования</vt:lpstr>
      <vt:lpstr>Особенности современного научного эксперимента</vt:lpstr>
      <vt:lpstr>PowerPoint 演示文稿</vt:lpstr>
      <vt:lpstr>  1.  Моделирование как метод научного познания </vt:lpstr>
      <vt:lpstr>Технология моделирования, как структурно-логическую последовательность этапов:</vt:lpstr>
      <vt:lpstr>продолжение</vt:lpstr>
      <vt:lpstr>продолжение</vt:lpstr>
      <vt:lpstr>PowerPoint 演示文稿</vt:lpstr>
      <vt:lpstr>И в заключение: </vt:lpstr>
      <vt:lpstr>описание</vt:lpstr>
      <vt:lpstr>Сравнение</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Эмпирические методы познания  Методы теоретического познания  Общелогические методы и приемы исследования </dc:title>
  <dc:creator>Admin</dc:creator>
  <cp:lastModifiedBy>Ирина</cp:lastModifiedBy>
  <cp:revision>5</cp:revision>
  <dcterms:created xsi:type="dcterms:W3CDTF">2012-11-10T08:26:00Z</dcterms:created>
  <dcterms:modified xsi:type="dcterms:W3CDTF">2024-02-07T21:33:28Z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A0BC79FF089E481A8AAF12A90A2D2482_13</vt:lpwstr>
  </property>
  <property fmtid="{D5CDD505-2E9C-101B-9397-08002B2CF9AE}" pid="3" name="KSOProductBuildVer">
    <vt:lpwstr>1049-12.2.0.13359</vt:lpwstr>
  </property>
</Properties>
</file>